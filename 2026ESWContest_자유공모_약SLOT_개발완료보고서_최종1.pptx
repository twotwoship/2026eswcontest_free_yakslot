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65" r:id="rId3"/>
    <p:sldId id="266" r:id="rId4"/>
    <p:sldId id="278" r:id="rId5"/>
    <p:sldId id="284" r:id="rId6"/>
    <p:sldId id="303" r:id="rId7"/>
    <p:sldId id="302" r:id="rId8"/>
    <p:sldId id="273" r:id="rId9"/>
    <p:sldId id="285" r:id="rId10"/>
    <p:sldId id="286" r:id="rId11"/>
    <p:sldId id="274" r:id="rId12"/>
    <p:sldId id="280" r:id="rId13"/>
    <p:sldId id="287" r:id="rId14"/>
    <p:sldId id="275" r:id="rId15"/>
    <p:sldId id="306" r:id="rId16"/>
    <p:sldId id="296" r:id="rId17"/>
    <p:sldId id="297" r:id="rId18"/>
    <p:sldId id="301" r:id="rId19"/>
    <p:sldId id="298" r:id="rId20"/>
    <p:sldId id="293" r:id="rId21"/>
    <p:sldId id="299" r:id="rId22"/>
    <p:sldId id="300" r:id="rId2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ccistc" initials="k" lastIdx="1" clrIdx="0">
    <p:extLst>
      <p:ext uri="{19B8F6BF-5375-455C-9EA6-DF929625EA0E}">
        <p15:presenceInfo xmlns:p15="http://schemas.microsoft.com/office/powerpoint/2012/main" userId="kccist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B0E3"/>
    <a:srgbClr val="FBFDFE"/>
    <a:srgbClr val="2F5CBE"/>
    <a:srgbClr val="19B189"/>
    <a:srgbClr val="F4F7FB"/>
    <a:srgbClr val="F2F2F2"/>
    <a:srgbClr val="70AD47"/>
    <a:srgbClr val="C5E0B4"/>
    <a:srgbClr val="FBE5D6"/>
    <a:srgbClr val="EFF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07" autoAdjust="0"/>
    <p:restoredTop sz="89595" autoAdjust="0"/>
  </p:normalViewPr>
  <p:slideViewPr>
    <p:cSldViewPr snapToGrid="0">
      <p:cViewPr varScale="1">
        <p:scale>
          <a:sx n="87" d="100"/>
          <a:sy n="87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User-provided HWP project plan: (초안)__side_프로젝트_계획서_0713(1).hwp</a:t>
            </a:r>
          </a:p>
          <a:p>
            <a:r>
              <a:t>- Cover identity and project title are taken from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고령화와 함께 만성질환과 </a:t>
            </a:r>
            <a:r>
              <a:rPr lang="ko-KR" altLang="en-US" dirty="0" err="1"/>
              <a:t>다제약물</a:t>
            </a:r>
            <a:r>
              <a:rPr lang="ko-KR" altLang="en-US" dirty="0"/>
              <a:t> 복용이 증가하면서</a:t>
            </a:r>
            <a:r>
              <a:rPr lang="en-US" altLang="ko-KR" dirty="0"/>
              <a:t>, </a:t>
            </a:r>
            <a:r>
              <a:rPr lang="ko-KR" altLang="en-US" dirty="0"/>
              <a:t>여러 약의 </a:t>
            </a:r>
            <a:r>
              <a:rPr lang="ko-KR" altLang="en-US" b="1" dirty="0"/>
              <a:t>복용 시간</a:t>
            </a:r>
            <a:r>
              <a:rPr lang="en-US" altLang="ko-KR" b="1" dirty="0"/>
              <a:t>·</a:t>
            </a:r>
            <a:r>
              <a:rPr lang="ko-KR" altLang="en-US" b="1" dirty="0"/>
              <a:t>대상 약</a:t>
            </a:r>
            <a:r>
              <a:rPr lang="en-US" altLang="ko-KR" b="1" dirty="0"/>
              <a:t>·</a:t>
            </a:r>
            <a:r>
              <a:rPr lang="ko-KR" altLang="en-US" b="1" dirty="0"/>
              <a:t>복용 여부를 스스로 관리해야 하는 부담</a:t>
            </a:r>
            <a:r>
              <a:rPr lang="ko-KR" altLang="en-US" dirty="0"/>
              <a:t>도 증가하고 있다</a:t>
            </a:r>
            <a:r>
              <a:rPr lang="en-US" altLang="ko-KR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통계청은 </a:t>
            </a:r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65</a:t>
            </a:r>
            <a:r>
              <a:rPr lang="ko-KR" altLang="en-US" dirty="0"/>
              <a:t>세 이상 인구 비중을 </a:t>
            </a:r>
            <a:r>
              <a:rPr lang="en-US" altLang="ko-KR" dirty="0"/>
              <a:t>20.3%</a:t>
            </a:r>
            <a:r>
              <a:rPr lang="ko-KR" altLang="en-US" dirty="0"/>
              <a:t>로 발표했고</a:t>
            </a:r>
            <a:r>
              <a:rPr lang="en-US" altLang="ko-KR" dirty="0"/>
              <a:t>, </a:t>
            </a:r>
            <a:r>
              <a:rPr lang="ko-KR" altLang="en-US" dirty="0"/>
              <a:t>보건복지부 </a:t>
            </a:r>
            <a:r>
              <a:rPr lang="en-US" altLang="ko-KR" dirty="0"/>
              <a:t>2023</a:t>
            </a:r>
            <a:r>
              <a:rPr lang="ko-KR" altLang="en-US" dirty="0"/>
              <a:t>년 노인실태조사는 평균 </a:t>
            </a:r>
            <a:r>
              <a:rPr lang="en-US" altLang="ko-KR" dirty="0"/>
              <a:t>2.2</a:t>
            </a:r>
            <a:r>
              <a:rPr lang="ko-KR" altLang="en-US" dirty="0"/>
              <a:t>개의 만성질환</a:t>
            </a:r>
            <a:r>
              <a:rPr lang="en-US" altLang="ko-KR" dirty="0"/>
              <a:t>, 3</a:t>
            </a:r>
            <a:r>
              <a:rPr lang="ko-KR" altLang="en-US" dirty="0"/>
              <a:t>개 이상 만성질환 </a:t>
            </a:r>
            <a:r>
              <a:rPr lang="en-US" altLang="ko-KR" dirty="0"/>
              <a:t>35.9%, 1</a:t>
            </a:r>
            <a:r>
              <a:rPr lang="ko-KR" altLang="en-US" dirty="0"/>
              <a:t>인 가구 </a:t>
            </a:r>
            <a:r>
              <a:rPr lang="en-US" altLang="ko-KR" dirty="0"/>
              <a:t>32.8%</a:t>
            </a:r>
            <a:r>
              <a:rPr lang="ko-KR" altLang="en-US" dirty="0"/>
              <a:t>를 보고했다</a:t>
            </a:r>
            <a:r>
              <a:rPr lang="en-US" altLang="ko-KR" dirty="0"/>
              <a:t>. 2021</a:t>
            </a:r>
            <a:r>
              <a:rPr lang="ko-KR" altLang="en-US" dirty="0"/>
              <a:t>년 </a:t>
            </a:r>
            <a:r>
              <a:rPr lang="en-US" altLang="ko-KR" dirty="0"/>
              <a:t>75</a:t>
            </a:r>
            <a:r>
              <a:rPr lang="ko-KR" altLang="en-US" dirty="0"/>
              <a:t>세 이상 환자의 </a:t>
            </a:r>
            <a:r>
              <a:rPr lang="ko-KR" altLang="en-US" dirty="0" err="1"/>
              <a:t>다제병용</a:t>
            </a:r>
            <a:r>
              <a:rPr lang="ko-KR" altLang="en-US" dirty="0"/>
              <a:t> </a:t>
            </a:r>
            <a:r>
              <a:rPr lang="ko-KR" altLang="en-US" dirty="0" err="1"/>
              <a:t>처방률은</a:t>
            </a:r>
            <a:r>
              <a:rPr lang="ko-KR" altLang="en-US" dirty="0"/>
              <a:t> </a:t>
            </a:r>
            <a:r>
              <a:rPr lang="en-US" altLang="ko-KR" dirty="0"/>
              <a:t>64.2%</a:t>
            </a:r>
            <a:r>
              <a:rPr lang="ko-KR" altLang="en-US" dirty="0"/>
              <a:t>로 </a:t>
            </a:r>
            <a:r>
              <a:rPr lang="en-US" altLang="ko-KR" dirty="0"/>
              <a:t>OECD </a:t>
            </a:r>
            <a:r>
              <a:rPr lang="ko-KR" altLang="en-US" dirty="0"/>
              <a:t>평균 </a:t>
            </a:r>
            <a:r>
              <a:rPr lang="en-US" altLang="ko-KR" dirty="0"/>
              <a:t>50.1%</a:t>
            </a:r>
            <a:r>
              <a:rPr lang="ko-KR" altLang="en-US" dirty="0"/>
              <a:t>보다 높았다</a:t>
            </a:r>
            <a:r>
              <a:rPr lang="en-US" altLang="ko-KR" dirty="0"/>
              <a:t>. 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4385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6014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smtClean="0">
                <a:solidFill>
                  <a:srgbClr val="273244"/>
                </a:solidFill>
                <a:latin typeface="+mn-ea"/>
              </a:rPr>
              <a:t>https://youtu.be/20yo6nAbsLM</a:t>
            </a:r>
            <a:endParaRPr lang="en-US" altLang="ko-KR" sz="1200" b="0" dirty="0" smtClean="0">
              <a:solidFill>
                <a:srgbClr val="273244"/>
              </a:solidFill>
              <a:latin typeface="+mn-ea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6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① 2×5 좌표 기반 위치 제어</a:t>
            </a:r>
          </a:p>
          <a:p>
            <a:r>
              <a:rPr lang="ko-KR" altLang="en-US" dirty="0" err="1"/>
              <a:t>블리스터</a:t>
            </a:r>
            <a:r>
              <a:rPr lang="ko-KR" altLang="en-US" dirty="0"/>
              <a:t> 내부 좌표:</a:t>
            </a:r>
          </a:p>
          <a:p>
            <a:r>
              <a:rPr lang="ko-KR" altLang="en-US" dirty="0"/>
              <a:t>00 01 02 03 04</a:t>
            </a:r>
          </a:p>
          <a:p>
            <a:r>
              <a:rPr lang="ko-KR" altLang="en-US" dirty="0"/>
              <a:t>10 11 12 13 14</a:t>
            </a:r>
          </a:p>
          <a:p>
            <a:r>
              <a:rPr lang="ko-KR" altLang="en-US" dirty="0"/>
              <a:t>복약 일정에 배정된 좌표를 기준으로 </a:t>
            </a:r>
            <a:r>
              <a:rPr lang="ko-KR" altLang="en-US" dirty="0" err="1"/>
              <a:t>X</a:t>
            </a:r>
            <a:r>
              <a:rPr lang="ko-KR" altLang="en-US" dirty="0"/>
              <a:t>/</a:t>
            </a:r>
            <a:r>
              <a:rPr lang="ko-KR" altLang="en-US" dirty="0" err="1"/>
              <a:t>Y</a:t>
            </a:r>
            <a:r>
              <a:rPr lang="ko-KR" altLang="en-US" dirty="0"/>
              <a:t> </a:t>
            </a:r>
            <a:r>
              <a:rPr lang="ko-KR" altLang="en-US" dirty="0" err="1"/>
              <a:t>스테핑모터를</a:t>
            </a:r>
            <a:r>
              <a:rPr lang="ko-KR" altLang="en-US" dirty="0"/>
              <a:t> 이동</a:t>
            </a:r>
          </a:p>
          <a:p>
            <a:r>
              <a:rPr lang="ko-KR" altLang="en-US" dirty="0"/>
              <a:t>목표 위치 도착 후 </a:t>
            </a:r>
            <a:r>
              <a:rPr lang="ko-KR" altLang="en-US" dirty="0" err="1"/>
              <a:t>ATmega가</a:t>
            </a:r>
            <a:r>
              <a:rPr lang="ko-KR" altLang="en-US" dirty="0"/>
              <a:t> WAIT 전송</a:t>
            </a:r>
          </a:p>
          <a:p>
            <a:r>
              <a:rPr lang="ko-KR" altLang="en-US" dirty="0"/>
              <a:t>② 사용자 </a:t>
            </a:r>
            <a:r>
              <a:rPr lang="ko-KR" altLang="en-US" dirty="0" err="1"/>
              <a:t>승인형</a:t>
            </a:r>
            <a:r>
              <a:rPr lang="ko-KR" altLang="en-US" dirty="0"/>
              <a:t> </a:t>
            </a:r>
            <a:r>
              <a:rPr lang="ko-KR" altLang="en-US" dirty="0" err="1"/>
              <a:t>서보</a:t>
            </a:r>
            <a:r>
              <a:rPr lang="ko-KR" altLang="en-US" dirty="0"/>
              <a:t> 압출</a:t>
            </a:r>
          </a:p>
          <a:p>
            <a:r>
              <a:rPr lang="ko-KR" altLang="en-US" dirty="0"/>
              <a:t>WAIT 수신 전에는 약 배출 버튼 비활성화</a:t>
            </a:r>
          </a:p>
          <a:p>
            <a:r>
              <a:rPr lang="ko-KR" altLang="en-US" dirty="0"/>
              <a:t>사용자가 </a:t>
            </a:r>
            <a:r>
              <a:rPr lang="ko-KR" altLang="en-US" dirty="0" err="1"/>
              <a:t>LCD의</a:t>
            </a:r>
            <a:r>
              <a:rPr lang="ko-KR" altLang="en-US" dirty="0"/>
              <a:t> 약 배출 버튼 선택</a:t>
            </a:r>
          </a:p>
          <a:p>
            <a:r>
              <a:rPr lang="ko-KR" altLang="en-US" dirty="0" err="1"/>
              <a:t>Pi가</a:t>
            </a:r>
            <a:r>
              <a:rPr lang="ko-KR" altLang="en-US" dirty="0"/>
              <a:t> DISPENSE 명령 전송</a:t>
            </a:r>
          </a:p>
          <a:p>
            <a:r>
              <a:rPr lang="ko-KR" altLang="en-US" dirty="0" err="1"/>
              <a:t>ATmega가</a:t>
            </a:r>
            <a:r>
              <a:rPr lang="ko-KR" altLang="en-US" dirty="0"/>
              <a:t> </a:t>
            </a:r>
            <a:r>
              <a:rPr lang="ko-KR" altLang="en-US" dirty="0" err="1"/>
              <a:t>서보모터를</a:t>
            </a:r>
            <a:r>
              <a:rPr lang="ko-KR" altLang="en-US" dirty="0"/>
              <a:t> 정확히 1회 구동</a:t>
            </a:r>
          </a:p>
          <a:p>
            <a:r>
              <a:rPr lang="ko-KR" altLang="en-US" dirty="0"/>
              <a:t>③ IR 정제 배출 감지</a:t>
            </a:r>
          </a:p>
          <a:p>
            <a:r>
              <a:rPr lang="ko-KR" altLang="en-US" dirty="0"/>
              <a:t>압출된 정제를 깔때기를 이용해 하나의 배출구로 유도</a:t>
            </a:r>
          </a:p>
          <a:p>
            <a:r>
              <a:rPr lang="ko-KR" altLang="en-US" dirty="0"/>
              <a:t>IR </a:t>
            </a:r>
            <a:r>
              <a:rPr lang="ko-KR" altLang="en-US" dirty="0" err="1"/>
              <a:t>송·수신센서로</a:t>
            </a:r>
            <a:r>
              <a:rPr lang="ko-KR" altLang="en-US" dirty="0"/>
              <a:t> 정제 통과 여부 감지</a:t>
            </a:r>
          </a:p>
          <a:p>
            <a:r>
              <a:rPr lang="ko-KR" altLang="en-US" dirty="0" err="1"/>
              <a:t>R</a:t>
            </a:r>
            <a:r>
              <a:rPr lang="ko-KR" altLang="en-US" dirty="0"/>
              <a:t> = 1</a:t>
            </a:r>
          </a:p>
          <a:p>
            <a:r>
              <a:rPr lang="ko-KR" altLang="en-US" dirty="0"/>
              <a:t>정제 배출 감지</a:t>
            </a:r>
          </a:p>
          <a:p>
            <a:r>
              <a:rPr lang="ko-KR" altLang="en-US" dirty="0" err="1"/>
              <a:t>R</a:t>
            </a:r>
            <a:r>
              <a:rPr lang="ko-KR" altLang="en-US" dirty="0"/>
              <a:t> = </a:t>
            </a:r>
            <a:r>
              <a:rPr lang="en-US" altLang="ko-KR" dirty="0"/>
              <a:t>2</a:t>
            </a:r>
            <a:endParaRPr lang="ko-KR" altLang="en-US" dirty="0"/>
          </a:p>
          <a:p>
            <a:r>
              <a:rPr lang="ko-KR" altLang="en-US" dirty="0" err="1"/>
              <a:t>서보</a:t>
            </a:r>
            <a:r>
              <a:rPr lang="ko-KR" altLang="en-US" dirty="0"/>
              <a:t> 동작 후 정제 </a:t>
            </a:r>
            <a:r>
              <a:rPr lang="ko-KR" altLang="en-US" dirty="0" err="1"/>
              <a:t>미감지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 err="1"/>
              <a:t>블리스터에</a:t>
            </a:r>
            <a:r>
              <a:rPr lang="ko-KR" altLang="en-US" dirty="0"/>
              <a:t> 약이 없어서 자동으로 다음 약 </a:t>
            </a:r>
            <a:r>
              <a:rPr lang="ko-KR" altLang="en-US" dirty="0" err="1"/>
              <a:t>먹게함</a:t>
            </a:r>
            <a:r>
              <a:rPr lang="en-US" altLang="ko-KR" dirty="0"/>
              <a:t>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2240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고령자는 LCD</a:t>
            </a:r>
          </a:p>
          <a:p>
            <a:r>
              <a:rPr lang="ko-KR" altLang="en-US" dirty="0"/>
              <a:t>관리자는 </a:t>
            </a:r>
            <a:r>
              <a:rPr lang="ko-KR" altLang="en-US" dirty="0" err="1"/>
              <a:t>Web</a:t>
            </a:r>
            <a:r>
              <a:rPr lang="ko-KR" altLang="en-US" dirty="0"/>
              <a:t> 4inch LCD HOME  </a:t>
            </a:r>
            <a:r>
              <a:rPr lang="en-US" altLang="ko-KR" dirty="0"/>
              <a:t>/ </a:t>
            </a:r>
            <a:r>
              <a:rPr lang="ko-KR" altLang="en-US" dirty="0"/>
              <a:t>현재 시각 / 다음 복약 / 남은 시간 / 약 이름 / 대상 슬롯</a:t>
            </a:r>
          </a:p>
          <a:p>
            <a:r>
              <a:rPr lang="ko-KR" altLang="en-US" dirty="0"/>
              <a:t>복약 이벤트 </a:t>
            </a:r>
            <a:r>
              <a:rPr lang="en-US" altLang="ko-KR" dirty="0"/>
              <a:t>: </a:t>
            </a:r>
            <a:r>
              <a:rPr lang="ko-KR" altLang="en-US" dirty="0"/>
              <a:t>위치 이동 → 배출 준비 → 배출 중 → 성공/실패</a:t>
            </a:r>
          </a:p>
          <a:p>
            <a:r>
              <a:rPr lang="ko-KR" altLang="en-US" dirty="0"/>
              <a:t>오류  </a:t>
            </a:r>
            <a:r>
              <a:rPr lang="en-US" altLang="ko-KR" dirty="0"/>
              <a:t>: </a:t>
            </a:r>
            <a:r>
              <a:rPr lang="ko-KR" altLang="en-US" dirty="0" err="1"/>
              <a:t>미복약</a:t>
            </a:r>
            <a:r>
              <a:rPr lang="ko-KR" altLang="en-US" dirty="0"/>
              <a:t> / 통신 오류 / 장치 오류</a:t>
            </a:r>
          </a:p>
          <a:p>
            <a:r>
              <a:rPr lang="ko-KR" altLang="en-US" dirty="0"/>
              <a:t>환경 설정  </a:t>
            </a:r>
            <a:r>
              <a:rPr lang="en-US" altLang="ko-KR" dirty="0"/>
              <a:t>: </a:t>
            </a:r>
            <a:r>
              <a:rPr lang="ko-KR" altLang="en-US" dirty="0"/>
              <a:t>음성 반복 1~10회 </a:t>
            </a:r>
            <a:r>
              <a:rPr lang="en-US" altLang="ko-KR" dirty="0"/>
              <a:t>/ </a:t>
            </a:r>
            <a:r>
              <a:rPr lang="ko-KR" altLang="en-US" dirty="0"/>
              <a:t>볼륨 0~10단계 </a:t>
            </a:r>
            <a:r>
              <a:rPr lang="ko-KR" altLang="en-US" dirty="0" err="1"/>
              <a:t>블리스터</a:t>
            </a:r>
            <a:r>
              <a:rPr lang="ko-KR" altLang="en-US" dirty="0"/>
              <a:t> 초기화 </a:t>
            </a:r>
            <a:r>
              <a:rPr lang="en-US" altLang="ko-KR" dirty="0"/>
              <a:t>/ </a:t>
            </a:r>
            <a:r>
              <a:rPr lang="ko-KR" altLang="en-US" dirty="0"/>
              <a:t>시스템 </a:t>
            </a:r>
            <a:r>
              <a:rPr lang="ko-KR" altLang="en-US" dirty="0" err="1"/>
              <a:t>재시작·종료</a:t>
            </a:r>
            <a:endParaRPr lang="ko-KR" altLang="en-US" dirty="0"/>
          </a:p>
          <a:p>
            <a:endParaRPr lang="en-US" altLang="ko-KR" dirty="0"/>
          </a:p>
          <a:p>
            <a:r>
              <a:rPr lang="ko-KR" altLang="en-US" dirty="0"/>
              <a:t>관리자 </a:t>
            </a:r>
            <a:r>
              <a:rPr lang="ko-KR" altLang="en-US" dirty="0" err="1"/>
              <a:t>Local</a:t>
            </a:r>
            <a:r>
              <a:rPr lang="ko-KR" altLang="en-US" dirty="0"/>
              <a:t> </a:t>
            </a:r>
            <a:r>
              <a:rPr lang="ko-KR" altLang="en-US" dirty="0" err="1"/>
              <a:t>Web</a:t>
            </a:r>
            <a:endParaRPr lang="ko-KR" altLang="en-US" dirty="0"/>
          </a:p>
          <a:p>
            <a:r>
              <a:rPr lang="ko-KR" altLang="en-US" dirty="0"/>
              <a:t>관리자 인증 </a:t>
            </a:r>
            <a:r>
              <a:rPr lang="en-US" altLang="ko-KR" dirty="0"/>
              <a:t>/ </a:t>
            </a:r>
            <a:r>
              <a:rPr lang="ko-KR" altLang="en-US" dirty="0"/>
              <a:t>약 </a:t>
            </a:r>
            <a:r>
              <a:rPr lang="ko-KR" altLang="en-US" dirty="0" err="1"/>
              <a:t>이름·날짜·시각·복약</a:t>
            </a:r>
            <a:r>
              <a:rPr lang="ko-KR" altLang="en-US" dirty="0"/>
              <a:t> </a:t>
            </a:r>
            <a:r>
              <a:rPr lang="ko-KR" altLang="en-US" dirty="0" err="1"/>
              <a:t>허용시간</a:t>
            </a:r>
            <a:r>
              <a:rPr lang="ko-KR" altLang="en-US" dirty="0"/>
              <a:t> 등록</a:t>
            </a:r>
          </a:p>
          <a:p>
            <a:r>
              <a:rPr lang="ko-KR" altLang="en-US" dirty="0"/>
              <a:t>예약 조회 및 삭제  </a:t>
            </a:r>
            <a:r>
              <a:rPr lang="en-US" altLang="ko-KR" dirty="0"/>
              <a:t>/</a:t>
            </a:r>
            <a:r>
              <a:rPr lang="ko-KR" altLang="en-US" dirty="0"/>
              <a:t>동일 시각 중복 예약 방지 </a:t>
            </a:r>
            <a:r>
              <a:rPr lang="en-US" altLang="ko-KR" dirty="0"/>
              <a:t>/ </a:t>
            </a:r>
            <a:r>
              <a:rPr lang="ko-KR" altLang="en-US" dirty="0"/>
              <a:t>전체 복약 기록 및 장치 상태 조회</a:t>
            </a:r>
          </a:p>
          <a:p>
            <a:endParaRPr lang="en-US" altLang="ko-KR" dirty="0"/>
          </a:p>
          <a:p>
            <a:r>
              <a:rPr lang="ko-KR" altLang="en-US" dirty="0" err="1"/>
              <a:t>SQLite</a:t>
            </a:r>
            <a:endParaRPr lang="ko-KR" altLang="en-US" dirty="0"/>
          </a:p>
          <a:p>
            <a:r>
              <a:rPr lang="ko-KR" altLang="en-US" dirty="0"/>
              <a:t>저장 데이터:</a:t>
            </a:r>
          </a:p>
          <a:p>
            <a:r>
              <a:rPr lang="ko-KR" altLang="en-US" dirty="0"/>
              <a:t>예약 정보 </a:t>
            </a:r>
            <a:r>
              <a:rPr lang="en-US" altLang="ko-KR" dirty="0"/>
              <a:t>/ </a:t>
            </a:r>
            <a:r>
              <a:rPr lang="ko-KR" altLang="en-US" dirty="0"/>
              <a:t>MOVE/DISPENSE </a:t>
            </a:r>
            <a:r>
              <a:rPr lang="ko-KR" altLang="en-US" dirty="0" err="1"/>
              <a:t>요청번호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ACK/WAIT/RESULT 시각 </a:t>
            </a:r>
            <a:r>
              <a:rPr lang="en-US" altLang="ko-KR" dirty="0"/>
              <a:t>/ </a:t>
            </a:r>
            <a:r>
              <a:rPr lang="ko-KR" altLang="en-US" dirty="0"/>
              <a:t>최종 결과</a:t>
            </a:r>
          </a:p>
          <a:p>
            <a:r>
              <a:rPr lang="ko-KR" altLang="en-US" dirty="0" err="1"/>
              <a:t>설정값</a:t>
            </a:r>
            <a:r>
              <a:rPr lang="ko-KR" altLang="en-US" dirty="0"/>
              <a:t> </a:t>
            </a:r>
            <a:r>
              <a:rPr lang="en-US" altLang="ko-KR" dirty="0"/>
              <a:t>/ </a:t>
            </a:r>
            <a:r>
              <a:rPr lang="ko-KR" altLang="en-US" dirty="0"/>
              <a:t>현재 슬롯 </a:t>
            </a:r>
            <a:r>
              <a:rPr lang="en-US" altLang="ko-KR" dirty="0"/>
              <a:t>/ </a:t>
            </a:r>
            <a:r>
              <a:rPr lang="ko-KR" altLang="en-US" dirty="0"/>
              <a:t>이벤트 로그</a:t>
            </a:r>
          </a:p>
          <a:p>
            <a:r>
              <a:rPr lang="ko-KR" altLang="en-US" dirty="0" err="1"/>
              <a:t>LCD에서는</a:t>
            </a:r>
            <a:r>
              <a:rPr lang="ko-KR" altLang="en-US" dirty="0"/>
              <a:t> 일정 </a:t>
            </a:r>
            <a:r>
              <a:rPr lang="ko-KR" altLang="en-US" dirty="0" err="1"/>
              <a:t>등록·수정·삭제를</a:t>
            </a:r>
            <a:r>
              <a:rPr lang="ko-KR" altLang="en-US" dirty="0"/>
              <a:t> 수행하지 않고 관리자 웹에서만 수행한다. 외부 인터넷 없이 로컬 </a:t>
            </a:r>
            <a:r>
              <a:rPr lang="en-US" altLang="ko-KR" dirty="0"/>
              <a:t>AP </a:t>
            </a:r>
            <a:r>
              <a:rPr lang="ko-KR" altLang="en-US" dirty="0"/>
              <a:t>기반으로 예약</a:t>
            </a:r>
            <a:r>
              <a:rPr lang="en-US" altLang="ko-KR" dirty="0"/>
              <a:t>·LCD·</a:t>
            </a:r>
            <a:r>
              <a:rPr lang="ko-KR" altLang="en-US" dirty="0"/>
              <a:t>음성</a:t>
            </a:r>
            <a:r>
              <a:rPr lang="en-US" altLang="ko-KR" dirty="0"/>
              <a:t>·UART </a:t>
            </a:r>
            <a:r>
              <a:rPr lang="ko-KR" altLang="en-US" dirty="0"/>
              <a:t>기능 동작</a:t>
            </a:r>
            <a:br>
              <a:rPr lang="ko-KR" altLang="en-US" dirty="0"/>
            </a:b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재부팅 후 복약 예약 실행 전 관리자 단말기의 시간 동기화 필요.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796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단순 문자열 통신이 아닌 “중복 </a:t>
            </a:r>
            <a:r>
              <a:rPr lang="ko-KR" altLang="en-US" dirty="0" err="1"/>
              <a:t>물리동작</a:t>
            </a:r>
            <a:r>
              <a:rPr lang="ko-KR" altLang="en-US" dirty="0"/>
              <a:t> 방지 프로토콜” </a:t>
            </a:r>
            <a:endParaRPr lang="en-US" altLang="ko-KR" dirty="0"/>
          </a:p>
          <a:p>
            <a:r>
              <a:rPr lang="ko-KR" altLang="en-US" dirty="0"/>
              <a:t>MOVE</a:t>
            </a:r>
          </a:p>
          <a:p>
            <a:r>
              <a:rPr lang="ko-KR" altLang="en-US" dirty="0" err="1"/>
              <a:t>Pi</a:t>
            </a:r>
            <a:r>
              <a:rPr lang="ko-KR" altLang="en-US" dirty="0"/>
              <a:t> → AT : MOVE|00000001|0|0|003600 </a:t>
            </a:r>
            <a:r>
              <a:rPr lang="en-US" altLang="ko-KR" dirty="0"/>
              <a:t>/ </a:t>
            </a:r>
            <a:r>
              <a:rPr lang="ko-KR" altLang="en-US" dirty="0"/>
              <a:t>AT → </a:t>
            </a:r>
            <a:r>
              <a:rPr lang="ko-KR" altLang="en-US" dirty="0" err="1"/>
              <a:t>Pi</a:t>
            </a:r>
            <a:r>
              <a:rPr lang="ko-KR" altLang="en-US" dirty="0"/>
              <a:t> : ACK|00000001|MOVE </a:t>
            </a:r>
            <a:r>
              <a:rPr lang="en-US" altLang="ko-KR" dirty="0"/>
              <a:t>/ </a:t>
            </a:r>
            <a:r>
              <a:rPr lang="ko-KR" altLang="en-US" dirty="0"/>
              <a:t>AT → </a:t>
            </a:r>
            <a:r>
              <a:rPr lang="ko-KR" altLang="en-US" dirty="0" err="1"/>
              <a:t>Pi</a:t>
            </a:r>
            <a:r>
              <a:rPr lang="ko-KR" altLang="en-US" dirty="0"/>
              <a:t> : WAIT|00000001 </a:t>
            </a:r>
          </a:p>
          <a:p>
            <a:r>
              <a:rPr lang="ko-KR" altLang="en-US" dirty="0"/>
              <a:t>DISPENSE</a:t>
            </a:r>
          </a:p>
          <a:p>
            <a:r>
              <a:rPr lang="ko-KR" altLang="en-US" dirty="0" err="1"/>
              <a:t>Pi</a:t>
            </a:r>
            <a:r>
              <a:rPr lang="ko-KR" altLang="en-US" dirty="0"/>
              <a:t> → AT : DISPENSE|00000002|0|0 </a:t>
            </a:r>
            <a:r>
              <a:rPr lang="en-US" altLang="ko-KR" dirty="0"/>
              <a:t>/ </a:t>
            </a:r>
            <a:r>
              <a:rPr lang="ko-KR" altLang="en-US" dirty="0"/>
              <a:t>AT → </a:t>
            </a:r>
            <a:r>
              <a:rPr lang="ko-KR" altLang="en-US" dirty="0" err="1"/>
              <a:t>Pi</a:t>
            </a:r>
            <a:r>
              <a:rPr lang="ko-KR" altLang="en-US" dirty="0"/>
              <a:t> : ACK|00000002|DISPENSE </a:t>
            </a:r>
            <a:r>
              <a:rPr lang="en-US" altLang="ko-KR" dirty="0"/>
              <a:t>/ </a:t>
            </a:r>
            <a:r>
              <a:rPr lang="ko-KR" altLang="en-US" dirty="0"/>
              <a:t>AT → </a:t>
            </a:r>
            <a:r>
              <a:rPr lang="ko-KR" altLang="en-US" dirty="0" err="1"/>
              <a:t>Pi</a:t>
            </a:r>
            <a:r>
              <a:rPr lang="ko-KR" altLang="en-US" dirty="0"/>
              <a:t> : RESULT|00000002|001</a:t>
            </a:r>
          </a:p>
          <a:p>
            <a:r>
              <a:rPr lang="ko-KR" altLang="en-US" dirty="0" err="1"/>
              <a:t>Pi</a:t>
            </a:r>
            <a:r>
              <a:rPr lang="ko-KR" altLang="en-US" dirty="0"/>
              <a:t> → AT : ACK|00000002|RESULT</a:t>
            </a:r>
            <a:endParaRPr lang="en-US" altLang="ko-KR" dirty="0"/>
          </a:p>
          <a:p>
            <a:endParaRPr lang="ko-KR" altLang="en-US" dirty="0"/>
          </a:p>
          <a:p>
            <a:r>
              <a:rPr lang="ko-KR" altLang="en-US" dirty="0"/>
              <a:t>핵심 설계</a:t>
            </a:r>
          </a:p>
          <a:p>
            <a:r>
              <a:rPr lang="en-US" altLang="ko-KR" dirty="0"/>
              <a:t>8</a:t>
            </a:r>
            <a:r>
              <a:rPr lang="ko-KR" altLang="en-US" dirty="0"/>
              <a:t>자리 </a:t>
            </a:r>
            <a:r>
              <a:rPr lang="en-US" altLang="ko-KR" dirty="0"/>
              <a:t>Request ID</a:t>
            </a:r>
          </a:p>
          <a:p>
            <a:r>
              <a:rPr lang="ko-KR" altLang="en-US" dirty="0"/>
              <a:t>동일 </a:t>
            </a:r>
            <a:r>
              <a:rPr lang="en-US" altLang="ko-KR" dirty="0"/>
              <a:t>ID/Payload 10</a:t>
            </a:r>
            <a:r>
              <a:rPr lang="ko-KR" altLang="en-US" dirty="0"/>
              <a:t>초 재전송</a:t>
            </a:r>
          </a:p>
          <a:p>
            <a:r>
              <a:rPr lang="ko-KR" altLang="en-US" dirty="0"/>
              <a:t>동일 요청 물리적 </a:t>
            </a:r>
            <a:r>
              <a:rPr lang="ko-KR" altLang="en-US" dirty="0" err="1"/>
              <a:t>재구동</a:t>
            </a:r>
            <a:r>
              <a:rPr lang="ko-KR" altLang="en-US" dirty="0"/>
              <a:t> 금지</a:t>
            </a:r>
          </a:p>
          <a:p>
            <a:r>
              <a:rPr lang="en-US" altLang="ko-KR" dirty="0"/>
              <a:t>EEPROM </a:t>
            </a:r>
            <a:r>
              <a:rPr lang="ko-KR" altLang="en-US" dirty="0"/>
              <a:t>기반 상태 복구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요청번호·좌표·동작상태·결과를</a:t>
            </a:r>
            <a:r>
              <a:rPr lang="ko-KR" altLang="en-US" dirty="0"/>
              <a:t> 보존</a:t>
            </a:r>
          </a:p>
          <a:p>
            <a:r>
              <a:rPr lang="ko-KR" altLang="en-US" dirty="0" err="1"/>
              <a:t>Reset</a:t>
            </a:r>
            <a:r>
              <a:rPr lang="ko-KR" altLang="en-US" dirty="0"/>
              <a:t> </a:t>
            </a:r>
            <a:r>
              <a:rPr lang="ko-KR" altLang="en-US" dirty="0" err="1"/>
              <a:t>Recovery</a:t>
            </a:r>
            <a:endParaRPr lang="ko-KR" altLang="en-US" dirty="0"/>
          </a:p>
          <a:p>
            <a:r>
              <a:rPr lang="ko-KR" altLang="en-US" dirty="0"/>
              <a:t>동작 중 </a:t>
            </a:r>
            <a:r>
              <a:rPr lang="ko-KR" altLang="en-US" dirty="0" err="1"/>
              <a:t>재부팅되면</a:t>
            </a:r>
            <a:r>
              <a:rPr lang="ko-KR" altLang="en-US" dirty="0"/>
              <a:t> 자동 </a:t>
            </a:r>
            <a:r>
              <a:rPr lang="ko-KR" altLang="en-US" dirty="0" err="1"/>
              <a:t>재구동하지</a:t>
            </a:r>
            <a:r>
              <a:rPr lang="ko-KR" altLang="en-US" dirty="0"/>
              <a:t> 않고 RECOVERY_REQUIRED 처리</a:t>
            </a:r>
          </a:p>
          <a:p>
            <a:r>
              <a:rPr lang="ko-KR" altLang="en-US" dirty="0" err="1"/>
              <a:t>UART는</a:t>
            </a:r>
            <a:r>
              <a:rPr lang="ko-KR" altLang="en-US" dirty="0"/>
              <a:t> 9600 </a:t>
            </a:r>
            <a:r>
              <a:rPr lang="ko-KR" altLang="en-US" dirty="0" err="1"/>
              <a:t>bps</a:t>
            </a:r>
            <a:r>
              <a:rPr lang="ko-KR" altLang="en-US" dirty="0"/>
              <a:t>, 8N1, LF 종료 형식이며 동일 요청의 </a:t>
            </a:r>
            <a:r>
              <a:rPr lang="ko-KR" altLang="en-US" dirty="0" err="1"/>
              <a:t>재수신에도</a:t>
            </a:r>
            <a:r>
              <a:rPr lang="ko-KR" altLang="en-US" dirty="0"/>
              <a:t> 물리 동작이 중복되지 않도록 설계되어 있다.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32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복약 예약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건의 전체 처리 과정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일정 등록 보호자가 관리자 웹에서 약 이름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복약 시간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</a:t>
            </a:r>
            <a:r>
              <a:rPr lang="ko-KR" altLang="en-US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허용시간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등록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시간 도달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Raspberry Pi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SQLite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예약 확인 음성안내 시작 </a:t>
            </a:r>
            <a:r>
              <a:rPr lang="en-US" altLang="ko-KR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ATmega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MOVE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목표 슬롯 이동 </a:t>
            </a:r>
            <a:r>
              <a:rPr lang="en-US" altLang="ko-KR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ATmega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ACK X/Y </a:t>
            </a:r>
            <a:r>
              <a:rPr lang="ko-KR" altLang="en-US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스테핑모터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이동 목표 도착 후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WAIT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사용자 배출 승인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LCD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 큰 약 배출 버튼 활성화  사용자가 터치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정제 배출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Pi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DISPENSE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  </a:t>
            </a:r>
            <a:r>
              <a:rPr lang="en-US" altLang="ko-KR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ATmega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ACK </a:t>
            </a:r>
            <a:r>
              <a:rPr lang="ko-KR" altLang="en-US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서보모터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동작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배출 확인 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IR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센서 판정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RESULT|ID|XYR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전송</a:t>
            </a:r>
          </a:p>
          <a:p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저장 성공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실패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200" b="1" kern="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미복약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통신 오류 상태 저장 </a:t>
            </a:r>
            <a:r>
              <a:rPr lang="en-US" altLang="ko-KR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LCD </a:t>
            </a:r>
            <a:r>
              <a:rPr lang="ko-KR" altLang="en-US" sz="1200" b="1" kern="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표시 성공 시 다음 슬롯으로 이동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6192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>
              <a:defRPr/>
            </a:pPr>
            <a:r>
              <a:rPr lang="ko-KR" altLang="en-US" sz="1200" dirty="0">
                <a:solidFill>
                  <a:srgbClr val="FF0000"/>
                </a:solidFill>
              </a:rPr>
              <a:t>카드 안 설명을 아래로 변경 필요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app.py </a:t>
            </a:r>
          </a:p>
          <a:p>
            <a:r>
              <a:rPr lang="ko-KR" altLang="en-US" sz="1200" dirty="0" err="1">
                <a:solidFill>
                  <a:srgbClr val="FF0000"/>
                </a:solidFill>
              </a:rPr>
              <a:t>예약시간</a:t>
            </a:r>
            <a:r>
              <a:rPr lang="ko-KR" altLang="en-US" sz="1200" dirty="0">
                <a:solidFill>
                  <a:srgbClr val="FF0000"/>
                </a:solidFill>
              </a:rPr>
              <a:t> 판정 </a:t>
            </a:r>
            <a:r>
              <a:rPr lang="en-US" altLang="ko-KR" sz="1200" dirty="0">
                <a:solidFill>
                  <a:srgbClr val="FF0000"/>
                </a:solidFill>
              </a:rPr>
              <a:t>· Flask Route · LCD API 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database.py 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일정 조회 </a:t>
            </a:r>
            <a:r>
              <a:rPr lang="en-US" altLang="ko-KR" sz="1200" dirty="0">
                <a:solidFill>
                  <a:srgbClr val="FF0000"/>
                </a:solidFill>
              </a:rPr>
              <a:t>· </a:t>
            </a:r>
            <a:r>
              <a:rPr lang="ko-KR" altLang="en-US" sz="1200" dirty="0">
                <a:solidFill>
                  <a:srgbClr val="FF0000"/>
                </a:solidFill>
              </a:rPr>
              <a:t>복약 결과 저장 </a:t>
            </a:r>
            <a:r>
              <a:rPr lang="en-US" altLang="ko-KR" sz="1200" dirty="0">
                <a:solidFill>
                  <a:srgbClr val="FF0000"/>
                </a:solidFill>
              </a:rPr>
              <a:t>· </a:t>
            </a:r>
            <a:r>
              <a:rPr lang="ko-KR" altLang="en-US" sz="1200" dirty="0">
                <a:solidFill>
                  <a:srgbClr val="FF0000"/>
                </a:solidFill>
              </a:rPr>
              <a:t>이벤트 기록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UART Thread  MOVE/DISPENSE </a:t>
            </a:r>
            <a:r>
              <a:rPr lang="ko-KR" altLang="en-US" sz="1200" dirty="0">
                <a:solidFill>
                  <a:srgbClr val="FF0000"/>
                </a:solidFill>
              </a:rPr>
              <a:t>송신 </a:t>
            </a:r>
            <a:r>
              <a:rPr lang="en-US" altLang="ko-KR" sz="1200" dirty="0">
                <a:solidFill>
                  <a:srgbClr val="FF0000"/>
                </a:solidFill>
              </a:rPr>
              <a:t>ACK/WAIT/RESULT </a:t>
            </a:r>
            <a:r>
              <a:rPr lang="ko-KR" altLang="en-US" sz="1200" dirty="0">
                <a:solidFill>
                  <a:srgbClr val="FF0000"/>
                </a:solidFill>
              </a:rPr>
              <a:t>수신 처리</a:t>
            </a:r>
            <a:endParaRPr lang="en-US" altLang="ko-KR" sz="1200" dirty="0">
              <a:solidFill>
                <a:srgbClr val="FF0000"/>
              </a:solidFill>
            </a:endParaRP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UART Thread 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실제 함수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· </a:t>
            </a:r>
            <a:r>
              <a:rPr lang="en-US" altLang="ko-KR" sz="1200" dirty="0" err="1">
                <a:solidFill>
                  <a:srgbClr val="FF0000"/>
                </a:solidFill>
              </a:rPr>
              <a:t>send_xxx</a:t>
            </a:r>
            <a:r>
              <a:rPr lang="en-US" altLang="ko-KR" sz="1200" dirty="0">
                <a:solidFill>
                  <a:srgbClr val="FF0000"/>
                </a:solidFill>
              </a:rPr>
              <a:t>()  · </a:t>
            </a:r>
            <a:r>
              <a:rPr lang="en-US" altLang="ko-KR" sz="1200" dirty="0" err="1">
                <a:solidFill>
                  <a:srgbClr val="FF0000"/>
                </a:solidFill>
              </a:rPr>
              <a:t>handle_xxx</a:t>
            </a:r>
            <a:r>
              <a:rPr lang="en-US" altLang="ko-KR" sz="1200" dirty="0">
                <a:solidFill>
                  <a:srgbClr val="FF0000"/>
                </a:solidFill>
              </a:rPr>
              <a:t>()  · </a:t>
            </a:r>
            <a:r>
              <a:rPr lang="en-US" altLang="ko-KR" sz="1200" dirty="0" err="1">
                <a:solidFill>
                  <a:srgbClr val="FF0000"/>
                </a:solidFill>
              </a:rPr>
              <a:t>parse_xxx</a:t>
            </a:r>
            <a:r>
              <a:rPr lang="en-US" altLang="ko-KR" sz="1200" dirty="0">
                <a:solidFill>
                  <a:srgbClr val="FF0000"/>
                </a:solidFill>
              </a:rPr>
              <a:t>() </a:t>
            </a:r>
          </a:p>
          <a:p>
            <a:r>
              <a:rPr lang="ko-KR" altLang="en-US" sz="1200" dirty="0">
                <a:solidFill>
                  <a:srgbClr val="FF0000"/>
                </a:solidFill>
              </a:rPr>
              <a:t>기능 </a:t>
            </a:r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en-US" altLang="ko-KR" sz="1200" dirty="0">
                <a:solidFill>
                  <a:srgbClr val="FF0000"/>
                </a:solidFill>
              </a:rPr>
              <a:t>MOVE/DISPENSE </a:t>
            </a:r>
            <a:r>
              <a:rPr lang="ko-KR" altLang="en-US" sz="1200" dirty="0">
                <a:solidFill>
                  <a:srgbClr val="FF0000"/>
                </a:solidFill>
              </a:rPr>
              <a:t>송신  </a:t>
            </a:r>
            <a:r>
              <a:rPr lang="en-US" altLang="ko-KR" sz="1200" dirty="0">
                <a:solidFill>
                  <a:srgbClr val="FF0000"/>
                </a:solidFill>
              </a:rPr>
              <a:t>ACK/WAIT/RESULT </a:t>
            </a:r>
            <a:r>
              <a:rPr lang="ko-KR" altLang="en-US" sz="1200" dirty="0">
                <a:solidFill>
                  <a:srgbClr val="FF0000"/>
                </a:solidFill>
              </a:rPr>
              <a:t>처리</a:t>
            </a:r>
          </a:p>
          <a:p>
            <a:endParaRPr lang="en-US" altLang="ko-KR" sz="1200" dirty="0">
              <a:solidFill>
                <a:srgbClr val="FF0000"/>
              </a:solidFill>
            </a:endParaRPr>
          </a:p>
          <a:p>
            <a:r>
              <a:rPr lang="ko-KR" altLang="en-US" sz="1200" dirty="0">
                <a:solidFill>
                  <a:srgbClr val="FF0000"/>
                </a:solidFill>
              </a:rPr>
              <a:t>목적은</a:t>
            </a:r>
            <a:r>
              <a:rPr lang="en-US" altLang="ko-KR" sz="1200" dirty="0">
                <a:solidFill>
                  <a:srgbClr val="FF0000"/>
                </a:solidFill>
              </a:rPr>
              <a:t>:</a:t>
            </a:r>
          </a:p>
          <a:p>
            <a:r>
              <a:rPr lang="ko-KR" altLang="en-US" sz="1200" b="1" dirty="0">
                <a:solidFill>
                  <a:srgbClr val="FF0000"/>
                </a:solidFill>
              </a:rPr>
              <a:t>어떤 파일에 어떤 함수가 있고 무엇을 </a:t>
            </a:r>
            <a:r>
              <a:rPr lang="ko-KR" altLang="en-US" sz="1200" b="1" dirty="0" err="1">
                <a:solidFill>
                  <a:srgbClr val="FF0000"/>
                </a:solidFill>
              </a:rPr>
              <a:t>담당하는가</a:t>
            </a:r>
            <a:r>
              <a:rPr lang="ko-KR" altLang="en-US" sz="1200" dirty="0" err="1">
                <a:solidFill>
                  <a:srgbClr val="FF0000"/>
                </a:solidFill>
              </a:rPr>
              <a:t>를</a:t>
            </a:r>
            <a:r>
              <a:rPr lang="ko-KR" altLang="en-US" sz="1200" dirty="0">
                <a:solidFill>
                  <a:srgbClr val="FF0000"/>
                </a:solidFill>
              </a:rPr>
              <a:t> 보여주기</a:t>
            </a:r>
          </a:p>
          <a:p>
            <a:endParaRPr lang="ko-KR" altLang="en-US" sz="1200" dirty="0">
              <a:solidFill>
                <a:srgbClr val="FF0000"/>
              </a:solidFill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0573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3104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https://</a:t>
            </a:r>
            <a:r>
              <a:rPr lang="en-US" altLang="ko-KR" dirty="0" smtClean="0"/>
              <a:t>support.herohealth.com/en/articles/8058271-how-does-the-hero-dispense-medications?utm_source=chatgpt.com</a:t>
            </a:r>
            <a:endParaRPr lang="en-US" altLang="ko-KR" dirty="0"/>
          </a:p>
          <a:p>
            <a:r>
              <a:rPr lang="en-US" altLang="ko-KR" dirty="0"/>
              <a:t>https://</a:t>
            </a:r>
            <a:r>
              <a:rPr lang="en-US" altLang="ko-KR" dirty="0" smtClean="0"/>
              <a:t>www.medacube.com/pages/usage?utm_source=chatgpt.com</a:t>
            </a:r>
            <a:endParaRPr lang="en-US" altLang="ko-KR" dirty="0"/>
          </a:p>
          <a:p>
            <a:r>
              <a:rPr lang="en-US" altLang="ko-KR" dirty="0"/>
              <a:t>https://medminder.com/medminder-device-instructions-for-use/?utm_source=chatgpt.com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714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05846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79548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EA9187-DAAE-20FA-A9F5-1F299A7AF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F816DD-1A1D-710C-E6DA-73FAEB388B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0B5A01-E81F-2CE8-AA7A-BFACB93FAF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37719-637E-56F1-779C-BDDEFE8DAEB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20B054-CA1C-82E9-E2D4-C01D36A689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11778-DC1B-CA54-B995-83043CDC8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D2EE6A-BD6D-B148-84E1-9A9CE3883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A5BC48-8714-7CA4-DA53-BEDD8BC417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890A3A-DB22-5080-3373-976C62453E8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B6FB81-1F58-EE38-4180-DA5A1303BC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052E60-017F-9D97-2AA4-3B3FDB5FD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E970CC-B8D0-F324-60E2-79F25CFD54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361A02-65F4-17F3-E390-0830A8AAA5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BE6ADC-3F16-05F7-8CE3-6E32D666DDA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B60BFB-9349-7E6B-7B3D-0D51787D16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83103-177A-060E-7D06-88FED98D5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5CEB01-02F3-B74E-68B2-AE8EFAD72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C3FCC8A-C6C4-17B1-079D-E3AF312F02E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420DE7-ADC7-1C45-A7D1-4E12648DCC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EB456-493B-3C2B-2C3C-CE004ECD37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86F137-67BD-81BF-494A-BE706B7BA75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1E9F24-14A1-1D06-B5A8-70CFC3C9E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06A86C-79FE-FA65-359A-E94FEE6C4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E247B4-B24E-1FA0-A12F-052FFB7FBB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4FDBD0-F632-4491-7472-911DF5C214A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39A0D8B-44F0-784E-1712-5BDEA7046AB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B42FA9-B56E-940D-6D3D-8A3EE99AB4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3741C6E-53D5-432B-D615-16B9408A34F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24583DB-253A-0017-392E-E6C5FA9FEA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C9E6E-E02B-9309-4002-9660A1A94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F8C1E6F-8590-9D44-1B06-03AB34E109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517931-1F9D-F654-3270-5B734081D88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001A264-C932-31D0-B46C-7B0E1C2C53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315BEB2-8D27-2C44-DCC7-214844267CE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E5707F3-7254-EE87-BEEF-9F171589A29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212244-78F0-21AD-2D30-E54B0D955F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FC3FEA-E671-660D-233B-4928EDBFC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9D5627-169F-EAB8-B202-7826D8161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B1F710-F7CA-7E5A-82EF-AD83F810943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CB35CB-C467-1F15-4942-A74A3ABA121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1E8F46-D4A8-2810-F5DF-1B78E1EC960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A04A5A-0D9A-312A-92DC-7632CFC230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D9958-E2EC-652C-FE2D-C9D2DEB6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AB8505-19D8-F979-42FD-A618E7F110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D86278-4C02-4395-2F25-D616F412A49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CDC3A2-9C07-F65B-AEC6-B572F68B26E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C3DC6D-96B6-6CF0-75B5-A93ED4CD9F1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A2CCCB-9E85-7714-7F5B-A605331E1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2D228-BF5C-6AAD-DB54-89B9D874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4DC7B6-A23B-EB54-38EE-8C18ABDC5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409373-7997-4229-FAA4-CB8FE6418D8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7B683B-9A63-16EC-72E1-E4CA27D4ED7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E7C54C-8C00-92FD-6E13-7709ECA552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CC37DE9-AC77-E421-5F90-3C845623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B964E9-3D46-3F51-AAD2-96C910468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CA4965-9F1A-AD73-4F12-E79623B451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98B1634-B2BE-6B96-79F1-8EC1311463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CC2418-7DE1-B0B8-8D9D-F273E540B7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2AE73E0E-07B0-425D-9970-0ABC0A5FB78C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C87EA7-ABF2-072E-3B00-89BC667E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224B56-2868-6C7E-A84C-BAA8472DD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마스터 텍스트 스타일을 편집하려면 클릭</a:t>
            </a:r>
          </a:p>
          <a:p>
            <a:pPr>
              <a:buNone/>
            </a:pPr>
            <a:r>
              <a:t>두 번째 수준</a:t>
            </a:r>
          </a:p>
          <a:p>
            <a:pPr>
              <a:buNone/>
            </a:pPr>
            <a:r>
              <a:t>세 번째 수준</a:t>
            </a:r>
          </a:p>
          <a:p>
            <a:pPr>
              <a:buNone/>
            </a:pPr>
            <a:r>
              <a:t>네 번째 수준</a:t>
            </a:r>
          </a:p>
          <a:p>
            <a:pPr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F28F6-5700-16FD-D0BB-8CF6A7244F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7BFD7-C279-45DD-9393-F82F39E53539}" type="datetimeFigureOut">
              <a:t>2026-08-31</a:t>
            </a:fld>
            <a:endParaRPr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468F23-497E-BB36-A68E-B74FCA14E72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A102657-C78C-46F2-D01E-65A25647664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73E0E-07B0-425D-9970-0ABC0A5FB78C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37400" y="2711143"/>
            <a:ext cx="96879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약속</a:t>
            </a:r>
            <a:r>
              <a:rPr lang="en-US" altLang="ko-KR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藥</a:t>
            </a:r>
            <a:r>
              <a:rPr lang="en-US" altLang="ko-KR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SLOT)</a:t>
            </a:r>
            <a:r>
              <a:rPr lang="ko-KR" altLang="en-US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</a:t>
            </a:r>
            <a:r>
              <a:rPr lang="ko-KR" altLang="en-US" sz="6600" b="1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지켜야죠</a:t>
            </a:r>
            <a:endParaRPr lang="ko-KR" altLang="en-US" sz="6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9543" y="6439991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약속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SLOT(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이양배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신유지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이호윤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51779" y="3819139"/>
            <a:ext cx="8859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기존 제조사 </a:t>
            </a:r>
            <a:r>
              <a:rPr lang="ko-KR" altLang="en-US" dirty="0" err="1"/>
              <a:t>블리스터</a:t>
            </a:r>
            <a:r>
              <a:rPr lang="ko-KR" altLang="en-US" dirty="0"/>
              <a:t> 포장을 유지하면서 복약 일정에 따라 대상 슬롯을 자동 정렬하고</a:t>
            </a:r>
            <a:r>
              <a:rPr lang="en-US" altLang="ko-KR" dirty="0"/>
              <a:t>, </a:t>
            </a:r>
            <a:r>
              <a:rPr lang="ko-KR" altLang="en-US" dirty="0"/>
              <a:t>사용자의 배출 승인 후 </a:t>
            </a:r>
            <a:r>
              <a:rPr lang="en-US" altLang="ko-KR" dirty="0"/>
              <a:t>1</a:t>
            </a:r>
            <a:r>
              <a:rPr lang="ko-KR" altLang="en-US" dirty="0"/>
              <a:t>정을 배출</a:t>
            </a:r>
            <a:r>
              <a:rPr lang="en-US" altLang="ko-KR" dirty="0"/>
              <a:t>·</a:t>
            </a:r>
            <a:r>
              <a:rPr lang="ko-KR" altLang="en-US" dirty="0"/>
              <a:t>기록하는 복약 지원 시스템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490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Contents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8772" y="1023938"/>
            <a:ext cx="7676214" cy="54686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프로젝트 개요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시스템 설계 및 개발환경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핵심 기술 및 구현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구현 결과 및 검증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차별성 및 기대효과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  <a:p>
            <a:pPr marL="914400" indent="-914400">
              <a:lnSpc>
                <a:spcPct val="250000"/>
              </a:lnSpc>
              <a:buAutoNum type="arabicPeriod"/>
            </a:pPr>
            <a:r>
              <a:rPr lang="ko-KR" altLang="en-US" sz="2400" b="1" dirty="0">
                <a:latin typeface="+mn-ea"/>
                <a:cs typeface="Pretendard" panose="02000503000000020004" pitchFamily="2" charset="-127"/>
              </a:rPr>
              <a:t>개발 일정 및 업무 분장</a:t>
            </a:r>
            <a:endParaRPr lang="en-US" altLang="ko-KR" sz="2400" b="1" dirty="0">
              <a:latin typeface="+mn-ea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22219" y="2783198"/>
            <a:ext cx="4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n-ea"/>
                <a:cs typeface="Pretendard" panose="02000503000000020004" pitchFamily="2" charset="-127"/>
              </a:rPr>
              <a:t>HW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SW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en-US" altLang="ko-KR" dirty="0" smtClean="0">
                <a:latin typeface="+mn-ea"/>
                <a:cs typeface="Pretendard" panose="02000503000000020004" pitchFamily="2" charset="-127"/>
              </a:rPr>
              <a:t>System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2219" y="3722287"/>
            <a:ext cx="4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cs typeface="Pretendard" panose="02000503000000020004" pitchFamily="2" charset="-127"/>
              </a:rPr>
              <a:t>프로그램 구성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UI/DB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구동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/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센서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UART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2219" y="4661376"/>
            <a:ext cx="4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cs typeface="Pretendard" panose="02000503000000020004" pitchFamily="2" charset="-127"/>
              </a:rPr>
              <a:t>전체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Flow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구현 시험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장애요인 및 해결</a:t>
            </a:r>
            <a:endParaRPr lang="en-US" altLang="ko-KR" dirty="0"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22219" y="5498227"/>
            <a:ext cx="4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cs typeface="Pretendard" panose="02000503000000020004" pitchFamily="2" charset="-127"/>
              </a:rPr>
              <a:t>차별성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우수성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시장성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발전가능성</a:t>
            </a:r>
            <a:endParaRPr lang="en-US" altLang="ko-KR" dirty="0">
              <a:latin typeface="+mn-ea"/>
              <a:cs typeface="Pretendard" panose="02000503000000020004" pitchFamily="2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22219" y="1867611"/>
            <a:ext cx="4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cs typeface="Pretendard" panose="02000503000000020004" pitchFamily="2" charset="-127"/>
              </a:rPr>
              <a:t>개발 배경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문제 정의 </a:t>
            </a:r>
            <a:r>
              <a:rPr lang="en-US" altLang="ko-KR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ko-KR" altLang="en-US" dirty="0">
                <a:latin typeface="+mn-ea"/>
                <a:cs typeface="Pretendard" panose="02000503000000020004" pitchFamily="2" charset="-127"/>
              </a:rPr>
              <a:t>개발 목표</a:t>
            </a:r>
            <a:endParaRPr lang="en-US" altLang="ko-KR" dirty="0">
              <a:latin typeface="+mn-ea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154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배경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Rounded Rectangle 8"/>
          <p:cNvSpPr/>
          <p:nvPr/>
        </p:nvSpPr>
        <p:spPr>
          <a:xfrm>
            <a:off x="621792" y="2057400"/>
            <a:ext cx="199339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2267712"/>
            <a:ext cx="181051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F6B7E"/>
                </a:solidFill>
                <a:latin typeface="+mn-ea"/>
              </a:rPr>
              <a:t>65세 이상 인구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2615184"/>
            <a:ext cx="1810512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600" b="1">
                <a:solidFill>
                  <a:srgbClr val="F1842B"/>
                </a:solidFill>
                <a:latin typeface="+mn-ea"/>
              </a:rPr>
              <a:t>20.3%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054096"/>
            <a:ext cx="1810512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2025년</a:t>
            </a:r>
          </a:p>
        </p:txBody>
      </p:sp>
      <p:sp>
        <p:nvSpPr>
          <p:cNvPr id="24" name="Rounded Rectangle 12"/>
          <p:cNvSpPr/>
          <p:nvPr/>
        </p:nvSpPr>
        <p:spPr>
          <a:xfrm>
            <a:off x="2889504" y="2057400"/>
            <a:ext cx="199339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80944" y="2267712"/>
            <a:ext cx="181051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F6B7E"/>
                </a:solidFill>
                <a:latin typeface="+mn-ea"/>
              </a:rPr>
              <a:t>평균 만성질환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0944" y="2615184"/>
            <a:ext cx="1810512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600" b="1">
                <a:solidFill>
                  <a:srgbClr val="4A79E8"/>
                </a:solidFill>
                <a:latin typeface="+mn-ea"/>
              </a:rPr>
              <a:t>2.2개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80944" y="3054096"/>
            <a:ext cx="1810512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노인 1인당</a:t>
            </a:r>
          </a:p>
        </p:txBody>
      </p:sp>
      <p:sp>
        <p:nvSpPr>
          <p:cNvPr id="28" name="Rounded Rectangle 16"/>
          <p:cNvSpPr/>
          <p:nvPr/>
        </p:nvSpPr>
        <p:spPr>
          <a:xfrm>
            <a:off x="5157216" y="2057400"/>
            <a:ext cx="199339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248656" y="2267712"/>
            <a:ext cx="181051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F6B7E"/>
                </a:solidFill>
                <a:latin typeface="+mn-ea"/>
              </a:rPr>
              <a:t>3개 이상 만성질환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48656" y="2615184"/>
            <a:ext cx="1810512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600" b="1">
                <a:solidFill>
                  <a:srgbClr val="4A79E8"/>
                </a:solidFill>
                <a:latin typeface="+mn-ea"/>
              </a:rPr>
              <a:t>35.9%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8656" y="3054096"/>
            <a:ext cx="1810512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복합 질환</a:t>
            </a:r>
          </a:p>
        </p:txBody>
      </p:sp>
      <p:sp>
        <p:nvSpPr>
          <p:cNvPr id="32" name="Rounded Rectangle 20"/>
          <p:cNvSpPr/>
          <p:nvPr/>
        </p:nvSpPr>
        <p:spPr>
          <a:xfrm>
            <a:off x="7424928" y="2057400"/>
            <a:ext cx="199339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16368" y="2267712"/>
            <a:ext cx="181051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F6B7E"/>
                </a:solidFill>
                <a:latin typeface="+mn-ea"/>
              </a:rPr>
              <a:t>독거노인 비율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6368" y="2615184"/>
            <a:ext cx="1810512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600" b="1">
                <a:solidFill>
                  <a:srgbClr val="4A79E8"/>
                </a:solidFill>
                <a:latin typeface="+mn-ea"/>
              </a:rPr>
              <a:t>32.8%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16368" y="3054096"/>
            <a:ext cx="1810512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1인 가구</a:t>
            </a:r>
          </a:p>
        </p:txBody>
      </p:sp>
      <p:sp>
        <p:nvSpPr>
          <p:cNvPr id="36" name="Rounded Rectangle 24"/>
          <p:cNvSpPr/>
          <p:nvPr/>
        </p:nvSpPr>
        <p:spPr>
          <a:xfrm>
            <a:off x="9692640" y="2057400"/>
            <a:ext cx="1993392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784080" y="2267712"/>
            <a:ext cx="1810512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F6B7E"/>
                </a:solidFill>
                <a:latin typeface="+mn-ea"/>
              </a:rPr>
              <a:t>75세 이상 다제병용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2615184"/>
            <a:ext cx="1810512" cy="4514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600" b="1">
                <a:solidFill>
                  <a:srgbClr val="F1842B"/>
                </a:solidFill>
                <a:latin typeface="+mn-ea"/>
              </a:rPr>
              <a:t>64.2%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054096"/>
            <a:ext cx="1810512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OECD 평균 50.1%</a:t>
            </a:r>
          </a:p>
        </p:txBody>
      </p:sp>
      <p:sp>
        <p:nvSpPr>
          <p:cNvPr id="40" name="Rounded Rectangle 28"/>
          <p:cNvSpPr/>
          <p:nvPr/>
        </p:nvSpPr>
        <p:spPr>
          <a:xfrm>
            <a:off x="822960" y="3886200"/>
            <a:ext cx="5074920" cy="1417320"/>
          </a:xfrm>
          <a:prstGeom prst="roundRect">
            <a:avLst/>
          </a:prstGeom>
          <a:solidFill>
            <a:srgbClr val="FEEEE4"/>
          </a:solidFill>
          <a:ln w="13970">
            <a:solidFill>
              <a:srgbClr val="F7D4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78992" y="4160520"/>
            <a:ext cx="45720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F1842B"/>
                </a:solidFill>
                <a:latin typeface="+mn-ea"/>
              </a:rPr>
              <a:t>사용자가 직접 기억해야 하는 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8200" y="4658022"/>
            <a:ext cx="5123688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900" b="1" dirty="0">
                <a:solidFill>
                  <a:srgbClr val="273244"/>
                </a:solidFill>
                <a:latin typeface="+mn-ea"/>
              </a:rPr>
              <a:t>“</a:t>
            </a:r>
            <a:r>
              <a:rPr sz="1900" b="1" dirty="0" err="1">
                <a:solidFill>
                  <a:srgbClr val="273244"/>
                </a:solidFill>
                <a:latin typeface="+mn-ea"/>
              </a:rPr>
              <a:t>언제</a:t>
            </a:r>
            <a:r>
              <a:rPr sz="19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273244"/>
                </a:solidFill>
                <a:latin typeface="+mn-ea"/>
              </a:rPr>
              <a:t>먹지</a:t>
            </a:r>
            <a:r>
              <a:rPr sz="1900" b="1" dirty="0">
                <a:solidFill>
                  <a:srgbClr val="273244"/>
                </a:solidFill>
                <a:latin typeface="+mn-ea"/>
              </a:rPr>
              <a:t>?”  ·  “</a:t>
            </a:r>
            <a:r>
              <a:rPr sz="1900" b="1" dirty="0" err="1">
                <a:solidFill>
                  <a:srgbClr val="273244"/>
                </a:solidFill>
                <a:latin typeface="+mn-ea"/>
              </a:rPr>
              <a:t>어떤</a:t>
            </a:r>
            <a:r>
              <a:rPr sz="19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900" b="1" dirty="0" err="1">
                <a:solidFill>
                  <a:srgbClr val="273244"/>
                </a:solidFill>
                <a:latin typeface="+mn-ea"/>
              </a:rPr>
              <a:t>약이지</a:t>
            </a:r>
            <a:r>
              <a:rPr sz="1900" b="1" dirty="0">
                <a:solidFill>
                  <a:srgbClr val="273244"/>
                </a:solidFill>
                <a:latin typeface="+mn-ea"/>
              </a:rPr>
              <a:t>?”  ·  “</a:t>
            </a:r>
            <a:r>
              <a:rPr sz="1900" b="1" dirty="0" err="1">
                <a:solidFill>
                  <a:srgbClr val="273244"/>
                </a:solidFill>
                <a:latin typeface="+mn-ea"/>
              </a:rPr>
              <a:t>먹었나</a:t>
            </a:r>
            <a:r>
              <a:rPr sz="1900" b="1" dirty="0">
                <a:solidFill>
                  <a:srgbClr val="273244"/>
                </a:solidFill>
                <a:latin typeface="+mn-ea"/>
              </a:rPr>
              <a:t>?”</a:t>
            </a:r>
          </a:p>
        </p:txBody>
      </p:sp>
      <p:sp>
        <p:nvSpPr>
          <p:cNvPr id="43" name="Rounded Rectangle 31"/>
          <p:cNvSpPr/>
          <p:nvPr/>
        </p:nvSpPr>
        <p:spPr>
          <a:xfrm>
            <a:off x="6263640" y="3886200"/>
            <a:ext cx="5074920" cy="1417320"/>
          </a:xfrm>
          <a:prstGeom prst="roundRect">
            <a:avLst/>
          </a:prstGeom>
          <a:solidFill>
            <a:srgbClr val="EFF4FF"/>
          </a:solidFill>
          <a:ln w="13970">
            <a:solidFill>
              <a:srgbClr val="CAD9F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10528" y="4160520"/>
            <a:ext cx="457200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4A79E8"/>
                </a:solidFill>
                <a:latin typeface="+mn-ea"/>
              </a:rPr>
              <a:t>개발이 해결하려는 부담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5412" y="4691889"/>
            <a:ext cx="4837176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 err="1">
                <a:solidFill>
                  <a:srgbClr val="273244"/>
                </a:solidFill>
                <a:latin typeface="+mn-ea"/>
              </a:rPr>
              <a:t>복약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시간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·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대상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슬롯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·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복용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여부를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장치가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대신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관리</a:t>
            </a:r>
            <a:endParaRPr sz="16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1520" y="6338406"/>
            <a:ext cx="10789920" cy="274320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850" b="0" dirty="0" err="1">
                <a:solidFill>
                  <a:srgbClr val="6B778C"/>
                </a:solidFill>
                <a:latin typeface="Pretendard"/>
              </a:rPr>
              <a:t>출처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|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통계청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「2025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고령자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통계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」 ·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보건복지부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「2023년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노인실태조사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」 ·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한국보건사회연구원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</a:t>
            </a:r>
            <a:r>
              <a:rPr sz="850" b="0" dirty="0" err="1">
                <a:solidFill>
                  <a:srgbClr val="6B778C"/>
                </a:solidFill>
                <a:latin typeface="Pretendard"/>
              </a:rPr>
              <a:t>연구보고서</a:t>
            </a:r>
            <a:r>
              <a:rPr sz="850" b="0" dirty="0">
                <a:solidFill>
                  <a:srgbClr val="6B778C"/>
                </a:solidFill>
                <a:latin typeface="Pretendard"/>
              </a:rPr>
              <a:t> 2024-09</a:t>
            </a:r>
          </a:p>
        </p:txBody>
      </p:sp>
    </p:spTree>
    <p:extLst>
      <p:ext uri="{BB962C8B-B14F-4D97-AF65-F5344CB8AC3E}">
        <p14:creationId xmlns:p14="http://schemas.microsoft.com/office/powerpoint/2010/main" val="336237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배경 </a:t>
            </a:r>
            <a:r>
              <a:rPr lang="en-US" altLang="ko-KR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문제 정의 및 개발 동기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47493" y="6736872"/>
            <a:ext cx="65836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A0A8B5"/>
                </a:solidFill>
                <a:latin typeface="+mn-ea"/>
              </a:rPr>
              <a:t>05</a:t>
            </a:r>
          </a:p>
        </p:txBody>
      </p:sp>
      <p:sp>
        <p:nvSpPr>
          <p:cNvPr id="21" name="Rounded Rectangle 7"/>
          <p:cNvSpPr/>
          <p:nvPr/>
        </p:nvSpPr>
        <p:spPr>
          <a:xfrm>
            <a:off x="697653" y="1774842"/>
            <a:ext cx="324612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2" name="Oval 8"/>
          <p:cNvSpPr/>
          <p:nvPr/>
        </p:nvSpPr>
        <p:spPr>
          <a:xfrm>
            <a:off x="926253" y="2030874"/>
            <a:ext cx="420624" cy="420624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26253" y="2164242"/>
            <a:ext cx="4206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2325" y="2091609"/>
            <a:ext cx="21488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 dirty="0" err="1">
                <a:solidFill>
                  <a:srgbClr val="273244"/>
                </a:solidFill>
                <a:latin typeface="+mn-ea"/>
              </a:rPr>
              <a:t>복약</a:t>
            </a:r>
            <a:r>
              <a:rPr sz="18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800" b="1" dirty="0" err="1">
                <a:solidFill>
                  <a:srgbClr val="273244"/>
                </a:solidFill>
                <a:latin typeface="+mn-ea"/>
              </a:rPr>
              <a:t>대상</a:t>
            </a:r>
            <a:r>
              <a:rPr sz="18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800" b="1" dirty="0" err="1">
                <a:solidFill>
                  <a:srgbClr val="273244"/>
                </a:solidFill>
                <a:latin typeface="+mn-ea"/>
              </a:rPr>
              <a:t>혼동</a:t>
            </a:r>
            <a:endParaRPr sz="18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63413" y="2625234"/>
            <a:ext cx="2514600" cy="805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 dirty="0" err="1">
                <a:solidFill>
                  <a:srgbClr val="5F6B7E"/>
                </a:solidFill>
                <a:latin typeface="+mn-ea"/>
              </a:rPr>
              <a:t>여러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300" b="0" dirty="0" err="1">
                <a:solidFill>
                  <a:srgbClr val="5F6B7E"/>
                </a:solidFill>
                <a:latin typeface="+mn-ea"/>
              </a:rPr>
              <a:t>처방약을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300" b="0" dirty="0" err="1">
                <a:solidFill>
                  <a:srgbClr val="5F6B7E"/>
                </a:solidFill>
                <a:latin typeface="+mn-ea"/>
              </a:rPr>
              <a:t>함께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300" b="0" dirty="0" err="1">
                <a:solidFill>
                  <a:srgbClr val="5F6B7E"/>
                </a:solidFill>
                <a:latin typeface="+mn-ea"/>
              </a:rPr>
              <a:t>복용할수록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 err="1">
                <a:latin typeface="+mn-ea"/>
              </a:rPr>
              <a:t>사용자가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약과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시간을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직접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구분</a:t>
            </a:r>
            <a:endParaRPr dirty="0">
              <a:latin typeface="+mn-ea"/>
            </a:endParaRPr>
          </a:p>
        </p:txBody>
      </p:sp>
      <p:sp>
        <p:nvSpPr>
          <p:cNvPr id="30" name="Rounded Rectangle 12"/>
          <p:cNvSpPr/>
          <p:nvPr/>
        </p:nvSpPr>
        <p:spPr>
          <a:xfrm>
            <a:off x="4464981" y="1774842"/>
            <a:ext cx="324612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Oval 13"/>
          <p:cNvSpPr/>
          <p:nvPr/>
        </p:nvSpPr>
        <p:spPr>
          <a:xfrm>
            <a:off x="4693581" y="2030874"/>
            <a:ext cx="420624" cy="420624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693581" y="2164242"/>
            <a:ext cx="4206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72855" y="2091609"/>
            <a:ext cx="21488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 dirty="0" err="1">
                <a:solidFill>
                  <a:srgbClr val="273244"/>
                </a:solidFill>
                <a:latin typeface="+mn-ea"/>
              </a:rPr>
              <a:t>재포장</a:t>
            </a:r>
            <a:r>
              <a:rPr sz="18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800" b="1" dirty="0" err="1">
                <a:solidFill>
                  <a:srgbClr val="273244"/>
                </a:solidFill>
                <a:latin typeface="+mn-ea"/>
              </a:rPr>
              <a:t>부담</a:t>
            </a:r>
            <a:endParaRPr sz="18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30741" y="2625234"/>
            <a:ext cx="2514600" cy="805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 dirty="0" err="1">
                <a:solidFill>
                  <a:srgbClr val="5F6B7E"/>
                </a:solidFill>
                <a:latin typeface="+mn-ea"/>
              </a:rPr>
              <a:t>요일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300" b="0" dirty="0" err="1">
                <a:solidFill>
                  <a:srgbClr val="5F6B7E"/>
                </a:solidFill>
                <a:latin typeface="+mn-ea"/>
              </a:rPr>
              <a:t>약통·보관함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300" b="0" dirty="0" err="1">
                <a:solidFill>
                  <a:srgbClr val="5F6B7E"/>
                </a:solidFill>
                <a:latin typeface="+mn-ea"/>
              </a:rPr>
              <a:t>사용</a:t>
            </a:r>
            <a:r>
              <a:rPr sz="1300" b="0" dirty="0">
                <a:solidFill>
                  <a:srgbClr val="5F6B7E"/>
                </a:solidFill>
                <a:latin typeface="+mn-ea"/>
              </a:rPr>
              <a:t> 시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 err="1">
                <a:latin typeface="+mn-ea"/>
              </a:rPr>
              <a:t>블리스터에서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약을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다시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분류</a:t>
            </a:r>
            <a:endParaRPr dirty="0">
              <a:latin typeface="+mn-ea"/>
            </a:endParaRPr>
          </a:p>
        </p:txBody>
      </p:sp>
      <p:sp>
        <p:nvSpPr>
          <p:cNvPr id="44" name="Rounded Rectangle 17"/>
          <p:cNvSpPr/>
          <p:nvPr/>
        </p:nvSpPr>
        <p:spPr>
          <a:xfrm>
            <a:off x="8232309" y="1774842"/>
            <a:ext cx="3246120" cy="2057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5" name="Oval 18"/>
          <p:cNvSpPr/>
          <p:nvPr/>
        </p:nvSpPr>
        <p:spPr>
          <a:xfrm>
            <a:off x="8460909" y="2030874"/>
            <a:ext cx="420624" cy="420624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60909" y="2164242"/>
            <a:ext cx="42062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36981" y="2091609"/>
            <a:ext cx="214884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800" b="1" dirty="0" smtClean="0">
                <a:solidFill>
                  <a:srgbClr val="273244"/>
                </a:solidFill>
                <a:latin typeface="+mn-ea"/>
              </a:rPr>
              <a:t>UI </a:t>
            </a:r>
            <a:r>
              <a:rPr sz="1800" b="1" dirty="0" err="1">
                <a:solidFill>
                  <a:srgbClr val="273244"/>
                </a:solidFill>
                <a:latin typeface="+mn-ea"/>
              </a:rPr>
              <a:t>복잡성</a:t>
            </a:r>
            <a:endParaRPr sz="18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98069" y="2625234"/>
            <a:ext cx="2514600" cy="80534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0">
                <a:solidFill>
                  <a:srgbClr val="5F6B7E"/>
                </a:solidFill>
                <a:latin typeface="+mn-ea"/>
              </a:rPr>
              <a:t>복약 순간에는 복잡한 메뉴보다</a:t>
            </a:r>
            <a:r>
              <a:rPr>
                <a:latin typeface="+mn-ea"/>
              </a:rPr>
              <a:t/>
            </a:r>
            <a:br>
              <a:rPr>
                <a:latin typeface="+mn-ea"/>
              </a:rPr>
            </a:br>
            <a:r>
              <a:rPr>
                <a:latin typeface="+mn-ea"/>
              </a:rPr>
              <a:t>필요 정보와 큰 버튼이 중요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984664"/>
            <a:ext cx="1173398" cy="3334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2000" b="1">
                <a:solidFill>
                  <a:srgbClr val="F57C20"/>
                </a:solidFill>
                <a:latin typeface="+mn-ea"/>
              </a:rPr>
              <a:t>개발 목표</a:t>
            </a:r>
          </a:p>
        </p:txBody>
      </p:sp>
      <p:sp>
        <p:nvSpPr>
          <p:cNvPr id="27" name="Rounded Rectangle 49"/>
          <p:cNvSpPr/>
          <p:nvPr/>
        </p:nvSpPr>
        <p:spPr>
          <a:xfrm>
            <a:off x="777240" y="4407408"/>
            <a:ext cx="3401568" cy="713232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6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1" name="Oval 50"/>
          <p:cNvSpPr/>
          <p:nvPr/>
        </p:nvSpPr>
        <p:spPr>
          <a:xfrm>
            <a:off x="886968" y="4535424"/>
            <a:ext cx="393192" cy="393192"/>
          </a:xfrm>
          <a:prstGeom prst="ellipse">
            <a:avLst/>
          </a:prstGeom>
          <a:solidFill>
            <a:srgbClr val="2F5CBE"/>
          </a:solidFill>
          <a:ln>
            <a:solidFill>
              <a:srgbClr val="2F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9752" y="4638405"/>
            <a:ext cx="227626" cy="187231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62456" y="4470969"/>
            <a:ext cx="1590179" cy="302647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기존 포장 유지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62456" y="4790006"/>
            <a:ext cx="1885131" cy="1949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1100" b="0">
                <a:solidFill>
                  <a:srgbClr val="59667A"/>
                </a:solidFill>
                <a:latin typeface="+mn-ea"/>
              </a:rPr>
              <a:t>제조사 블리스터 그대로 사용</a:t>
            </a:r>
          </a:p>
        </p:txBody>
      </p:sp>
      <p:sp>
        <p:nvSpPr>
          <p:cNvPr id="36" name="Rounded Rectangle 54"/>
          <p:cNvSpPr/>
          <p:nvPr/>
        </p:nvSpPr>
        <p:spPr>
          <a:xfrm>
            <a:off x="4389120" y="4407408"/>
            <a:ext cx="3401568" cy="713232"/>
          </a:xfrm>
          <a:prstGeom prst="roundRect">
            <a:avLst/>
          </a:prstGeom>
          <a:solidFill>
            <a:srgbClr val="EFF4FF"/>
          </a:solidFill>
          <a:ln w="12700">
            <a:solidFill>
              <a:srgbClr val="C6D7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7" name="Oval 55"/>
          <p:cNvSpPr/>
          <p:nvPr/>
        </p:nvSpPr>
        <p:spPr>
          <a:xfrm>
            <a:off x="4498848" y="4535424"/>
            <a:ext cx="393192" cy="393192"/>
          </a:xfrm>
          <a:prstGeom prst="ellipse">
            <a:avLst/>
          </a:prstGeom>
          <a:solidFill>
            <a:srgbClr val="2F5CBE"/>
          </a:solidFill>
          <a:ln>
            <a:solidFill>
              <a:srgbClr val="2F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81632" y="4638405"/>
            <a:ext cx="227626" cy="187231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4470969"/>
            <a:ext cx="1821011" cy="302647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정확한 슬롯 선택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74336" y="4790006"/>
            <a:ext cx="1543692" cy="1949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1100" b="0">
                <a:solidFill>
                  <a:srgbClr val="59667A"/>
                </a:solidFill>
                <a:latin typeface="+mn-ea"/>
              </a:rPr>
              <a:t>2×5 좌표 기반 X/Y 이동</a:t>
            </a:r>
          </a:p>
        </p:txBody>
      </p:sp>
      <p:sp>
        <p:nvSpPr>
          <p:cNvPr id="53" name="Rounded Rectangle 59"/>
          <p:cNvSpPr/>
          <p:nvPr/>
        </p:nvSpPr>
        <p:spPr>
          <a:xfrm>
            <a:off x="8001000" y="4407408"/>
            <a:ext cx="3401568" cy="713232"/>
          </a:xfrm>
          <a:prstGeom prst="roundRect">
            <a:avLst/>
          </a:prstGeom>
          <a:solidFill>
            <a:srgbClr val="EFF9F5"/>
          </a:solidFill>
          <a:ln w="12700">
            <a:solidFill>
              <a:srgbClr val="C2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54" name="Oval 60"/>
          <p:cNvSpPr/>
          <p:nvPr/>
        </p:nvSpPr>
        <p:spPr>
          <a:xfrm>
            <a:off x="8110727" y="4535424"/>
            <a:ext cx="393192" cy="393192"/>
          </a:xfrm>
          <a:prstGeom prst="ellipse">
            <a:avLst/>
          </a:prstGeom>
          <a:solidFill>
            <a:srgbClr val="13A77A"/>
          </a:solidFill>
          <a:ln>
            <a:solidFill>
              <a:srgbClr val="13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193511" y="4638405"/>
            <a:ext cx="227626" cy="187231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86216" y="4470969"/>
            <a:ext cx="2051844" cy="302647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사용자 승인형 배출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86216" y="4790006"/>
            <a:ext cx="1829027" cy="1949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1100" b="0">
                <a:solidFill>
                  <a:srgbClr val="59667A"/>
                </a:solidFill>
                <a:latin typeface="+mn-ea"/>
              </a:rPr>
              <a:t>WAIT 이후 승인 시 1정 압출</a:t>
            </a:r>
          </a:p>
        </p:txBody>
      </p:sp>
      <p:sp>
        <p:nvSpPr>
          <p:cNvPr id="58" name="Rounded Rectangle 64"/>
          <p:cNvSpPr/>
          <p:nvPr/>
        </p:nvSpPr>
        <p:spPr>
          <a:xfrm>
            <a:off x="2578608" y="5285232"/>
            <a:ext cx="3401568" cy="713232"/>
          </a:xfrm>
          <a:prstGeom prst="roundRect">
            <a:avLst/>
          </a:prstGeom>
          <a:solidFill>
            <a:srgbClr val="EFF9F5"/>
          </a:solidFill>
          <a:ln w="12700">
            <a:solidFill>
              <a:srgbClr val="C2E6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59" name="Oval 65"/>
          <p:cNvSpPr/>
          <p:nvPr/>
        </p:nvSpPr>
        <p:spPr>
          <a:xfrm>
            <a:off x="2688336" y="5413248"/>
            <a:ext cx="393192" cy="393192"/>
          </a:xfrm>
          <a:prstGeom prst="ellipse">
            <a:avLst/>
          </a:prstGeom>
          <a:solidFill>
            <a:srgbClr val="13A77A"/>
          </a:solidFill>
          <a:ln>
            <a:solidFill>
              <a:srgbClr val="13A7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71120" y="5516229"/>
            <a:ext cx="227626" cy="187231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163824" y="5348793"/>
            <a:ext cx="1590179" cy="302647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배출 결과 기록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63824" y="5667830"/>
            <a:ext cx="1508426" cy="1949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1100" b="0" dirty="0">
                <a:solidFill>
                  <a:srgbClr val="59667A"/>
                </a:solidFill>
                <a:latin typeface="+mn-ea"/>
              </a:rPr>
              <a:t>IR </a:t>
            </a:r>
            <a:r>
              <a:rPr sz="1100" b="0" dirty="0" err="1">
                <a:solidFill>
                  <a:srgbClr val="59667A"/>
                </a:solidFill>
                <a:latin typeface="+mn-ea"/>
              </a:rPr>
              <a:t>판정</a:t>
            </a:r>
            <a:r>
              <a:rPr sz="1100" b="0" dirty="0">
                <a:solidFill>
                  <a:srgbClr val="59667A"/>
                </a:solidFill>
                <a:latin typeface="+mn-ea"/>
              </a:rPr>
              <a:t> 후 SQLite </a:t>
            </a:r>
            <a:r>
              <a:rPr sz="1100" b="0" dirty="0" err="1">
                <a:solidFill>
                  <a:srgbClr val="59667A"/>
                </a:solidFill>
                <a:latin typeface="+mn-ea"/>
              </a:rPr>
              <a:t>저장</a:t>
            </a:r>
            <a:endParaRPr sz="1100" b="0" dirty="0">
              <a:solidFill>
                <a:srgbClr val="59667A"/>
              </a:solidFill>
              <a:latin typeface="+mn-ea"/>
            </a:endParaRPr>
          </a:p>
        </p:txBody>
      </p:sp>
      <p:sp>
        <p:nvSpPr>
          <p:cNvPr id="63" name="Rounded Rectangle 69"/>
          <p:cNvSpPr/>
          <p:nvPr/>
        </p:nvSpPr>
        <p:spPr>
          <a:xfrm>
            <a:off x="6190488" y="5285232"/>
            <a:ext cx="3401568" cy="713232"/>
          </a:xfrm>
          <a:prstGeom prst="roundRect">
            <a:avLst/>
          </a:prstGeom>
          <a:solidFill>
            <a:srgbClr val="FFF6EC"/>
          </a:solidFill>
          <a:ln w="12700">
            <a:solidFill>
              <a:srgbClr val="F2D6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64" name="Oval 70"/>
          <p:cNvSpPr/>
          <p:nvPr/>
        </p:nvSpPr>
        <p:spPr>
          <a:xfrm>
            <a:off x="6300216" y="5413248"/>
            <a:ext cx="393192" cy="393192"/>
          </a:xfrm>
          <a:prstGeom prst="ellipse">
            <a:avLst/>
          </a:prstGeom>
          <a:solidFill>
            <a:srgbClr val="F57C20"/>
          </a:solidFill>
          <a:ln>
            <a:solidFill>
              <a:srgbClr val="F57C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83000" y="5516229"/>
            <a:ext cx="227626" cy="187231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+mn-ea"/>
              </a:rPr>
              <a:t>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75703" y="5348793"/>
            <a:ext cx="1064394" cy="302647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역할 분리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75703" y="5667830"/>
            <a:ext cx="2002151" cy="194925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l"/>
            <a:r>
              <a:rPr sz="1100" b="0">
                <a:solidFill>
                  <a:srgbClr val="59667A"/>
                </a:solidFill>
                <a:latin typeface="+mn-ea"/>
              </a:rPr>
              <a:t>Pi: UI·DB / ATmega: 구동·센서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337183" y="6182570"/>
            <a:ext cx="7478009" cy="271869"/>
          </a:xfrm>
          <a:prstGeom prst="rect">
            <a:avLst/>
          </a:prstGeom>
          <a:noFill/>
        </p:spPr>
        <p:txBody>
          <a:bodyPr wrap="none" lIns="38100" tIns="12700" rIns="38100" bIns="12700" anchor="ctr">
            <a:spAutoFit/>
          </a:bodyPr>
          <a:lstStyle/>
          <a:p>
            <a:pPr algn="ctr"/>
            <a:r>
              <a:rPr sz="1600" b="1">
                <a:solidFill>
                  <a:srgbClr val="F57C20"/>
                </a:solidFill>
                <a:latin typeface="+mn-ea"/>
              </a:rPr>
              <a:t>핵심 방향  |  기존 블리스터 유지 + 대상 슬롯 자동 정렬 + 사용자 승인 후 1정 압출</a:t>
            </a:r>
          </a:p>
        </p:txBody>
      </p:sp>
    </p:spTree>
    <p:extLst>
      <p:ext uri="{BB962C8B-B14F-4D97-AF65-F5344CB8AC3E}">
        <p14:creationId xmlns:p14="http://schemas.microsoft.com/office/powerpoint/2010/main" val="1085293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프로젝트 개요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시스템 구성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Rounded Rectangle 7"/>
          <p:cNvSpPr/>
          <p:nvPr/>
        </p:nvSpPr>
        <p:spPr>
          <a:xfrm>
            <a:off x="519615" y="1848076"/>
            <a:ext cx="1874519" cy="1828800"/>
          </a:xfrm>
          <a:prstGeom prst="roundRect">
            <a:avLst/>
          </a:prstGeom>
          <a:solidFill>
            <a:srgbClr val="FEEEE4"/>
          </a:solidFill>
          <a:ln w="13970">
            <a:solidFill>
              <a:srgbClr val="F7D5C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8215" y="2104108"/>
            <a:ext cx="1417320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700" b="1" dirty="0" err="1">
                <a:solidFill>
                  <a:srgbClr val="F1842B"/>
                </a:solidFill>
                <a:latin typeface="+mn-ea"/>
              </a:rPr>
              <a:t>관리자</a:t>
            </a:r>
            <a:r>
              <a:rPr sz="1700" b="1" dirty="0">
                <a:solidFill>
                  <a:srgbClr val="F1842B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F1842B"/>
                </a:solidFill>
                <a:latin typeface="+mn-ea"/>
              </a:rPr>
              <a:t>단말기</a:t>
            </a:r>
            <a:endParaRPr sz="1700" b="1" dirty="0">
              <a:solidFill>
                <a:srgbClr val="F1842B"/>
              </a:solidFill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20783" y="2533876"/>
            <a:ext cx="1463040" cy="87331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관리자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인증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일정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등록·조회·삭제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기록·장치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상태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조회</a:t>
            </a:r>
            <a:endParaRPr dirty="0">
              <a:latin typeface="+mn-ea"/>
            </a:endParaRPr>
          </a:p>
        </p:txBody>
      </p:sp>
      <p:sp>
        <p:nvSpPr>
          <p:cNvPr id="40" name="Rounded Rectangle 12"/>
          <p:cNvSpPr/>
          <p:nvPr/>
        </p:nvSpPr>
        <p:spPr>
          <a:xfrm>
            <a:off x="2851335" y="1710916"/>
            <a:ext cx="2788920" cy="3167958"/>
          </a:xfrm>
          <a:prstGeom prst="roundRect">
            <a:avLst/>
          </a:prstGeom>
          <a:solidFill>
            <a:srgbClr val="EFF4FF"/>
          </a:solidFill>
          <a:ln w="15240">
            <a:solidFill>
              <a:srgbClr val="C6D7F7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103077" y="1957804"/>
            <a:ext cx="2240280" cy="3436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900" b="1" dirty="0">
                <a:solidFill>
                  <a:srgbClr val="2F5CBE"/>
                </a:solidFill>
                <a:latin typeface="+mn-ea"/>
              </a:rPr>
              <a:t>Raspberry Pi 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46654" y="2587855"/>
            <a:ext cx="2194560" cy="1564531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300"/>
              </a:spcAft>
              <a:defRPr sz="120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Flask </a:t>
            </a:r>
            <a:r>
              <a:rPr dirty="0" err="1">
                <a:latin typeface="+mn-ea"/>
              </a:rPr>
              <a:t>관리자</a:t>
            </a:r>
            <a:r>
              <a:rPr dirty="0">
                <a:latin typeface="+mn-ea"/>
              </a:rPr>
              <a:t> Web / LCD API</a:t>
            </a:r>
          </a:p>
          <a:p>
            <a:pPr algn="ctr">
              <a:lnSpc>
                <a:spcPct val="150000"/>
              </a:lnSpc>
              <a:spcAft>
                <a:spcPts val="300"/>
              </a:spcAft>
              <a:defRPr sz="120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SQLite </a:t>
            </a:r>
            <a:r>
              <a:rPr dirty="0" err="1">
                <a:latin typeface="+mn-ea"/>
              </a:rPr>
              <a:t>예약·상태·설정·이벤트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20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예약시간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판정·슬롯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좌표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관리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20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UART </a:t>
            </a:r>
            <a:r>
              <a:rPr dirty="0" err="1">
                <a:latin typeface="+mn-ea"/>
              </a:rPr>
              <a:t>요청번호·재전송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관리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20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음성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안내·시스템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상태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관리</a:t>
            </a:r>
            <a:r>
              <a:rPr lang="ko-KR" altLang="en-US" dirty="0">
                <a:latin typeface="+mn-ea"/>
              </a:rPr>
              <a:t> </a:t>
            </a:r>
            <a:endParaRPr dirty="0">
              <a:latin typeface="+mn-ea"/>
            </a:endParaRPr>
          </a:p>
        </p:txBody>
      </p:sp>
      <p:sp>
        <p:nvSpPr>
          <p:cNvPr id="43" name="Rounded Rectangle 15"/>
          <p:cNvSpPr/>
          <p:nvPr/>
        </p:nvSpPr>
        <p:spPr>
          <a:xfrm>
            <a:off x="6436689" y="1710916"/>
            <a:ext cx="2286000" cy="3167958"/>
          </a:xfrm>
          <a:prstGeom prst="roundRect">
            <a:avLst/>
          </a:prstGeom>
          <a:solidFill>
            <a:srgbClr val="EFF9F5"/>
          </a:solidFill>
          <a:ln w="15240">
            <a:solidFill>
              <a:srgbClr val="C2E6D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647001" y="1957804"/>
            <a:ext cx="1847088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800" b="1">
                <a:solidFill>
                  <a:srgbClr val="19B189"/>
                </a:solidFill>
                <a:latin typeface="+mn-ea"/>
              </a:rPr>
              <a:t>ATmega128A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83577" y="2614272"/>
            <a:ext cx="1783080" cy="1541448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300"/>
              </a:spcAft>
              <a:defRPr sz="118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MOVE / DISPENSE </a:t>
            </a:r>
            <a:r>
              <a:rPr dirty="0" err="1">
                <a:latin typeface="+mn-ea"/>
              </a:rPr>
              <a:t>처리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18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X/Y </a:t>
            </a:r>
            <a:r>
              <a:rPr dirty="0" err="1">
                <a:latin typeface="+mn-ea"/>
              </a:rPr>
              <a:t>스테핑모터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18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서보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압출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제어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18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IR / </a:t>
            </a:r>
            <a:r>
              <a:rPr dirty="0" err="1">
                <a:latin typeface="+mn-ea"/>
              </a:rPr>
              <a:t>원점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센서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300"/>
              </a:spcAft>
              <a:defRPr sz="118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중복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물리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구동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방지</a:t>
            </a:r>
            <a:endParaRPr dirty="0">
              <a:latin typeface="+mn-ea"/>
            </a:endParaRPr>
          </a:p>
        </p:txBody>
      </p:sp>
      <p:sp>
        <p:nvSpPr>
          <p:cNvPr id="46" name="Rounded Rectangle 18"/>
          <p:cNvSpPr/>
          <p:nvPr/>
        </p:nvSpPr>
        <p:spPr>
          <a:xfrm>
            <a:off x="9161601" y="1710916"/>
            <a:ext cx="2514600" cy="1993392"/>
          </a:xfrm>
          <a:prstGeom prst="roundRect">
            <a:avLst/>
          </a:prstGeom>
          <a:solidFill>
            <a:srgbClr val="FFF6EC"/>
          </a:solidFill>
          <a:ln w="15240">
            <a:solidFill>
              <a:srgbClr val="F2D6B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381057" y="1966948"/>
            <a:ext cx="2057400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700" b="1" dirty="0" err="1">
                <a:solidFill>
                  <a:srgbClr val="F1842B"/>
                </a:solidFill>
                <a:latin typeface="+mn-ea"/>
              </a:rPr>
              <a:t>블리스터</a:t>
            </a:r>
            <a:r>
              <a:rPr sz="1700" b="1" dirty="0">
                <a:solidFill>
                  <a:srgbClr val="F1842B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F1842B"/>
                </a:solidFill>
                <a:latin typeface="+mn-ea"/>
              </a:rPr>
              <a:t>기구부</a:t>
            </a:r>
            <a:endParaRPr sz="1700" b="1" dirty="0">
              <a:solidFill>
                <a:srgbClr val="F1842B"/>
              </a:solidFill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390201" y="2525470"/>
            <a:ext cx="1965960" cy="87331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2×5 </a:t>
            </a:r>
            <a:r>
              <a:rPr dirty="0" err="1">
                <a:latin typeface="+mn-ea"/>
              </a:rPr>
              <a:t>블리스터</a:t>
            </a:r>
            <a:r>
              <a:rPr dirty="0">
                <a:latin typeface="+mn-ea"/>
              </a:rPr>
              <a:t> / X·Y </a:t>
            </a:r>
            <a:r>
              <a:rPr dirty="0" err="1">
                <a:latin typeface="+mn-ea"/>
              </a:rPr>
              <a:t>이동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 err="1">
                <a:latin typeface="+mn-ea"/>
              </a:rPr>
              <a:t>압출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서보</a:t>
            </a:r>
            <a:r>
              <a:rPr dirty="0">
                <a:latin typeface="+mn-ea"/>
              </a:rPr>
              <a:t> / </a:t>
            </a:r>
            <a:r>
              <a:rPr dirty="0" err="1">
                <a:latin typeface="+mn-ea"/>
              </a:rPr>
              <a:t>단일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배출구</a:t>
            </a:r>
            <a:endParaRPr dirty="0">
              <a:latin typeface="+mn-ea"/>
            </a:endParaRPr>
          </a:p>
          <a:p>
            <a:pPr algn="ctr">
              <a:lnSpc>
                <a:spcPct val="150000"/>
              </a:lnSpc>
              <a:spcAft>
                <a:spcPts val="200"/>
              </a:spcAft>
              <a:defRPr sz="1150">
                <a:solidFill>
                  <a:srgbClr val="1C222D"/>
                </a:solidFill>
                <a:latin typeface="Malgun Gothic"/>
              </a:defRPr>
            </a:pPr>
            <a:r>
              <a:rPr dirty="0">
                <a:latin typeface="+mn-ea"/>
              </a:rPr>
              <a:t>IR </a:t>
            </a:r>
            <a:r>
              <a:rPr dirty="0" err="1">
                <a:latin typeface="+mn-ea"/>
              </a:rPr>
              <a:t>정제</a:t>
            </a:r>
            <a:r>
              <a:rPr dirty="0">
                <a:latin typeface="+mn-ea"/>
              </a:rPr>
              <a:t> </a:t>
            </a:r>
            <a:r>
              <a:rPr dirty="0" err="1">
                <a:latin typeface="+mn-ea"/>
              </a:rPr>
              <a:t>감지센서</a:t>
            </a:r>
            <a:endParaRPr dirty="0"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92004" y="3863680"/>
            <a:ext cx="2148840" cy="1046486"/>
            <a:chOff x="168817" y="4020235"/>
            <a:chExt cx="2148840" cy="1046486"/>
          </a:xfrm>
        </p:grpSpPr>
        <p:sp>
          <p:nvSpPr>
            <p:cNvPr id="49" name="Rounded Rectangle 21"/>
            <p:cNvSpPr/>
            <p:nvPr/>
          </p:nvSpPr>
          <p:spPr>
            <a:xfrm>
              <a:off x="181091" y="4020235"/>
              <a:ext cx="2071156" cy="1046486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0E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>
                <a:latin typeface="+mn-ea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68817" y="4069063"/>
              <a:ext cx="2148840" cy="443711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sz="1700" b="1" dirty="0">
                  <a:solidFill>
                    <a:srgbClr val="273244"/>
                  </a:solidFill>
                  <a:latin typeface="+mn-ea"/>
                </a:rPr>
                <a:t>4inch Touch LCD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52425" y="4430135"/>
              <a:ext cx="1931398" cy="605294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sz="1200" b="0" dirty="0" err="1">
                  <a:latin typeface="+mn-ea"/>
                </a:rPr>
                <a:t>복약</a:t>
              </a:r>
              <a:r>
                <a:rPr sz="1200" b="0" dirty="0">
                  <a:latin typeface="+mn-ea"/>
                </a:rPr>
                <a:t> </a:t>
              </a:r>
              <a:r>
                <a:rPr sz="1200" b="0" dirty="0" err="1">
                  <a:latin typeface="+mn-ea"/>
                </a:rPr>
                <a:t>시간</a:t>
              </a:r>
              <a:r>
                <a:rPr sz="1200" b="0" dirty="0">
                  <a:latin typeface="+mn-ea"/>
                </a:rPr>
                <a:t> · 약 </a:t>
              </a:r>
              <a:r>
                <a:rPr sz="1200" b="0" dirty="0" err="1">
                  <a:latin typeface="+mn-ea"/>
                </a:rPr>
                <a:t>이름</a:t>
              </a:r>
              <a:r>
                <a:rPr sz="1200" b="0" dirty="0">
                  <a:latin typeface="+mn-ea"/>
                </a:rPr>
                <a:t> · </a:t>
              </a:r>
              <a:r>
                <a:rPr sz="1200" b="0" dirty="0" err="1">
                  <a:latin typeface="+mn-ea"/>
                </a:rPr>
                <a:t>슬롯</a:t>
              </a:r>
              <a:r>
                <a:rPr sz="1200" dirty="0">
                  <a:latin typeface="+mn-ea"/>
                </a:rPr>
                <a:t/>
              </a:r>
              <a:br>
                <a:rPr sz="1200" dirty="0">
                  <a:latin typeface="+mn-ea"/>
                </a:rPr>
              </a:br>
              <a:r>
                <a:rPr sz="1200" dirty="0" err="1">
                  <a:latin typeface="+mn-ea"/>
                </a:rPr>
                <a:t>배출</a:t>
              </a:r>
              <a:r>
                <a:rPr sz="1200" dirty="0">
                  <a:latin typeface="+mn-ea"/>
                </a:rPr>
                <a:t> </a:t>
              </a:r>
              <a:r>
                <a:rPr sz="1200" dirty="0" err="1">
                  <a:latin typeface="+mn-ea"/>
                </a:rPr>
                <a:t>승인</a:t>
              </a:r>
              <a:r>
                <a:rPr sz="1200" dirty="0">
                  <a:latin typeface="+mn-ea"/>
                </a:rPr>
                <a:t> · </a:t>
              </a:r>
              <a:r>
                <a:rPr sz="1200" dirty="0" err="1">
                  <a:latin typeface="+mn-ea"/>
                </a:rPr>
                <a:t>결과</a:t>
              </a:r>
              <a:r>
                <a:rPr sz="1200" dirty="0">
                  <a:latin typeface="+mn-ea"/>
                </a:rPr>
                <a:t> </a:t>
              </a:r>
              <a:r>
                <a:rPr sz="1200" dirty="0" err="1">
                  <a:latin typeface="+mn-ea"/>
                </a:rPr>
                <a:t>표시</a:t>
              </a:r>
              <a:endParaRPr sz="1200" dirty="0">
                <a:latin typeface="+mn-ea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2375847" y="2634460"/>
            <a:ext cx="45720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 dirty="0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53" name="Rounded Rectangle 25"/>
          <p:cNvSpPr/>
          <p:nvPr/>
        </p:nvSpPr>
        <p:spPr>
          <a:xfrm>
            <a:off x="5716118" y="3041093"/>
            <a:ext cx="658368" cy="3200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4A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741518" y="3124169"/>
            <a:ext cx="60756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4A79E8"/>
                </a:solidFill>
                <a:latin typeface="+mn-ea"/>
              </a:rPr>
              <a:t>UART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90056" y="3373439"/>
            <a:ext cx="740664" cy="1897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900" dirty="0">
                <a:solidFill>
                  <a:srgbClr val="5F6B7E"/>
                </a:solidFill>
                <a:latin typeface="+mn-ea"/>
              </a:rPr>
              <a:t>960</a:t>
            </a:r>
            <a:r>
              <a:rPr lang="en-US" sz="900" dirty="0">
                <a:solidFill>
                  <a:srgbClr val="5F6B7E"/>
                </a:solidFill>
                <a:latin typeface="+mn-ea"/>
              </a:rPr>
              <a:t>0</a:t>
            </a:r>
            <a:r>
              <a:rPr lang="ko-KR" altLang="en-US" sz="900" dirty="0">
                <a:latin typeface="+mn-ea"/>
                <a:cs typeface="Pretendard" panose="02000503000000020004" pitchFamily="2" charset="-127"/>
              </a:rPr>
              <a:t> </a:t>
            </a:r>
            <a:r>
              <a:rPr lang="en-US" altLang="ko-KR" sz="900" dirty="0">
                <a:latin typeface="+mn-ea"/>
                <a:cs typeface="Pretendard" panose="02000503000000020004" pitchFamily="2" charset="-127"/>
              </a:rPr>
              <a:t>· </a:t>
            </a:r>
            <a:r>
              <a:rPr lang="en-US" sz="900" dirty="0">
                <a:solidFill>
                  <a:srgbClr val="5F6B7E"/>
                </a:solidFill>
                <a:latin typeface="+mn-ea"/>
              </a:rPr>
              <a:t>8N1</a:t>
            </a:r>
            <a:endParaRPr sz="900" dirty="0"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722689" y="2625316"/>
            <a:ext cx="420624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1130402" y="5059991"/>
            <a:ext cx="9829800" cy="368792"/>
            <a:chOff x="1122045" y="5847626"/>
            <a:chExt cx="9829800" cy="368792"/>
          </a:xfrm>
        </p:grpSpPr>
        <p:sp>
          <p:nvSpPr>
            <p:cNvPr id="57" name="Rounded Rectangle 29"/>
            <p:cNvSpPr/>
            <p:nvPr/>
          </p:nvSpPr>
          <p:spPr>
            <a:xfrm>
              <a:off x="1122045" y="5847626"/>
              <a:ext cx="9829800" cy="368792"/>
            </a:xfrm>
            <a:prstGeom prst="roundRect">
              <a:avLst/>
            </a:prstGeom>
            <a:solidFill>
              <a:srgbClr val="FFFFFF"/>
            </a:solidFill>
            <a:ln w="13970">
              <a:solidFill>
                <a:srgbClr val="DAE0E9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1349587" y="5901415"/>
              <a:ext cx="4023360" cy="27432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ctr"/>
              <a:r>
                <a:rPr sz="1400" b="1" dirty="0">
                  <a:solidFill>
                    <a:srgbClr val="4A79E8"/>
                  </a:solidFill>
                  <a:latin typeface="+mn-ea"/>
                </a:rPr>
                <a:t>Pi = </a:t>
              </a:r>
              <a:r>
                <a:rPr sz="1400" b="1" dirty="0" err="1">
                  <a:solidFill>
                    <a:srgbClr val="4A79E8"/>
                  </a:solidFill>
                  <a:latin typeface="+mn-ea"/>
                </a:rPr>
                <a:t>사용자</a:t>
              </a:r>
              <a:r>
                <a:rPr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4A79E8"/>
                  </a:solidFill>
                  <a:latin typeface="+mn-ea"/>
                </a:rPr>
                <a:t>경험</a:t>
              </a:r>
              <a:r>
                <a:rPr lang="en-US"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>
                  <a:solidFill>
                    <a:srgbClr val="4A79E8"/>
                  </a:solidFill>
                  <a:latin typeface="+mn-ea"/>
                </a:rPr>
                <a:t>·</a:t>
              </a:r>
              <a:r>
                <a:rPr lang="en-US"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4A79E8"/>
                  </a:solidFill>
                  <a:latin typeface="+mn-ea"/>
                </a:rPr>
                <a:t>데이터</a:t>
              </a:r>
              <a:r>
                <a:rPr lang="en-US"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>
                  <a:solidFill>
                    <a:srgbClr val="4A79E8"/>
                  </a:solidFill>
                  <a:latin typeface="+mn-ea"/>
                </a:rPr>
                <a:t>·</a:t>
              </a:r>
              <a:r>
                <a:rPr lang="en-US"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4A79E8"/>
                  </a:solidFill>
                  <a:latin typeface="+mn-ea"/>
                </a:rPr>
                <a:t>예약</a:t>
              </a:r>
              <a:r>
                <a:rPr sz="1400" b="1" dirty="0">
                  <a:solidFill>
                    <a:srgbClr val="4A79E8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4A79E8"/>
                  </a:solidFill>
                  <a:latin typeface="+mn-ea"/>
                </a:rPr>
                <a:t>판단</a:t>
              </a:r>
              <a:endParaRPr sz="1400" b="1" dirty="0">
                <a:solidFill>
                  <a:srgbClr val="4A79E8"/>
                </a:solidFill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692987" y="5912174"/>
              <a:ext cx="4754880" cy="27432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ctr"/>
              <a:r>
                <a:rPr sz="1400" b="1" dirty="0" err="1">
                  <a:solidFill>
                    <a:srgbClr val="19B189"/>
                  </a:solidFill>
                  <a:latin typeface="+mn-ea"/>
                </a:rPr>
                <a:t>ATmega</a:t>
              </a:r>
              <a:r>
                <a:rPr sz="1400" b="1" dirty="0">
                  <a:solidFill>
                    <a:srgbClr val="19B189"/>
                  </a:solidFill>
                  <a:latin typeface="+mn-ea"/>
                </a:rPr>
                <a:t> = </a:t>
              </a:r>
              <a:r>
                <a:rPr sz="1400" b="1" dirty="0" err="1">
                  <a:solidFill>
                    <a:srgbClr val="19B189"/>
                  </a:solidFill>
                  <a:latin typeface="+mn-ea"/>
                </a:rPr>
                <a:t>실시간</a:t>
              </a:r>
              <a:r>
                <a:rPr sz="1400" b="1" dirty="0">
                  <a:solidFill>
                    <a:srgbClr val="19B189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19B189"/>
                  </a:solidFill>
                  <a:latin typeface="+mn-ea"/>
                </a:rPr>
                <a:t>구동</a:t>
              </a:r>
              <a:r>
                <a:rPr lang="en-US" sz="1400" b="1" dirty="0">
                  <a:solidFill>
                    <a:srgbClr val="19B189"/>
                  </a:solidFill>
                  <a:latin typeface="+mn-ea"/>
                </a:rPr>
                <a:t> </a:t>
              </a:r>
              <a:r>
                <a:rPr sz="1400" b="1" dirty="0">
                  <a:solidFill>
                    <a:srgbClr val="19B189"/>
                  </a:solidFill>
                  <a:latin typeface="+mn-ea"/>
                </a:rPr>
                <a:t>·</a:t>
              </a:r>
              <a:r>
                <a:rPr lang="en-US" sz="1400" b="1" dirty="0">
                  <a:solidFill>
                    <a:srgbClr val="19B189"/>
                  </a:solidFill>
                  <a:latin typeface="+mn-ea"/>
                </a:rPr>
                <a:t> </a:t>
              </a:r>
              <a:r>
                <a:rPr sz="1400" b="1" dirty="0" err="1">
                  <a:solidFill>
                    <a:srgbClr val="19B189"/>
                  </a:solidFill>
                  <a:latin typeface="+mn-ea"/>
                </a:rPr>
                <a:t>센서</a:t>
              </a:r>
              <a:r>
                <a:rPr lang="en-US" sz="1400" b="1" dirty="0">
                  <a:solidFill>
                    <a:srgbClr val="19B189"/>
                  </a:solidFill>
                  <a:latin typeface="+mn-ea"/>
                </a:rPr>
                <a:t> </a:t>
              </a:r>
              <a:r>
                <a:rPr sz="1400" b="1" dirty="0">
                  <a:solidFill>
                    <a:srgbClr val="19B189"/>
                  </a:solidFill>
                  <a:latin typeface="+mn-ea"/>
                </a:rPr>
                <a:t>·</a:t>
              </a:r>
              <a:r>
                <a:rPr lang="en-US" sz="1400" b="1" dirty="0">
                  <a:solidFill>
                    <a:srgbClr val="19B189"/>
                  </a:solidFill>
                  <a:latin typeface="+mn-ea"/>
                </a:rPr>
                <a:t> </a:t>
              </a:r>
              <a:r>
                <a:rPr lang="ko-KR" altLang="en-US" sz="1400" b="1" dirty="0">
                  <a:solidFill>
                    <a:srgbClr val="19B189"/>
                  </a:solidFill>
                  <a:latin typeface="+mn-ea"/>
                </a:rPr>
                <a:t>배출 확인</a:t>
              </a:r>
              <a:endParaRPr sz="1400" b="1" dirty="0">
                <a:solidFill>
                  <a:srgbClr val="19B189"/>
                </a:solidFill>
                <a:latin typeface="+mn-ea"/>
              </a:endParaRP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897735" y="3468149"/>
            <a:ext cx="1097280" cy="292608"/>
            <a:chOff x="814492" y="3933277"/>
            <a:chExt cx="1097280" cy="292608"/>
          </a:xfrm>
        </p:grpSpPr>
        <p:sp>
          <p:nvSpPr>
            <p:cNvPr id="37" name="Rounded Rectangle 10"/>
            <p:cNvSpPr/>
            <p:nvPr/>
          </p:nvSpPr>
          <p:spPr>
            <a:xfrm>
              <a:off x="814492" y="3933277"/>
              <a:ext cx="1097280" cy="292608"/>
            </a:xfrm>
            <a:prstGeom prst="roundRect">
              <a:avLst/>
            </a:prstGeom>
            <a:solidFill>
              <a:srgbClr val="FFFFFF"/>
            </a:solidFill>
            <a:ln w="11430">
              <a:solidFill>
                <a:srgbClr val="F184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49551" y="3942421"/>
              <a:ext cx="1037673" cy="26674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F49A51"/>
                  </a:solidFill>
                  <a:latin typeface="+mn-ea"/>
                </a:rPr>
                <a:t>Local Web</a:t>
              </a:r>
              <a:endParaRPr sz="1400" b="1" dirty="0">
                <a:solidFill>
                  <a:srgbClr val="F49A51"/>
                </a:solidFill>
                <a:latin typeface="+mn-ea"/>
              </a:endParaRPr>
            </a:p>
          </p:txBody>
        </p:sp>
      </p:grpSp>
      <p:sp>
        <p:nvSpPr>
          <p:cNvPr id="35" name="TextBox 34"/>
          <p:cNvSpPr txBox="1"/>
          <p:nvPr/>
        </p:nvSpPr>
        <p:spPr>
          <a:xfrm>
            <a:off x="2394135" y="4154792"/>
            <a:ext cx="45720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5F6B7E"/>
                </a:solidFill>
                <a:latin typeface="+mn-ea"/>
              </a:rPr>
              <a:t>←</a:t>
            </a:r>
            <a:endParaRPr sz="2000" b="1" dirty="0">
              <a:solidFill>
                <a:srgbClr val="5F6B7E"/>
              </a:solidFill>
              <a:latin typeface="+mn-ea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628650" y="5572943"/>
            <a:ext cx="10963275" cy="1108169"/>
            <a:chOff x="1821031" y="5694624"/>
            <a:chExt cx="9553042" cy="885516"/>
          </a:xfrm>
        </p:grpSpPr>
        <p:sp>
          <p:nvSpPr>
            <p:cNvPr id="36" name="Rounded Rectangle 56"/>
            <p:cNvSpPr/>
            <p:nvPr/>
          </p:nvSpPr>
          <p:spPr>
            <a:xfrm>
              <a:off x="1821031" y="5694624"/>
              <a:ext cx="9553042" cy="885516"/>
            </a:xfrm>
            <a:prstGeom prst="roundRect">
              <a:avLst/>
            </a:prstGeom>
            <a:solidFill>
              <a:srgbClr val="F8FAFC"/>
            </a:solidFill>
            <a:ln w="12700">
              <a:solidFill>
                <a:srgbClr val="DAE0E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+mn-ea"/>
              </a:endParaRPr>
            </a:p>
          </p:txBody>
        </p:sp>
        <p:sp>
          <p:nvSpPr>
            <p:cNvPr id="39" name="Rounded Rectangle 58"/>
            <p:cNvSpPr/>
            <p:nvPr/>
          </p:nvSpPr>
          <p:spPr>
            <a:xfrm>
              <a:off x="1901311" y="5767776"/>
              <a:ext cx="4484596" cy="713232"/>
            </a:xfrm>
            <a:prstGeom prst="roundRect">
              <a:avLst/>
            </a:prstGeom>
            <a:solidFill>
              <a:srgbClr val="EFF4FF"/>
            </a:solidFill>
            <a:ln w="12700">
              <a:solidFill>
                <a:srgbClr val="C6D7F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669924" y="5895391"/>
              <a:ext cx="1795363" cy="302647"/>
            </a:xfrm>
            <a:prstGeom prst="rect">
              <a:avLst/>
            </a:prstGeom>
            <a:noFill/>
          </p:spPr>
          <p:txBody>
            <a:bodyPr wrap="none" lIns="38100" tIns="12700" rIns="38100" bIns="12700" anchor="ctr">
              <a:spAutoFit/>
            </a:bodyPr>
            <a:lstStyle/>
            <a:p>
              <a:pPr algn="l"/>
              <a:r>
                <a:rPr b="1" dirty="0">
                  <a:solidFill>
                    <a:srgbClr val="2F5CBE"/>
                  </a:solidFill>
                  <a:latin typeface="+mn-ea"/>
                </a:rPr>
                <a:t>SOURCE CODE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680621" y="6170804"/>
              <a:ext cx="3652644" cy="168058"/>
            </a:xfrm>
            <a:prstGeom prst="rect">
              <a:avLst/>
            </a:prstGeom>
            <a:noFill/>
          </p:spPr>
          <p:txBody>
            <a:bodyPr wrap="none" lIns="38100" tIns="12700" rIns="38100" bIns="12700" anchor="ctr">
              <a:spAutoFit/>
            </a:bodyPr>
            <a:lstStyle/>
            <a:p>
              <a:r>
                <a:rPr lang="en-US" sz="1200" dirty="0">
                  <a:solidFill>
                    <a:srgbClr val="273244"/>
                  </a:solidFill>
                  <a:latin typeface="+mn-ea"/>
                </a:rPr>
                <a:t>https://github.com/twotwoship/2026ESWContest_free_SLOT</a:t>
              </a:r>
              <a:endParaRPr sz="1200" b="0" dirty="0">
                <a:solidFill>
                  <a:srgbClr val="273244"/>
                </a:solidFill>
                <a:latin typeface="+mn-ea"/>
              </a:endParaRPr>
            </a:p>
          </p:txBody>
        </p:sp>
        <p:sp>
          <p:nvSpPr>
            <p:cNvPr id="61" name="Rounded Rectangle 62"/>
            <p:cNvSpPr/>
            <p:nvPr/>
          </p:nvSpPr>
          <p:spPr>
            <a:xfrm>
              <a:off x="6750648" y="5767776"/>
              <a:ext cx="4526280" cy="713232"/>
            </a:xfrm>
            <a:prstGeom prst="roundRect">
              <a:avLst/>
            </a:prstGeom>
            <a:solidFill>
              <a:srgbClr val="FFF6EC"/>
            </a:solidFill>
            <a:ln w="12700">
              <a:solidFill>
                <a:srgbClr val="F2D6B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3600">
                <a:latin typeface="+mn-ea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631615" y="5873489"/>
              <a:ext cx="795089" cy="302647"/>
            </a:xfrm>
            <a:prstGeom prst="rect">
              <a:avLst/>
            </a:prstGeom>
            <a:noFill/>
          </p:spPr>
          <p:txBody>
            <a:bodyPr wrap="none" lIns="38100" tIns="12700" rIns="38100" bIns="12700" anchor="ctr">
              <a:spAutoFit/>
            </a:bodyPr>
            <a:lstStyle/>
            <a:p>
              <a:pPr algn="l"/>
              <a:r>
                <a:rPr b="1" dirty="0">
                  <a:solidFill>
                    <a:srgbClr val="F57C20"/>
                  </a:solidFill>
                  <a:latin typeface="+mn-ea"/>
                </a:rPr>
                <a:t>VIDEO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631615" y="6170803"/>
              <a:ext cx="1874512" cy="168058"/>
            </a:xfrm>
            <a:prstGeom prst="rect">
              <a:avLst/>
            </a:prstGeom>
            <a:noFill/>
          </p:spPr>
          <p:txBody>
            <a:bodyPr wrap="none" lIns="38100" tIns="12700" rIns="38100" bIns="12700" anchor="ctr">
              <a:spAutoFit/>
            </a:bodyPr>
            <a:lstStyle/>
            <a:p>
              <a:r>
                <a:rPr lang="en-US" sz="1200" dirty="0">
                  <a:solidFill>
                    <a:srgbClr val="273244"/>
                  </a:solidFill>
                  <a:latin typeface="+mn-ea"/>
                </a:rPr>
                <a:t>https://youtu.be/20yo6nAbsLM</a:t>
              </a:r>
              <a:endParaRPr sz="1200" b="0" dirty="0">
                <a:solidFill>
                  <a:srgbClr val="273244"/>
                </a:solidFill>
                <a:latin typeface="+mn-ea"/>
              </a:endParaRP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720" y="5747862"/>
            <a:ext cx="809192" cy="80919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739" y="5730248"/>
            <a:ext cx="761046" cy="76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36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환경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Hardware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2"/>
          <p:cNvSpPr/>
          <p:nvPr/>
        </p:nvSpPr>
        <p:spPr>
          <a:xfrm>
            <a:off x="263595" y="1435497"/>
            <a:ext cx="7086600" cy="3401568"/>
          </a:xfrm>
          <a:prstGeom prst="roundRect">
            <a:avLst>
              <a:gd name="adj" fmla="val 2151"/>
            </a:avLst>
          </a:prstGeom>
          <a:solidFill>
            <a:srgbClr val="F5F8FC"/>
          </a:solidFill>
          <a:ln w="889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>
            <a:off x="411018" y="1598971"/>
            <a:ext cx="287324" cy="283464"/>
            <a:chOff x="437331" y="1559501"/>
            <a:chExt cx="287324" cy="283464"/>
          </a:xfrm>
        </p:grpSpPr>
        <p:sp>
          <p:nvSpPr>
            <p:cNvPr id="10" name="Shape 4"/>
            <p:cNvSpPr/>
            <p:nvPr/>
          </p:nvSpPr>
          <p:spPr>
            <a:xfrm>
              <a:off x="441191" y="1559501"/>
              <a:ext cx="283464" cy="283464"/>
            </a:xfrm>
            <a:prstGeom prst="roundRect">
              <a:avLst/>
            </a:prstGeom>
            <a:solidFill>
              <a:srgbClr val="4F7EF7"/>
            </a:solidFill>
            <a:ln w="12700">
              <a:solidFill>
                <a:srgbClr val="4F7EF7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" name="Text 5"/>
            <p:cNvSpPr/>
            <p:nvPr/>
          </p:nvSpPr>
          <p:spPr>
            <a:xfrm>
              <a:off x="437331" y="1600089"/>
              <a:ext cx="2834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NanumSquare" pitchFamily="34" charset="-120"/>
                </a:rPr>
                <a:t>HW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12" name="Text 6"/>
          <p:cNvSpPr/>
          <p:nvPr/>
        </p:nvSpPr>
        <p:spPr>
          <a:xfrm>
            <a:off x="775659" y="1589825"/>
            <a:ext cx="6373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Core · Motion · Sensing</a:t>
            </a:r>
            <a:endParaRPr lang="en-US" sz="1600" dirty="0">
              <a:latin typeface="+mn-ea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7642803" y="1435497"/>
            <a:ext cx="4160520" cy="3401568"/>
          </a:xfrm>
          <a:prstGeom prst="roundRect">
            <a:avLst>
              <a:gd name="adj" fmla="val 2151"/>
            </a:avLst>
          </a:prstGeom>
          <a:solidFill>
            <a:srgbClr val="F5F8FC"/>
          </a:solidFill>
          <a:ln w="889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>
            <a:off x="7796804" y="1588379"/>
            <a:ext cx="283464" cy="283464"/>
            <a:chOff x="7816539" y="1562067"/>
            <a:chExt cx="283464" cy="283464"/>
          </a:xfrm>
        </p:grpSpPr>
        <p:sp>
          <p:nvSpPr>
            <p:cNvPr id="16" name="Shape 9"/>
            <p:cNvSpPr/>
            <p:nvPr/>
          </p:nvSpPr>
          <p:spPr>
            <a:xfrm>
              <a:off x="7816539" y="1562067"/>
              <a:ext cx="283464" cy="283464"/>
            </a:xfrm>
            <a:prstGeom prst="roundRect">
              <a:avLst/>
            </a:prstGeom>
            <a:solidFill>
              <a:srgbClr val="22B89A"/>
            </a:solidFill>
            <a:ln w="12700">
              <a:solidFill>
                <a:srgbClr val="22B89A"/>
              </a:solidFill>
              <a:prstDash val="soli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7" name="Text 10"/>
            <p:cNvSpPr/>
            <p:nvPr/>
          </p:nvSpPr>
          <p:spPr>
            <a:xfrm>
              <a:off x="7816539" y="1600089"/>
              <a:ext cx="283464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00" b="1" dirty="0">
                  <a:solidFill>
                    <a:srgbClr val="FFFFFF"/>
                  </a:solidFill>
                  <a:latin typeface="+mn-ea"/>
                  <a:cs typeface="NanumSquare" pitchFamily="34" charset="-120"/>
                </a:rPr>
                <a:t>PWR</a:t>
              </a:r>
              <a:endParaRPr lang="en-US" sz="800" dirty="0">
                <a:latin typeface="+mn-ea"/>
              </a:endParaRPr>
            </a:p>
          </p:txBody>
        </p:sp>
      </p:grpSp>
      <p:sp>
        <p:nvSpPr>
          <p:cNvPr id="18" name="Text 11"/>
          <p:cNvSpPr/>
          <p:nvPr/>
        </p:nvSpPr>
        <p:spPr>
          <a:xfrm>
            <a:off x="8154867" y="1563513"/>
            <a:ext cx="34472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Power · Wiring · Mechanics</a:t>
            </a:r>
            <a:endParaRPr lang="en-US" sz="1600" dirty="0">
              <a:latin typeface="+mn-ea"/>
            </a:endParaRPr>
          </a:p>
        </p:txBody>
      </p:sp>
      <p:sp>
        <p:nvSpPr>
          <p:cNvPr id="20" name="Text 12"/>
          <p:cNvSpPr/>
          <p:nvPr/>
        </p:nvSpPr>
        <p:spPr>
          <a:xfrm>
            <a:off x="473907" y="1965849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CONTROLLER / HMI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480765" y="2184394"/>
            <a:ext cx="2157984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4"/>
          <p:cNvSpPr/>
          <p:nvPr/>
        </p:nvSpPr>
        <p:spPr>
          <a:xfrm>
            <a:off x="480765" y="2248344"/>
            <a:ext cx="32004" cy="320040"/>
          </a:xfrm>
          <a:prstGeom prst="roundRect">
            <a:avLst/>
          </a:prstGeom>
          <a:solidFill>
            <a:srgbClr val="FF5276"/>
          </a:solidFill>
          <a:ln w="12700">
            <a:solidFill>
              <a:srgbClr val="FF527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5"/>
          <p:cNvSpPr/>
          <p:nvPr/>
        </p:nvSpPr>
        <p:spPr>
          <a:xfrm>
            <a:off x="583635" y="2226453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Raspberry Pi 4</a:t>
            </a:r>
            <a:endParaRPr lang="en-US" sz="1400" b="1" dirty="0">
              <a:latin typeface="+mn-ea"/>
            </a:endParaRPr>
          </a:p>
        </p:txBody>
      </p:sp>
      <p:sp>
        <p:nvSpPr>
          <p:cNvPr id="24" name="Text 16"/>
          <p:cNvSpPr/>
          <p:nvPr/>
        </p:nvSpPr>
        <p:spPr>
          <a:xfrm>
            <a:off x="2156403" y="222188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25" name="Text 17"/>
          <p:cNvSpPr/>
          <p:nvPr/>
        </p:nvSpPr>
        <p:spPr>
          <a:xfrm>
            <a:off x="570479" y="243107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900" dirty="0">
                <a:latin typeface="+mn-ea"/>
                <a:cs typeface="NanumSquare" pitchFamily="34" charset="-120"/>
              </a:rPr>
              <a:t>웹 · DB · LCD · 음성 · 일정 · UART 제어</a:t>
            </a:r>
            <a:endParaRPr lang="en-US" sz="900" dirty="0">
              <a:latin typeface="+mn-ea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2705043" y="2157873"/>
            <a:ext cx="2157984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2714187" y="2226263"/>
            <a:ext cx="32004" cy="320040"/>
          </a:xfrm>
          <a:prstGeom prst="roundRect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/>
          <p:nvPr/>
        </p:nvSpPr>
        <p:spPr>
          <a:xfrm>
            <a:off x="2814771" y="2226453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ATmega128A</a:t>
            </a:r>
            <a:endParaRPr lang="en-US" sz="1400" b="1" dirty="0">
              <a:latin typeface="+mn-ea"/>
            </a:endParaRPr>
          </a:p>
        </p:txBody>
      </p:sp>
      <p:sp>
        <p:nvSpPr>
          <p:cNvPr id="31" name="Text 21"/>
          <p:cNvSpPr/>
          <p:nvPr/>
        </p:nvSpPr>
        <p:spPr>
          <a:xfrm>
            <a:off x="4387539" y="222188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32" name="Text 22"/>
          <p:cNvSpPr/>
          <p:nvPr/>
        </p:nvSpPr>
        <p:spPr>
          <a:xfrm>
            <a:off x="2801615" y="2431074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모터 · 서보 · 센서 실시간 제어</a:t>
            </a:r>
            <a:endParaRPr lang="en-US" sz="1000" dirty="0">
              <a:latin typeface="+mn-ea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4936179" y="2157873"/>
            <a:ext cx="214884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4"/>
          <p:cNvSpPr/>
          <p:nvPr/>
        </p:nvSpPr>
        <p:spPr>
          <a:xfrm>
            <a:off x="4945323" y="2231025"/>
            <a:ext cx="32004" cy="320040"/>
          </a:xfrm>
          <a:prstGeom prst="roundRect">
            <a:avLst/>
          </a:prstGeom>
          <a:solidFill>
            <a:srgbClr val="F2BF3B"/>
          </a:solidFill>
          <a:ln w="12700">
            <a:solidFill>
              <a:srgbClr val="F2BF3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5"/>
          <p:cNvSpPr/>
          <p:nvPr/>
        </p:nvSpPr>
        <p:spPr>
          <a:xfrm>
            <a:off x="5045907" y="2226453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4inch RPi LCD</a:t>
            </a:r>
            <a:endParaRPr lang="en-US" sz="1400" b="1" dirty="0">
              <a:latin typeface="+mn-ea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6609531" y="222188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5032751" y="2431074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480×320 · XPT2046 Touch UI</a:t>
            </a:r>
            <a:endParaRPr lang="en-US" sz="1000" dirty="0">
              <a:latin typeface="+mn-ea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473907" y="2770521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MOTION / ACTUATION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473907" y="2962545"/>
            <a:ext cx="2157984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83051" y="3035697"/>
            <a:ext cx="32004" cy="320040"/>
          </a:xfrm>
          <a:prstGeom prst="roundRect">
            <a:avLst/>
          </a:prstGeom>
          <a:solidFill>
            <a:srgbClr val="8C64FF"/>
          </a:solidFill>
          <a:ln w="12700">
            <a:solidFill>
              <a:srgbClr val="8C6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1"/>
          <p:cNvSpPr/>
          <p:nvPr/>
        </p:nvSpPr>
        <p:spPr>
          <a:xfrm>
            <a:off x="583635" y="3031125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28BYJ-48</a:t>
            </a:r>
            <a:endParaRPr lang="en-US" sz="1400" b="1" dirty="0">
              <a:latin typeface="+mn-ea"/>
            </a:endParaRPr>
          </a:p>
        </p:txBody>
      </p:sp>
      <p:sp>
        <p:nvSpPr>
          <p:cNvPr id="42" name="Text 32"/>
          <p:cNvSpPr/>
          <p:nvPr/>
        </p:nvSpPr>
        <p:spPr>
          <a:xfrm>
            <a:off x="2156403" y="3026553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×2</a:t>
            </a:r>
            <a:endParaRPr lang="en-US" sz="800" dirty="0">
              <a:latin typeface="+mn-ea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570479" y="323574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X/Y 슬롯 위치 이동 스테핑 모터</a:t>
            </a:r>
            <a:endParaRPr lang="en-US" sz="1000" dirty="0">
              <a:latin typeface="+mn-ea"/>
            </a:endParaRPr>
          </a:p>
        </p:txBody>
      </p:sp>
      <p:sp>
        <p:nvSpPr>
          <p:cNvPr id="44" name="Shape 34"/>
          <p:cNvSpPr/>
          <p:nvPr/>
        </p:nvSpPr>
        <p:spPr>
          <a:xfrm>
            <a:off x="2705043" y="2962545"/>
            <a:ext cx="2157984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2714187" y="3035697"/>
            <a:ext cx="32004" cy="320040"/>
          </a:xfrm>
          <a:prstGeom prst="roundRect">
            <a:avLst/>
          </a:prstGeom>
          <a:solidFill>
            <a:srgbClr val="8C64FF"/>
          </a:solidFill>
          <a:ln w="12700">
            <a:solidFill>
              <a:srgbClr val="8C6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6"/>
          <p:cNvSpPr/>
          <p:nvPr/>
        </p:nvSpPr>
        <p:spPr>
          <a:xfrm>
            <a:off x="2814771" y="3031125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ULN2003</a:t>
            </a:r>
            <a:endParaRPr lang="en-US" sz="1400" b="1" dirty="0">
              <a:latin typeface="+mn-ea"/>
            </a:endParaRPr>
          </a:p>
        </p:txBody>
      </p:sp>
      <p:sp>
        <p:nvSpPr>
          <p:cNvPr id="47" name="Text 37"/>
          <p:cNvSpPr/>
          <p:nvPr/>
        </p:nvSpPr>
        <p:spPr>
          <a:xfrm>
            <a:off x="4387539" y="3026553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×2</a:t>
            </a:r>
            <a:endParaRPr lang="en-US" sz="800" dirty="0">
              <a:latin typeface="+mn-ea"/>
            </a:endParaRPr>
          </a:p>
        </p:txBody>
      </p:sp>
      <p:sp>
        <p:nvSpPr>
          <p:cNvPr id="48" name="Text 38"/>
          <p:cNvSpPr/>
          <p:nvPr/>
        </p:nvSpPr>
        <p:spPr>
          <a:xfrm>
            <a:off x="2801615" y="3235746"/>
            <a:ext cx="19385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28BYJ-48 모터 드라이버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4936179" y="2962545"/>
            <a:ext cx="214884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0"/>
          <p:cNvSpPr/>
          <p:nvPr/>
        </p:nvSpPr>
        <p:spPr>
          <a:xfrm>
            <a:off x="4945323" y="3035697"/>
            <a:ext cx="32004" cy="320040"/>
          </a:xfrm>
          <a:prstGeom prst="roundRect">
            <a:avLst/>
          </a:prstGeom>
          <a:solidFill>
            <a:srgbClr val="F07A2B"/>
          </a:solidFill>
          <a:ln w="12700">
            <a:solidFill>
              <a:srgbClr val="F07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1"/>
          <p:cNvSpPr/>
          <p:nvPr/>
        </p:nvSpPr>
        <p:spPr>
          <a:xfrm>
            <a:off x="5045907" y="3031125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MG996R</a:t>
            </a:r>
            <a:endParaRPr lang="en-US" sz="1400" b="1" dirty="0">
              <a:latin typeface="+mn-ea"/>
            </a:endParaRPr>
          </a:p>
        </p:txBody>
      </p:sp>
      <p:sp>
        <p:nvSpPr>
          <p:cNvPr id="52" name="Text 42"/>
          <p:cNvSpPr/>
          <p:nvPr/>
        </p:nvSpPr>
        <p:spPr>
          <a:xfrm>
            <a:off x="6609531" y="3026553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53" name="Text 43"/>
          <p:cNvSpPr/>
          <p:nvPr/>
        </p:nvSpPr>
        <p:spPr>
          <a:xfrm>
            <a:off x="5032751" y="3235746"/>
            <a:ext cx="1929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목표 슬롯 정제 압출 서보 모터</a:t>
            </a:r>
            <a:endParaRPr lang="en-US" sz="1000" dirty="0">
              <a:latin typeface="+mn-ea"/>
            </a:endParaRPr>
          </a:p>
        </p:txBody>
      </p:sp>
      <p:sp>
        <p:nvSpPr>
          <p:cNvPr id="54" name="Text 44"/>
          <p:cNvSpPr/>
          <p:nvPr/>
        </p:nvSpPr>
        <p:spPr>
          <a:xfrm>
            <a:off x="473907" y="3575193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SENSING / AUDIO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55" name="Shape 45"/>
          <p:cNvSpPr/>
          <p:nvPr/>
        </p:nvSpPr>
        <p:spPr>
          <a:xfrm>
            <a:off x="473907" y="3767217"/>
            <a:ext cx="324612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46"/>
          <p:cNvSpPr/>
          <p:nvPr/>
        </p:nvSpPr>
        <p:spPr>
          <a:xfrm>
            <a:off x="483051" y="3840369"/>
            <a:ext cx="32004" cy="320040"/>
          </a:xfrm>
          <a:prstGeom prst="roundRect">
            <a:avLst/>
          </a:prstGeom>
          <a:solidFill>
            <a:srgbClr val="FF5276"/>
          </a:solidFill>
          <a:ln w="12700">
            <a:solidFill>
              <a:srgbClr val="FF527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7"/>
          <p:cNvSpPr/>
          <p:nvPr/>
        </p:nvSpPr>
        <p:spPr>
          <a:xfrm>
            <a:off x="583635" y="3835797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SEN0503</a:t>
            </a:r>
            <a:endParaRPr lang="en-US" sz="1400" b="1" dirty="0">
              <a:latin typeface="+mn-ea"/>
            </a:endParaRPr>
          </a:p>
        </p:txBody>
      </p:sp>
      <p:sp>
        <p:nvSpPr>
          <p:cNvPr id="58" name="Text 48"/>
          <p:cNvSpPr/>
          <p:nvPr/>
        </p:nvSpPr>
        <p:spPr>
          <a:xfrm>
            <a:off x="3244539" y="3831225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×2</a:t>
            </a:r>
            <a:endParaRPr lang="en-US" sz="800" dirty="0">
              <a:latin typeface="+mn-ea"/>
            </a:endParaRPr>
          </a:p>
        </p:txBody>
      </p:sp>
      <p:sp>
        <p:nvSpPr>
          <p:cNvPr id="59" name="Text 49"/>
          <p:cNvSpPr/>
          <p:nvPr/>
        </p:nvSpPr>
        <p:spPr>
          <a:xfrm>
            <a:off x="570479" y="4040418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배출구 통과 · 정제 감지 IR 브레이크 빔 센서</a:t>
            </a:r>
            <a:endParaRPr lang="en-US" sz="1000" dirty="0">
              <a:latin typeface="+mn-ea"/>
            </a:endParaRPr>
          </a:p>
        </p:txBody>
      </p:sp>
      <p:sp>
        <p:nvSpPr>
          <p:cNvPr id="60" name="Shape 50"/>
          <p:cNvSpPr/>
          <p:nvPr/>
        </p:nvSpPr>
        <p:spPr>
          <a:xfrm>
            <a:off x="3811467" y="3767217"/>
            <a:ext cx="3273552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1"/>
          <p:cNvSpPr/>
          <p:nvPr/>
        </p:nvSpPr>
        <p:spPr>
          <a:xfrm>
            <a:off x="3820611" y="3840369"/>
            <a:ext cx="32004" cy="320040"/>
          </a:xfrm>
          <a:prstGeom prst="roundRect">
            <a:avLst/>
          </a:prstGeom>
          <a:solidFill>
            <a:srgbClr val="F07A2B"/>
          </a:solidFill>
          <a:ln w="12700">
            <a:solidFill>
              <a:srgbClr val="F07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2"/>
          <p:cNvSpPr/>
          <p:nvPr/>
        </p:nvSpPr>
        <p:spPr>
          <a:xfrm>
            <a:off x="3921195" y="3835797"/>
            <a:ext cx="2706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Inkel Speaker</a:t>
            </a:r>
            <a:endParaRPr lang="en-US" sz="1400" b="1" dirty="0">
              <a:latin typeface="+mn-ea"/>
            </a:endParaRPr>
          </a:p>
        </p:txBody>
      </p:sp>
      <p:sp>
        <p:nvSpPr>
          <p:cNvPr id="63" name="Text 53"/>
          <p:cNvSpPr/>
          <p:nvPr/>
        </p:nvSpPr>
        <p:spPr>
          <a:xfrm>
            <a:off x="6609531" y="3831225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64" name="Text 54"/>
          <p:cNvSpPr/>
          <p:nvPr/>
        </p:nvSpPr>
        <p:spPr>
          <a:xfrm>
            <a:off x="3908039" y="4040418"/>
            <a:ext cx="3054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ALSA Headphones 출력 기반 복약 안내 음성</a:t>
            </a:r>
            <a:endParaRPr lang="en-US" sz="1000" dirty="0">
              <a:latin typeface="+mn-ea"/>
            </a:endParaRPr>
          </a:p>
        </p:txBody>
      </p:sp>
      <p:sp>
        <p:nvSpPr>
          <p:cNvPr id="65" name="Text 55"/>
          <p:cNvSpPr/>
          <p:nvPr/>
        </p:nvSpPr>
        <p:spPr>
          <a:xfrm>
            <a:off x="7862259" y="1965849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POWER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66" name="Shape 56"/>
          <p:cNvSpPr/>
          <p:nvPr/>
        </p:nvSpPr>
        <p:spPr>
          <a:xfrm>
            <a:off x="7862259" y="2157873"/>
            <a:ext cx="178308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57"/>
          <p:cNvSpPr/>
          <p:nvPr/>
        </p:nvSpPr>
        <p:spPr>
          <a:xfrm>
            <a:off x="7871403" y="2231025"/>
            <a:ext cx="32004" cy="320040"/>
          </a:xfrm>
          <a:prstGeom prst="roundRect">
            <a:avLst/>
          </a:prstGeom>
          <a:solidFill>
            <a:srgbClr val="F07A2B"/>
          </a:solidFill>
          <a:ln w="12700">
            <a:solidFill>
              <a:srgbClr val="F07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8"/>
          <p:cNvSpPr/>
          <p:nvPr/>
        </p:nvSpPr>
        <p:spPr>
          <a:xfrm>
            <a:off x="7971987" y="2226453"/>
            <a:ext cx="150300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AC/DC Adapter</a:t>
            </a:r>
            <a:endParaRPr lang="en-US" sz="1400" b="1" dirty="0">
              <a:latin typeface="+mn-ea"/>
            </a:endParaRPr>
          </a:p>
        </p:txBody>
      </p:sp>
      <p:sp>
        <p:nvSpPr>
          <p:cNvPr id="69" name="Text 59"/>
          <p:cNvSpPr/>
          <p:nvPr/>
        </p:nvSpPr>
        <p:spPr>
          <a:xfrm>
            <a:off x="9169851" y="222188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70" name="Text 60"/>
          <p:cNvSpPr/>
          <p:nvPr/>
        </p:nvSpPr>
        <p:spPr>
          <a:xfrm>
            <a:off x="7958831" y="2431074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220V → 12V 5A</a:t>
            </a:r>
            <a:endParaRPr lang="en-US" sz="1000" dirty="0">
              <a:latin typeface="+mn-ea"/>
            </a:endParaRPr>
          </a:p>
        </p:txBody>
      </p:sp>
      <p:sp>
        <p:nvSpPr>
          <p:cNvPr id="71" name="Shape 61"/>
          <p:cNvSpPr/>
          <p:nvPr/>
        </p:nvSpPr>
        <p:spPr>
          <a:xfrm>
            <a:off x="9727634" y="2157873"/>
            <a:ext cx="1907759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Shape 62"/>
          <p:cNvSpPr/>
          <p:nvPr/>
        </p:nvSpPr>
        <p:spPr>
          <a:xfrm>
            <a:off x="9736779" y="2231025"/>
            <a:ext cx="32004" cy="320040"/>
          </a:xfrm>
          <a:prstGeom prst="roundRect">
            <a:avLst/>
          </a:prstGeom>
          <a:solidFill>
            <a:srgbClr val="F07A2B"/>
          </a:solidFill>
          <a:ln w="12700">
            <a:solidFill>
              <a:srgbClr val="F07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63"/>
          <p:cNvSpPr/>
          <p:nvPr/>
        </p:nvSpPr>
        <p:spPr>
          <a:xfrm>
            <a:off x="9837363" y="2226453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XL4015</a:t>
            </a:r>
            <a:endParaRPr lang="en-US" sz="1400" b="1" dirty="0">
              <a:latin typeface="+mn-ea"/>
            </a:endParaRPr>
          </a:p>
        </p:txBody>
      </p:sp>
      <p:sp>
        <p:nvSpPr>
          <p:cNvPr id="74" name="Text 64"/>
          <p:cNvSpPr/>
          <p:nvPr/>
        </p:nvSpPr>
        <p:spPr>
          <a:xfrm>
            <a:off x="11165530" y="222188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×2</a:t>
            </a:r>
            <a:endParaRPr lang="en-US" sz="800" dirty="0">
              <a:latin typeface="+mn-ea"/>
            </a:endParaRPr>
          </a:p>
        </p:txBody>
      </p:sp>
      <p:sp>
        <p:nvSpPr>
          <p:cNvPr id="75" name="Text 65"/>
          <p:cNvSpPr/>
          <p:nvPr/>
        </p:nvSpPr>
        <p:spPr>
          <a:xfrm>
            <a:off x="9824207" y="243107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12V → 5V / AT · Motor</a:t>
            </a:r>
            <a:endParaRPr lang="en-US" sz="1000" dirty="0">
              <a:latin typeface="+mn-ea"/>
            </a:endParaRPr>
          </a:p>
        </p:txBody>
      </p:sp>
      <p:sp>
        <p:nvSpPr>
          <p:cNvPr id="76" name="Shape 66"/>
          <p:cNvSpPr/>
          <p:nvPr/>
        </p:nvSpPr>
        <p:spPr>
          <a:xfrm>
            <a:off x="7862259" y="2706513"/>
            <a:ext cx="178308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Shape 67"/>
          <p:cNvSpPr/>
          <p:nvPr/>
        </p:nvSpPr>
        <p:spPr>
          <a:xfrm>
            <a:off x="7871403" y="2779665"/>
            <a:ext cx="32004" cy="320040"/>
          </a:xfrm>
          <a:prstGeom prst="roundRect">
            <a:avLst/>
          </a:prstGeom>
          <a:solidFill>
            <a:srgbClr val="22B89A"/>
          </a:solidFill>
          <a:ln w="12700">
            <a:solidFill>
              <a:srgbClr val="22B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68"/>
          <p:cNvSpPr/>
          <p:nvPr/>
        </p:nvSpPr>
        <p:spPr>
          <a:xfrm>
            <a:off x="7971987" y="2775093"/>
            <a:ext cx="15504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CPT Converter</a:t>
            </a:r>
            <a:endParaRPr lang="en-US" sz="1400" b="1" dirty="0">
              <a:latin typeface="+mn-ea"/>
            </a:endParaRPr>
          </a:p>
        </p:txBody>
      </p:sp>
      <p:sp>
        <p:nvSpPr>
          <p:cNvPr id="79" name="Text 69"/>
          <p:cNvSpPr/>
          <p:nvPr/>
        </p:nvSpPr>
        <p:spPr>
          <a:xfrm>
            <a:off x="9169851" y="277052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80" name="Text 70"/>
          <p:cNvSpPr/>
          <p:nvPr/>
        </p:nvSpPr>
        <p:spPr>
          <a:xfrm>
            <a:off x="7958831" y="2979714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12V → 5V / Pi 전원</a:t>
            </a:r>
            <a:endParaRPr lang="en-US" sz="1000" dirty="0">
              <a:latin typeface="+mn-ea"/>
            </a:endParaRPr>
          </a:p>
        </p:txBody>
      </p:sp>
      <p:sp>
        <p:nvSpPr>
          <p:cNvPr id="81" name="Shape 71"/>
          <p:cNvSpPr/>
          <p:nvPr/>
        </p:nvSpPr>
        <p:spPr>
          <a:xfrm>
            <a:off x="9727634" y="2706513"/>
            <a:ext cx="1907759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72"/>
          <p:cNvSpPr/>
          <p:nvPr/>
        </p:nvSpPr>
        <p:spPr>
          <a:xfrm>
            <a:off x="9736779" y="2779665"/>
            <a:ext cx="32004" cy="320040"/>
          </a:xfrm>
          <a:prstGeom prst="roundRect">
            <a:avLst/>
          </a:prstGeom>
          <a:solidFill>
            <a:srgbClr val="22B89A"/>
          </a:solidFill>
          <a:ln w="12700">
            <a:solidFill>
              <a:srgbClr val="22B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73"/>
          <p:cNvSpPr/>
          <p:nvPr/>
        </p:nvSpPr>
        <p:spPr>
          <a:xfrm>
            <a:off x="9837363" y="2775093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Power Switch</a:t>
            </a:r>
            <a:endParaRPr lang="en-US" sz="1400" b="1" dirty="0">
              <a:latin typeface="+mn-ea"/>
            </a:endParaRPr>
          </a:p>
        </p:txBody>
      </p:sp>
      <p:sp>
        <p:nvSpPr>
          <p:cNvPr id="84" name="Text 74"/>
          <p:cNvSpPr/>
          <p:nvPr/>
        </p:nvSpPr>
        <p:spPr>
          <a:xfrm>
            <a:off x="11165530" y="2770521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85" name="Text 75"/>
          <p:cNvSpPr/>
          <p:nvPr/>
        </p:nvSpPr>
        <p:spPr>
          <a:xfrm>
            <a:off x="9824207" y="2979714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메인 전원 ON / OFF</a:t>
            </a:r>
            <a:endParaRPr lang="en-US" sz="1000" dirty="0">
              <a:latin typeface="+mn-ea"/>
            </a:endParaRPr>
          </a:p>
        </p:txBody>
      </p:sp>
      <p:sp>
        <p:nvSpPr>
          <p:cNvPr id="86" name="Text 76"/>
          <p:cNvSpPr/>
          <p:nvPr/>
        </p:nvSpPr>
        <p:spPr>
          <a:xfrm>
            <a:off x="7862259" y="3300873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SIGNAL / WIRING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7862259" y="3492897"/>
            <a:ext cx="178308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Shape 78"/>
          <p:cNvSpPr/>
          <p:nvPr/>
        </p:nvSpPr>
        <p:spPr>
          <a:xfrm>
            <a:off x="7871403" y="3566049"/>
            <a:ext cx="32004" cy="320040"/>
          </a:xfrm>
          <a:prstGeom prst="roundRect">
            <a:avLst/>
          </a:prstGeom>
          <a:solidFill>
            <a:srgbClr val="24B6D8"/>
          </a:solidFill>
          <a:ln w="12700">
            <a:solidFill>
              <a:srgbClr val="24B6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79"/>
          <p:cNvSpPr/>
          <p:nvPr/>
        </p:nvSpPr>
        <p:spPr>
          <a:xfrm>
            <a:off x="7971986" y="3561477"/>
            <a:ext cx="150300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Level Converter</a:t>
            </a:r>
            <a:endParaRPr lang="en-US" sz="1400" b="1" dirty="0">
              <a:latin typeface="+mn-ea"/>
            </a:endParaRPr>
          </a:p>
        </p:txBody>
      </p:sp>
      <p:sp>
        <p:nvSpPr>
          <p:cNvPr id="90" name="Text 80"/>
          <p:cNvSpPr/>
          <p:nvPr/>
        </p:nvSpPr>
        <p:spPr>
          <a:xfrm>
            <a:off x="9169851" y="3556905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91" name="Text 81"/>
          <p:cNvSpPr/>
          <p:nvPr/>
        </p:nvSpPr>
        <p:spPr>
          <a:xfrm>
            <a:off x="7958831" y="3766098"/>
            <a:ext cx="1563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5V ↔ 3.3V UART</a:t>
            </a:r>
            <a:endParaRPr lang="en-US" sz="1000" dirty="0">
              <a:latin typeface="+mn-ea"/>
            </a:endParaRPr>
          </a:p>
        </p:txBody>
      </p:sp>
      <p:sp>
        <p:nvSpPr>
          <p:cNvPr id="92" name="Shape 82"/>
          <p:cNvSpPr/>
          <p:nvPr/>
        </p:nvSpPr>
        <p:spPr>
          <a:xfrm>
            <a:off x="9714478" y="3496350"/>
            <a:ext cx="1907759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Shape 83"/>
          <p:cNvSpPr/>
          <p:nvPr/>
        </p:nvSpPr>
        <p:spPr>
          <a:xfrm>
            <a:off x="9736779" y="3566049"/>
            <a:ext cx="32004" cy="320040"/>
          </a:xfrm>
          <a:prstGeom prst="roundRect">
            <a:avLst/>
          </a:prstGeom>
          <a:solidFill>
            <a:srgbClr val="4F7EF7"/>
          </a:solidFill>
          <a:ln w="12700">
            <a:solidFill>
              <a:srgbClr val="4F7E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84"/>
          <p:cNvSpPr/>
          <p:nvPr/>
        </p:nvSpPr>
        <p:spPr>
          <a:xfrm>
            <a:off x="9837362" y="3561477"/>
            <a:ext cx="16236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WAGO 221 + AWG</a:t>
            </a:r>
            <a:endParaRPr lang="en-US" sz="1400" b="1" dirty="0">
              <a:latin typeface="+mn-ea"/>
            </a:endParaRPr>
          </a:p>
        </p:txBody>
      </p:sp>
      <p:sp>
        <p:nvSpPr>
          <p:cNvPr id="95" name="Text 85"/>
          <p:cNvSpPr/>
          <p:nvPr/>
        </p:nvSpPr>
        <p:spPr>
          <a:xfrm>
            <a:off x="11224734" y="3556905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×6 / 1m</a:t>
            </a:r>
            <a:endParaRPr lang="en-US" sz="800" dirty="0">
              <a:latin typeface="+mn-ea"/>
            </a:endParaRPr>
          </a:p>
        </p:txBody>
      </p:sp>
      <p:sp>
        <p:nvSpPr>
          <p:cNvPr id="96" name="Text 86"/>
          <p:cNvSpPr/>
          <p:nvPr/>
        </p:nvSpPr>
        <p:spPr>
          <a:xfrm>
            <a:off x="9824207" y="3766098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전원 커넥터 · 전기 배선</a:t>
            </a:r>
            <a:endParaRPr lang="en-US" sz="1000" dirty="0">
              <a:latin typeface="+mn-ea"/>
            </a:endParaRPr>
          </a:p>
        </p:txBody>
      </p:sp>
      <p:sp>
        <p:nvSpPr>
          <p:cNvPr id="97" name="Text 87"/>
          <p:cNvSpPr/>
          <p:nvPr/>
        </p:nvSpPr>
        <p:spPr>
          <a:xfrm>
            <a:off x="7862259" y="4087257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7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NanumSquare" pitchFamily="34" charset="-120"/>
              </a:rPr>
              <a:t>MECHANICAL</a:t>
            </a:r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98" name="Shape 88"/>
          <p:cNvSpPr/>
          <p:nvPr/>
        </p:nvSpPr>
        <p:spPr>
          <a:xfrm>
            <a:off x="7862259" y="4279281"/>
            <a:ext cx="3759978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Shape 89"/>
          <p:cNvSpPr/>
          <p:nvPr/>
        </p:nvSpPr>
        <p:spPr>
          <a:xfrm>
            <a:off x="7871403" y="4352433"/>
            <a:ext cx="32004" cy="320040"/>
          </a:xfrm>
          <a:prstGeom prst="roundRect">
            <a:avLst/>
          </a:prstGeom>
          <a:solidFill>
            <a:srgbClr val="22B89A"/>
          </a:solidFill>
          <a:ln w="12700">
            <a:solidFill>
              <a:srgbClr val="22B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0" name="Text 90"/>
          <p:cNvSpPr/>
          <p:nvPr/>
        </p:nvSpPr>
        <p:spPr>
          <a:xfrm>
            <a:off x="7971987" y="4347861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3D Printing Frame</a:t>
            </a:r>
            <a:endParaRPr lang="en-US" sz="1400" b="1" dirty="0">
              <a:latin typeface="+mn-ea"/>
            </a:endParaRPr>
          </a:p>
        </p:txBody>
      </p:sp>
      <p:sp>
        <p:nvSpPr>
          <p:cNvPr id="101" name="Text 91"/>
          <p:cNvSpPr/>
          <p:nvPr/>
        </p:nvSpPr>
        <p:spPr>
          <a:xfrm>
            <a:off x="11165530" y="4343289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×1</a:t>
            </a:r>
            <a:endParaRPr lang="en-US" sz="800" dirty="0">
              <a:latin typeface="+mn-ea"/>
            </a:endParaRPr>
          </a:p>
        </p:txBody>
      </p:sp>
      <p:sp>
        <p:nvSpPr>
          <p:cNvPr id="102" name="Text 92"/>
          <p:cNvSpPr/>
          <p:nvPr/>
        </p:nvSpPr>
        <p:spPr>
          <a:xfrm>
            <a:off x="7958831" y="4552482"/>
            <a:ext cx="35021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지그 · 압출 호 · 깔때기 · 배출구 등 기구물</a:t>
            </a:r>
            <a:endParaRPr lang="en-US" sz="1000" dirty="0">
              <a:latin typeface="+mn-ea"/>
            </a:endParaRPr>
          </a:p>
        </p:txBody>
      </p:sp>
      <p:sp>
        <p:nvSpPr>
          <p:cNvPr id="103" name="Shape 93"/>
          <p:cNvSpPr/>
          <p:nvPr/>
        </p:nvSpPr>
        <p:spPr>
          <a:xfrm>
            <a:off x="263595" y="4946793"/>
            <a:ext cx="11539728" cy="1755648"/>
          </a:xfrm>
          <a:prstGeom prst="roundRect">
            <a:avLst/>
          </a:prstGeom>
          <a:solidFill>
            <a:srgbClr val="F5F8FC"/>
          </a:solidFill>
          <a:ln w="889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95"/>
          <p:cNvSpPr/>
          <p:nvPr/>
        </p:nvSpPr>
        <p:spPr>
          <a:xfrm>
            <a:off x="473907" y="5102241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하드웨어 인터페이스 (Hardware Interface)</a:t>
            </a:r>
            <a:endParaRPr lang="en-US" sz="1400" dirty="0">
              <a:latin typeface="+mn-ea"/>
            </a:endParaRPr>
          </a:p>
        </p:txBody>
      </p:sp>
      <p:sp>
        <p:nvSpPr>
          <p:cNvPr id="106" name="Shape 96"/>
          <p:cNvSpPr/>
          <p:nvPr/>
        </p:nvSpPr>
        <p:spPr>
          <a:xfrm>
            <a:off x="473907" y="5422281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97"/>
          <p:cNvSpPr/>
          <p:nvPr/>
        </p:nvSpPr>
        <p:spPr>
          <a:xfrm>
            <a:off x="547059" y="5522865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8C64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98"/>
          <p:cNvSpPr/>
          <p:nvPr/>
        </p:nvSpPr>
        <p:spPr>
          <a:xfrm>
            <a:off x="547059" y="558575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C64FF"/>
                </a:solidFill>
                <a:latin typeface="+mn-ea"/>
                <a:cs typeface="NanumSquare" pitchFamily="34" charset="-120"/>
              </a:rPr>
              <a:t>UART</a:t>
            </a:r>
            <a:endParaRPr lang="en-US" sz="800" dirty="0">
              <a:latin typeface="+mn-ea"/>
            </a:endParaRPr>
          </a:p>
        </p:txBody>
      </p:sp>
      <p:sp>
        <p:nvSpPr>
          <p:cNvPr id="109" name="Text 99"/>
          <p:cNvSpPr/>
          <p:nvPr/>
        </p:nvSpPr>
        <p:spPr>
          <a:xfrm>
            <a:off x="1351731" y="5515167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Pi GPIO14/15 ↔ ATmega USART</a:t>
            </a:r>
            <a:endParaRPr lang="en-US" sz="1200" dirty="0">
              <a:latin typeface="+mn-ea"/>
            </a:endParaRPr>
          </a:p>
        </p:txBody>
      </p:sp>
      <p:sp>
        <p:nvSpPr>
          <p:cNvPr id="110" name="Text 100"/>
          <p:cNvSpPr/>
          <p:nvPr/>
        </p:nvSpPr>
        <p:spPr>
          <a:xfrm>
            <a:off x="1338575" y="5713770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MOVE · DISPENSE · ACK · WAIT · RESULT</a:t>
            </a:r>
            <a:endParaRPr lang="en-US" sz="1000" dirty="0">
              <a:latin typeface="+mn-ea"/>
            </a:endParaRPr>
          </a:p>
        </p:txBody>
      </p:sp>
      <p:sp>
        <p:nvSpPr>
          <p:cNvPr id="111" name="Shape 101"/>
          <p:cNvSpPr/>
          <p:nvPr/>
        </p:nvSpPr>
        <p:spPr>
          <a:xfrm>
            <a:off x="4195515" y="5422281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2" name="Shape 102"/>
          <p:cNvSpPr/>
          <p:nvPr/>
        </p:nvSpPr>
        <p:spPr>
          <a:xfrm>
            <a:off x="4268667" y="5522865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24B6D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3" name="Text 103"/>
          <p:cNvSpPr/>
          <p:nvPr/>
        </p:nvSpPr>
        <p:spPr>
          <a:xfrm>
            <a:off x="4268667" y="5579175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4B6D8"/>
                </a:solidFill>
                <a:latin typeface="+mn-ea"/>
                <a:cs typeface="NanumSquare" pitchFamily="34" charset="-120"/>
              </a:rPr>
              <a:t>SPI</a:t>
            </a:r>
            <a:endParaRPr lang="en-US" sz="800" dirty="0">
              <a:latin typeface="+mn-ea"/>
            </a:endParaRPr>
          </a:p>
        </p:txBody>
      </p:sp>
      <p:sp>
        <p:nvSpPr>
          <p:cNvPr id="114" name="Text 104"/>
          <p:cNvSpPr/>
          <p:nvPr/>
        </p:nvSpPr>
        <p:spPr>
          <a:xfrm>
            <a:off x="5073339" y="5515167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Raspberry Pi SPI0 ↔ 4inch LCD</a:t>
            </a:r>
            <a:endParaRPr lang="en-US" sz="1200" dirty="0">
              <a:latin typeface="+mn-ea"/>
            </a:endParaRPr>
          </a:p>
        </p:txBody>
      </p:sp>
      <p:sp>
        <p:nvSpPr>
          <p:cNvPr id="115" name="Text 105"/>
          <p:cNvSpPr/>
          <p:nvPr/>
        </p:nvSpPr>
        <p:spPr>
          <a:xfrm>
            <a:off x="5060183" y="5713770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480×320 화면 출력</a:t>
            </a:r>
            <a:endParaRPr lang="en-US" sz="1000" dirty="0">
              <a:latin typeface="+mn-ea"/>
            </a:endParaRPr>
          </a:p>
        </p:txBody>
      </p:sp>
      <p:sp>
        <p:nvSpPr>
          <p:cNvPr id="116" name="Shape 106"/>
          <p:cNvSpPr/>
          <p:nvPr/>
        </p:nvSpPr>
        <p:spPr>
          <a:xfrm>
            <a:off x="7917123" y="5422281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7" name="Shape 107"/>
          <p:cNvSpPr/>
          <p:nvPr/>
        </p:nvSpPr>
        <p:spPr>
          <a:xfrm>
            <a:off x="7990275" y="5522865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22B8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8" name="Text 108"/>
          <p:cNvSpPr/>
          <p:nvPr/>
        </p:nvSpPr>
        <p:spPr>
          <a:xfrm>
            <a:off x="7990275" y="5585753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B89A"/>
                </a:solidFill>
                <a:latin typeface="+mn-ea"/>
                <a:cs typeface="NanumSquare" pitchFamily="34" charset="-120"/>
              </a:rPr>
              <a:t>TOUCH</a:t>
            </a:r>
            <a:endParaRPr lang="en-US" sz="800" dirty="0">
              <a:latin typeface="+mn-ea"/>
            </a:endParaRPr>
          </a:p>
        </p:txBody>
      </p:sp>
      <p:sp>
        <p:nvSpPr>
          <p:cNvPr id="119" name="Text 109"/>
          <p:cNvSpPr/>
          <p:nvPr/>
        </p:nvSpPr>
        <p:spPr>
          <a:xfrm>
            <a:off x="8794947" y="5515167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ADS7846 / XPT2046</a:t>
            </a:r>
            <a:endParaRPr lang="en-US" sz="1400" dirty="0">
              <a:latin typeface="+mn-ea"/>
            </a:endParaRPr>
          </a:p>
        </p:txBody>
      </p:sp>
      <p:sp>
        <p:nvSpPr>
          <p:cNvPr id="120" name="Text 110"/>
          <p:cNvSpPr/>
          <p:nvPr/>
        </p:nvSpPr>
        <p:spPr>
          <a:xfrm>
            <a:off x="8781791" y="5713770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LCD 사용자 입력</a:t>
            </a:r>
            <a:endParaRPr lang="en-US" sz="1000" dirty="0">
              <a:latin typeface="+mn-ea"/>
            </a:endParaRPr>
          </a:p>
        </p:txBody>
      </p:sp>
      <p:sp>
        <p:nvSpPr>
          <p:cNvPr id="121" name="Shape 111"/>
          <p:cNvSpPr/>
          <p:nvPr/>
        </p:nvSpPr>
        <p:spPr>
          <a:xfrm>
            <a:off x="473907" y="6007497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2" name="Shape 112"/>
          <p:cNvSpPr/>
          <p:nvPr/>
        </p:nvSpPr>
        <p:spPr>
          <a:xfrm>
            <a:off x="547059" y="6108081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F07A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113"/>
          <p:cNvSpPr/>
          <p:nvPr/>
        </p:nvSpPr>
        <p:spPr>
          <a:xfrm>
            <a:off x="547059" y="6177547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7A2B"/>
                </a:solidFill>
                <a:latin typeface="+mn-ea"/>
                <a:cs typeface="NanumSquare" pitchFamily="34" charset="-120"/>
              </a:rPr>
              <a:t>AUDIO</a:t>
            </a:r>
            <a:endParaRPr lang="en-US" sz="800" dirty="0">
              <a:latin typeface="+mn-ea"/>
            </a:endParaRPr>
          </a:p>
        </p:txBody>
      </p:sp>
      <p:sp>
        <p:nvSpPr>
          <p:cNvPr id="124" name="Text 114"/>
          <p:cNvSpPr/>
          <p:nvPr/>
        </p:nvSpPr>
        <p:spPr>
          <a:xfrm>
            <a:off x="1351731" y="6100383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ALSA Headphones → Speaker</a:t>
            </a:r>
            <a:endParaRPr lang="en-US" sz="1200" dirty="0">
              <a:latin typeface="+mn-ea"/>
            </a:endParaRPr>
          </a:p>
        </p:txBody>
      </p:sp>
      <p:sp>
        <p:nvSpPr>
          <p:cNvPr id="125" name="Text 115"/>
          <p:cNvSpPr/>
          <p:nvPr/>
        </p:nvSpPr>
        <p:spPr>
          <a:xfrm>
            <a:off x="1338575" y="6298986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복약 안내 MP3 출력</a:t>
            </a:r>
            <a:endParaRPr lang="en-US" sz="1000" dirty="0">
              <a:latin typeface="+mn-ea"/>
            </a:endParaRPr>
          </a:p>
        </p:txBody>
      </p:sp>
      <p:sp>
        <p:nvSpPr>
          <p:cNvPr id="126" name="Shape 116"/>
          <p:cNvSpPr/>
          <p:nvPr/>
        </p:nvSpPr>
        <p:spPr>
          <a:xfrm>
            <a:off x="4195515" y="6007497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7" name="Shape 117"/>
          <p:cNvSpPr/>
          <p:nvPr/>
        </p:nvSpPr>
        <p:spPr>
          <a:xfrm>
            <a:off x="4268667" y="6108081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4F7E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8" name="Text 118"/>
          <p:cNvSpPr/>
          <p:nvPr/>
        </p:nvSpPr>
        <p:spPr>
          <a:xfrm>
            <a:off x="4268667" y="617096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7EF7"/>
                </a:solidFill>
                <a:latin typeface="+mn-ea"/>
                <a:cs typeface="NanumSquare" pitchFamily="34" charset="-120"/>
              </a:rPr>
              <a:t>HTTP</a:t>
            </a:r>
            <a:endParaRPr lang="en-US" sz="800" dirty="0">
              <a:latin typeface="+mn-ea"/>
            </a:endParaRPr>
          </a:p>
        </p:txBody>
      </p:sp>
      <p:sp>
        <p:nvSpPr>
          <p:cNvPr id="129" name="Text 119"/>
          <p:cNvSpPr/>
          <p:nvPr/>
        </p:nvSpPr>
        <p:spPr>
          <a:xfrm>
            <a:off x="5073339" y="6100383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TCP 5000</a:t>
            </a:r>
            <a:endParaRPr lang="en-US" sz="1200" dirty="0">
              <a:latin typeface="+mn-ea"/>
            </a:endParaRPr>
          </a:p>
        </p:txBody>
      </p:sp>
      <p:sp>
        <p:nvSpPr>
          <p:cNvPr id="130" name="Text 120"/>
          <p:cNvSpPr/>
          <p:nvPr/>
        </p:nvSpPr>
        <p:spPr>
          <a:xfrm>
            <a:off x="5060183" y="6298986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관리자 Web / LCD API</a:t>
            </a:r>
            <a:endParaRPr lang="en-US" sz="1000" dirty="0">
              <a:latin typeface="+mn-ea"/>
            </a:endParaRPr>
          </a:p>
        </p:txBody>
      </p:sp>
      <p:sp>
        <p:nvSpPr>
          <p:cNvPr id="131" name="Shape 121"/>
          <p:cNvSpPr/>
          <p:nvPr/>
        </p:nvSpPr>
        <p:spPr>
          <a:xfrm>
            <a:off x="7917123" y="6007497"/>
            <a:ext cx="3675888" cy="5029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2" name="Shape 122"/>
          <p:cNvSpPr/>
          <p:nvPr/>
        </p:nvSpPr>
        <p:spPr>
          <a:xfrm>
            <a:off x="7990275" y="6108081"/>
            <a:ext cx="713232" cy="246888"/>
          </a:xfrm>
          <a:prstGeom prst="roundRect">
            <a:avLst/>
          </a:prstGeom>
          <a:solidFill>
            <a:srgbClr val="F8FAFD"/>
          </a:solidFill>
          <a:ln w="8890">
            <a:solidFill>
              <a:srgbClr val="465A7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23"/>
          <p:cNvSpPr/>
          <p:nvPr/>
        </p:nvSpPr>
        <p:spPr>
          <a:xfrm>
            <a:off x="7990275" y="6170969"/>
            <a:ext cx="713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65A78"/>
                </a:solidFill>
                <a:latin typeface="+mn-ea"/>
                <a:cs typeface="NanumSquare" pitchFamily="34" charset="-120"/>
              </a:rPr>
              <a:t>STORAGE</a:t>
            </a:r>
            <a:endParaRPr lang="en-US" sz="800" dirty="0">
              <a:latin typeface="+mn-ea"/>
            </a:endParaRPr>
          </a:p>
        </p:txBody>
      </p:sp>
      <p:sp>
        <p:nvSpPr>
          <p:cNvPr id="134" name="Text 124"/>
          <p:cNvSpPr/>
          <p:nvPr/>
        </p:nvSpPr>
        <p:spPr>
          <a:xfrm>
            <a:off x="8794947" y="6100383"/>
            <a:ext cx="26883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microSD</a:t>
            </a:r>
            <a:endParaRPr lang="en-US" sz="1400" dirty="0">
              <a:latin typeface="+mn-ea"/>
            </a:endParaRPr>
          </a:p>
        </p:txBody>
      </p:sp>
      <p:sp>
        <p:nvSpPr>
          <p:cNvPr id="135" name="Text 125"/>
          <p:cNvSpPr/>
          <p:nvPr/>
        </p:nvSpPr>
        <p:spPr>
          <a:xfrm>
            <a:off x="8781791" y="6298986"/>
            <a:ext cx="2688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latin typeface="+mn-ea"/>
                <a:cs typeface="NanumSquare" pitchFamily="34" charset="-120"/>
              </a:rPr>
              <a:t>SQLite · MP3 · 설정 저장</a:t>
            </a:r>
            <a:endParaRPr lang="en-US" sz="1000" dirty="0">
              <a:latin typeface="+mn-ea"/>
            </a:endParaRPr>
          </a:p>
        </p:txBody>
      </p:sp>
      <p:sp>
        <p:nvSpPr>
          <p:cNvPr id="136" name="Shape 45"/>
          <p:cNvSpPr/>
          <p:nvPr/>
        </p:nvSpPr>
        <p:spPr>
          <a:xfrm>
            <a:off x="480765" y="4305418"/>
            <a:ext cx="3246120" cy="466344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CFD8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Shape 46"/>
          <p:cNvSpPr/>
          <p:nvPr/>
        </p:nvSpPr>
        <p:spPr>
          <a:xfrm>
            <a:off x="489909" y="4378570"/>
            <a:ext cx="32004" cy="320040"/>
          </a:xfrm>
          <a:prstGeom prst="roundRect">
            <a:avLst/>
          </a:prstGeom>
          <a:solidFill>
            <a:srgbClr val="FBE5D6"/>
          </a:solidFill>
          <a:ln w="12700">
            <a:solidFill>
              <a:srgbClr val="FBE5D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8" name="Text 47"/>
          <p:cNvSpPr/>
          <p:nvPr/>
        </p:nvSpPr>
        <p:spPr>
          <a:xfrm>
            <a:off x="590493" y="4373998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344D"/>
                </a:solidFill>
                <a:latin typeface="+mn-ea"/>
                <a:cs typeface="NanumSquare" pitchFamily="34" charset="-120"/>
              </a:rPr>
              <a:t>SG255</a:t>
            </a:r>
            <a:endParaRPr lang="en-US" sz="1400" b="1" dirty="0">
              <a:latin typeface="+mn-ea"/>
            </a:endParaRPr>
          </a:p>
        </p:txBody>
      </p:sp>
      <p:sp>
        <p:nvSpPr>
          <p:cNvPr id="139" name="Text 48"/>
          <p:cNvSpPr/>
          <p:nvPr/>
        </p:nvSpPr>
        <p:spPr>
          <a:xfrm>
            <a:off x="3251397" y="4369426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65738A"/>
                </a:solidFill>
                <a:latin typeface="+mn-ea"/>
                <a:cs typeface="NanumSquare" pitchFamily="34" charset="-120"/>
              </a:rPr>
              <a:t>×2</a:t>
            </a:r>
            <a:endParaRPr lang="en-US" sz="800" dirty="0">
              <a:latin typeface="+mn-ea"/>
            </a:endParaRPr>
          </a:p>
        </p:txBody>
      </p:sp>
      <p:sp>
        <p:nvSpPr>
          <p:cNvPr id="140" name="Text 49"/>
          <p:cNvSpPr/>
          <p:nvPr/>
        </p:nvSpPr>
        <p:spPr>
          <a:xfrm>
            <a:off x="577337" y="4578619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ko-KR" altLang="en-US" sz="1000" dirty="0">
                <a:latin typeface="+mn-ea"/>
                <a:cs typeface="NanumSquare" pitchFamily="34" charset="-120"/>
              </a:rPr>
              <a:t>원점 복귀 확인</a:t>
            </a:r>
            <a:r>
              <a:rPr lang="en-US" altLang="ko-KR" sz="1000" dirty="0">
                <a:latin typeface="+mn-ea"/>
                <a:cs typeface="NanumSquare" pitchFamily="34" charset="-120"/>
              </a:rPr>
              <a:t> · </a:t>
            </a:r>
            <a:r>
              <a:rPr lang="ko-KR" altLang="en-US" sz="1000" dirty="0" err="1">
                <a:latin typeface="+mn-ea"/>
              </a:rPr>
              <a:t>투과형</a:t>
            </a:r>
            <a:r>
              <a:rPr lang="ko-KR" altLang="en-US" sz="1000" dirty="0">
                <a:latin typeface="+mn-ea"/>
              </a:rPr>
              <a:t> 포토 </a:t>
            </a:r>
            <a:r>
              <a:rPr lang="ko-KR" altLang="en-US" sz="1000" dirty="0" err="1">
                <a:latin typeface="+mn-ea"/>
              </a:rPr>
              <a:t>인터럽터</a:t>
            </a:r>
            <a:endParaRPr lang="en-US" sz="1000" dirty="0">
              <a:latin typeface="+mn-ea"/>
            </a:endParaRPr>
          </a:p>
        </p:txBody>
      </p:sp>
      <p:sp>
        <p:nvSpPr>
          <p:cNvPr id="142" name="Shape 6"/>
          <p:cNvSpPr/>
          <p:nvPr/>
        </p:nvSpPr>
        <p:spPr>
          <a:xfrm>
            <a:off x="300102" y="4957800"/>
            <a:ext cx="11494008" cy="73152"/>
          </a:xfrm>
          <a:prstGeom prst="roundRect">
            <a:avLst>
              <a:gd name="adj" fmla="val 6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Shape 2"/>
          <p:cNvSpPr/>
          <p:nvPr/>
        </p:nvSpPr>
        <p:spPr>
          <a:xfrm>
            <a:off x="263595" y="1443523"/>
            <a:ext cx="7086600" cy="45719"/>
          </a:xfrm>
          <a:prstGeom prst="roundRect">
            <a:avLst>
              <a:gd name="adj" fmla="val 62500"/>
            </a:avLst>
          </a:prstGeom>
          <a:solidFill>
            <a:srgbClr val="4C87F6"/>
          </a:solidFill>
          <a:ln w="12700">
            <a:solidFill>
              <a:srgbClr val="4C87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4" name="Shape 4"/>
          <p:cNvSpPr/>
          <p:nvPr/>
        </p:nvSpPr>
        <p:spPr>
          <a:xfrm>
            <a:off x="7642803" y="1422300"/>
            <a:ext cx="4126200" cy="74639"/>
          </a:xfrm>
          <a:prstGeom prst="roundRect">
            <a:avLst>
              <a:gd name="adj" fmla="val 62500"/>
            </a:avLst>
          </a:prstGeom>
          <a:solidFill>
            <a:srgbClr val="12B78D"/>
          </a:solidFill>
          <a:ln w="12700">
            <a:solidFill>
              <a:srgbClr val="12B7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1684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54569"/>
            <a:ext cx="10515600" cy="1325563"/>
          </a:xfrm>
        </p:spPr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환경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Software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8" name="Shape 1"/>
          <p:cNvSpPr/>
          <p:nvPr/>
        </p:nvSpPr>
        <p:spPr>
          <a:xfrm>
            <a:off x="245238" y="1430675"/>
            <a:ext cx="7242048" cy="3337560"/>
          </a:xfrm>
          <a:prstGeom prst="roundRect">
            <a:avLst>
              <a:gd name="adj" fmla="val 2740"/>
            </a:avLst>
          </a:prstGeom>
          <a:solidFill>
            <a:srgbClr val="F7F9FC"/>
          </a:solidFill>
          <a:ln w="1143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"/>
          <p:cNvSpPr/>
          <p:nvPr/>
        </p:nvSpPr>
        <p:spPr>
          <a:xfrm>
            <a:off x="300102" y="1433593"/>
            <a:ext cx="7187184" cy="73152"/>
          </a:xfrm>
          <a:prstGeom prst="roundRect">
            <a:avLst>
              <a:gd name="adj" fmla="val 62500"/>
            </a:avLst>
          </a:prstGeom>
          <a:solidFill>
            <a:srgbClr val="4C87F6"/>
          </a:solidFill>
          <a:ln w="12700">
            <a:solidFill>
              <a:srgbClr val="4C87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3"/>
          <p:cNvSpPr/>
          <p:nvPr/>
        </p:nvSpPr>
        <p:spPr>
          <a:xfrm>
            <a:off x="7639130" y="1442737"/>
            <a:ext cx="4114800" cy="3325498"/>
          </a:xfrm>
          <a:prstGeom prst="roundRect">
            <a:avLst>
              <a:gd name="adj" fmla="val 2703"/>
            </a:avLst>
          </a:prstGeom>
          <a:solidFill>
            <a:srgbClr val="F7F9FC"/>
          </a:solidFill>
          <a:ln w="1143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4"/>
          <p:cNvSpPr/>
          <p:nvPr/>
        </p:nvSpPr>
        <p:spPr>
          <a:xfrm>
            <a:off x="7666562" y="1433593"/>
            <a:ext cx="4059936" cy="73152"/>
          </a:xfrm>
          <a:prstGeom prst="roundRect">
            <a:avLst>
              <a:gd name="adj" fmla="val 62500"/>
            </a:avLst>
          </a:prstGeom>
          <a:solidFill>
            <a:srgbClr val="12B78D"/>
          </a:solidFill>
          <a:ln w="12700">
            <a:solidFill>
              <a:srgbClr val="12B78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5"/>
          <p:cNvSpPr/>
          <p:nvPr/>
        </p:nvSpPr>
        <p:spPr>
          <a:xfrm>
            <a:off x="249745" y="4959789"/>
            <a:ext cx="11504185" cy="1800635"/>
          </a:xfrm>
          <a:prstGeom prst="roundRect">
            <a:avLst>
              <a:gd name="adj" fmla="val 4115"/>
            </a:avLst>
          </a:prstGeom>
          <a:solidFill>
            <a:srgbClr val="F7F9FC"/>
          </a:solidFill>
          <a:ln w="1143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6"/>
          <p:cNvSpPr/>
          <p:nvPr/>
        </p:nvSpPr>
        <p:spPr>
          <a:xfrm>
            <a:off x="300102" y="4912644"/>
            <a:ext cx="11453828" cy="68600"/>
          </a:xfrm>
          <a:prstGeom prst="roundRect">
            <a:avLst>
              <a:gd name="adj" fmla="val 62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7"/>
          <p:cNvSpPr/>
          <p:nvPr/>
        </p:nvSpPr>
        <p:spPr>
          <a:xfrm>
            <a:off x="702438" y="1545393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Raspberry Pi Software</a:t>
            </a:r>
            <a:endParaRPr lang="en-US" sz="1750" dirty="0">
              <a:latin typeface="+mn-ea"/>
            </a:endParaRPr>
          </a:p>
        </p:txBody>
      </p:sp>
      <p:sp>
        <p:nvSpPr>
          <p:cNvPr id="36" name="Text 8"/>
          <p:cNvSpPr/>
          <p:nvPr/>
        </p:nvSpPr>
        <p:spPr>
          <a:xfrm>
            <a:off x="473838" y="206441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OS</a:t>
            </a:r>
            <a:endParaRPr lang="en-US" sz="1000" dirty="0">
              <a:latin typeface="+mn-ea"/>
            </a:endParaRPr>
          </a:p>
        </p:txBody>
      </p:sp>
      <p:sp>
        <p:nvSpPr>
          <p:cNvPr id="37" name="Shape 9"/>
          <p:cNvSpPr/>
          <p:nvPr/>
        </p:nvSpPr>
        <p:spPr>
          <a:xfrm>
            <a:off x="473838" y="2305206"/>
            <a:ext cx="184708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10"/>
          <p:cNvSpPr/>
          <p:nvPr/>
        </p:nvSpPr>
        <p:spPr>
          <a:xfrm>
            <a:off x="492126" y="2360070"/>
            <a:ext cx="0" cy="201168"/>
          </a:xfrm>
          <a:prstGeom prst="line">
            <a:avLst/>
          </a:prstGeom>
          <a:noFill/>
          <a:ln w="30480">
            <a:solidFill>
              <a:srgbClr val="F0444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1"/>
          <p:cNvSpPr/>
          <p:nvPr/>
        </p:nvSpPr>
        <p:spPr>
          <a:xfrm>
            <a:off x="583566" y="2337210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Raspberry Pi OS 64-bit</a:t>
            </a:r>
            <a:endParaRPr lang="en-US" sz="1040" dirty="0">
              <a:latin typeface="+mn-ea"/>
            </a:endParaRPr>
          </a:p>
        </p:txBody>
      </p:sp>
      <p:sp>
        <p:nvSpPr>
          <p:cNvPr id="40" name="Shape 12"/>
          <p:cNvSpPr/>
          <p:nvPr/>
        </p:nvSpPr>
        <p:spPr>
          <a:xfrm>
            <a:off x="2375790" y="2305206"/>
            <a:ext cx="129844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13"/>
          <p:cNvSpPr/>
          <p:nvPr/>
        </p:nvSpPr>
        <p:spPr>
          <a:xfrm>
            <a:off x="2394078" y="2360070"/>
            <a:ext cx="0" cy="201168"/>
          </a:xfrm>
          <a:prstGeom prst="line">
            <a:avLst/>
          </a:prstGeom>
          <a:noFill/>
          <a:ln w="30480">
            <a:solidFill>
              <a:srgbClr val="F0444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14"/>
          <p:cNvSpPr/>
          <p:nvPr/>
        </p:nvSpPr>
        <p:spPr>
          <a:xfrm>
            <a:off x="2485518" y="233721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Debian 13 Trixie</a:t>
            </a:r>
            <a:endParaRPr lang="en-US" sz="1040" dirty="0">
              <a:latin typeface="+mn-ea"/>
            </a:endParaRPr>
          </a:p>
        </p:txBody>
      </p:sp>
      <p:sp>
        <p:nvSpPr>
          <p:cNvPr id="43" name="Text 15"/>
          <p:cNvSpPr/>
          <p:nvPr/>
        </p:nvSpPr>
        <p:spPr>
          <a:xfrm>
            <a:off x="3911982" y="2064971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APPLICATION</a:t>
            </a:r>
            <a:endParaRPr lang="en-US" sz="1000" dirty="0">
              <a:latin typeface="+mn-ea"/>
            </a:endParaRPr>
          </a:p>
        </p:txBody>
      </p:sp>
      <p:sp>
        <p:nvSpPr>
          <p:cNvPr id="44" name="Shape 16"/>
          <p:cNvSpPr/>
          <p:nvPr/>
        </p:nvSpPr>
        <p:spPr>
          <a:xfrm>
            <a:off x="3911982" y="2321003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17"/>
          <p:cNvSpPr/>
          <p:nvPr/>
        </p:nvSpPr>
        <p:spPr>
          <a:xfrm>
            <a:off x="3930270" y="2375867"/>
            <a:ext cx="0" cy="201168"/>
          </a:xfrm>
          <a:prstGeom prst="line">
            <a:avLst/>
          </a:prstGeom>
          <a:noFill/>
          <a:ln w="30480">
            <a:solidFill>
              <a:srgbClr val="F4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18"/>
          <p:cNvSpPr/>
          <p:nvPr/>
        </p:nvSpPr>
        <p:spPr>
          <a:xfrm>
            <a:off x="4021710" y="2353007"/>
            <a:ext cx="585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Python</a:t>
            </a:r>
            <a:endParaRPr lang="en-US" sz="1040" dirty="0">
              <a:latin typeface="+mn-ea"/>
            </a:endParaRPr>
          </a:p>
        </p:txBody>
      </p:sp>
      <p:sp>
        <p:nvSpPr>
          <p:cNvPr id="47" name="Shape 19"/>
          <p:cNvSpPr/>
          <p:nvPr/>
        </p:nvSpPr>
        <p:spPr>
          <a:xfrm>
            <a:off x="4808348" y="2321003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20"/>
          <p:cNvSpPr/>
          <p:nvPr/>
        </p:nvSpPr>
        <p:spPr>
          <a:xfrm>
            <a:off x="4826636" y="2375867"/>
            <a:ext cx="0" cy="201168"/>
          </a:xfrm>
          <a:prstGeom prst="line">
            <a:avLst/>
          </a:prstGeom>
          <a:noFill/>
          <a:ln w="30480">
            <a:solidFill>
              <a:srgbClr val="F4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1"/>
          <p:cNvSpPr/>
          <p:nvPr/>
        </p:nvSpPr>
        <p:spPr>
          <a:xfrm>
            <a:off x="4918076" y="2353007"/>
            <a:ext cx="749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Flask 3.1.3</a:t>
            </a:r>
            <a:endParaRPr lang="en-US" sz="1040" dirty="0">
              <a:latin typeface="+mn-ea"/>
            </a:endParaRPr>
          </a:p>
        </p:txBody>
      </p:sp>
      <p:sp>
        <p:nvSpPr>
          <p:cNvPr id="50" name="Shape 22"/>
          <p:cNvSpPr/>
          <p:nvPr/>
        </p:nvSpPr>
        <p:spPr>
          <a:xfrm>
            <a:off x="5871338" y="2317015"/>
            <a:ext cx="151790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23"/>
          <p:cNvSpPr/>
          <p:nvPr/>
        </p:nvSpPr>
        <p:spPr>
          <a:xfrm>
            <a:off x="5889626" y="2371879"/>
            <a:ext cx="0" cy="201168"/>
          </a:xfrm>
          <a:prstGeom prst="line">
            <a:avLst/>
          </a:prstGeom>
          <a:noFill/>
          <a:ln w="30480">
            <a:solidFill>
              <a:srgbClr val="F4B40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4"/>
          <p:cNvSpPr/>
          <p:nvPr/>
        </p:nvSpPr>
        <p:spPr>
          <a:xfrm>
            <a:off x="5981066" y="2349019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SQLite Schema</a:t>
            </a:r>
            <a:endParaRPr lang="en-US" sz="1040" dirty="0">
              <a:latin typeface="+mn-ea"/>
            </a:endParaRPr>
          </a:p>
        </p:txBody>
      </p:sp>
      <p:sp>
        <p:nvSpPr>
          <p:cNvPr id="53" name="Text 25"/>
          <p:cNvSpPr/>
          <p:nvPr/>
        </p:nvSpPr>
        <p:spPr>
          <a:xfrm>
            <a:off x="465719" y="2840589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COMMUNICATION</a:t>
            </a:r>
            <a:endParaRPr lang="en-US" sz="1000" dirty="0">
              <a:latin typeface="+mn-ea"/>
            </a:endParaRPr>
          </a:p>
        </p:txBody>
      </p:sp>
      <p:sp>
        <p:nvSpPr>
          <p:cNvPr id="54" name="Shape 26"/>
          <p:cNvSpPr/>
          <p:nvPr/>
        </p:nvSpPr>
        <p:spPr>
          <a:xfrm>
            <a:off x="465719" y="3042314"/>
            <a:ext cx="104241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27"/>
          <p:cNvSpPr/>
          <p:nvPr/>
        </p:nvSpPr>
        <p:spPr>
          <a:xfrm>
            <a:off x="484007" y="3097178"/>
            <a:ext cx="0" cy="201168"/>
          </a:xfrm>
          <a:prstGeom prst="line">
            <a:avLst/>
          </a:prstGeom>
          <a:noFill/>
          <a:ln w="30480">
            <a:solidFill>
              <a:srgbClr val="8B56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28"/>
          <p:cNvSpPr/>
          <p:nvPr/>
        </p:nvSpPr>
        <p:spPr>
          <a:xfrm>
            <a:off x="575447" y="3074318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pyserial 3.5</a:t>
            </a:r>
            <a:endParaRPr lang="en-US" sz="1040" dirty="0">
              <a:latin typeface="+mn-ea"/>
            </a:endParaRPr>
          </a:p>
        </p:txBody>
      </p:sp>
      <p:sp>
        <p:nvSpPr>
          <p:cNvPr id="57" name="Shape 29"/>
          <p:cNvSpPr/>
          <p:nvPr/>
        </p:nvSpPr>
        <p:spPr>
          <a:xfrm>
            <a:off x="1707017" y="3042314"/>
            <a:ext cx="10789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30"/>
          <p:cNvSpPr/>
          <p:nvPr/>
        </p:nvSpPr>
        <p:spPr>
          <a:xfrm>
            <a:off x="1725305" y="3097178"/>
            <a:ext cx="0" cy="201168"/>
          </a:xfrm>
          <a:prstGeom prst="line">
            <a:avLst/>
          </a:prstGeom>
          <a:noFill/>
          <a:ln w="30480">
            <a:solidFill>
              <a:srgbClr val="8B56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31"/>
          <p:cNvSpPr/>
          <p:nvPr/>
        </p:nvSpPr>
        <p:spPr>
          <a:xfrm>
            <a:off x="1816745" y="307431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/dev/serial0</a:t>
            </a:r>
            <a:endParaRPr lang="en-US" sz="1040" dirty="0">
              <a:latin typeface="+mn-ea"/>
            </a:endParaRPr>
          </a:p>
        </p:txBody>
      </p:sp>
      <p:sp>
        <p:nvSpPr>
          <p:cNvPr id="60" name="Shape 32"/>
          <p:cNvSpPr/>
          <p:nvPr/>
        </p:nvSpPr>
        <p:spPr>
          <a:xfrm>
            <a:off x="465719" y="3417218"/>
            <a:ext cx="16459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33"/>
          <p:cNvSpPr/>
          <p:nvPr/>
        </p:nvSpPr>
        <p:spPr>
          <a:xfrm>
            <a:off x="484007" y="3472082"/>
            <a:ext cx="0" cy="201168"/>
          </a:xfrm>
          <a:prstGeom prst="line">
            <a:avLst/>
          </a:prstGeom>
          <a:noFill/>
          <a:ln w="30480">
            <a:solidFill>
              <a:srgbClr val="8B56F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34"/>
          <p:cNvSpPr/>
          <p:nvPr/>
        </p:nvSpPr>
        <p:spPr>
          <a:xfrm>
            <a:off x="575447" y="3449222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UART 9600 bps / 8N1</a:t>
            </a:r>
            <a:endParaRPr lang="en-US" sz="1040" dirty="0">
              <a:latin typeface="+mn-ea"/>
            </a:endParaRPr>
          </a:p>
        </p:txBody>
      </p:sp>
      <p:sp>
        <p:nvSpPr>
          <p:cNvPr id="63" name="Text 35"/>
          <p:cNvSpPr/>
          <p:nvPr/>
        </p:nvSpPr>
        <p:spPr>
          <a:xfrm>
            <a:off x="3911982" y="284221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DISPLAY</a:t>
            </a:r>
            <a:endParaRPr lang="en-US" sz="1000" dirty="0">
              <a:latin typeface="+mn-ea"/>
            </a:endParaRPr>
          </a:p>
        </p:txBody>
      </p:sp>
      <p:sp>
        <p:nvSpPr>
          <p:cNvPr id="64" name="Shape 36"/>
          <p:cNvSpPr/>
          <p:nvPr/>
        </p:nvSpPr>
        <p:spPr>
          <a:xfrm>
            <a:off x="3911982" y="3463815"/>
            <a:ext cx="144475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37"/>
          <p:cNvSpPr/>
          <p:nvPr/>
        </p:nvSpPr>
        <p:spPr>
          <a:xfrm>
            <a:off x="3930270" y="3518679"/>
            <a:ext cx="0" cy="201168"/>
          </a:xfrm>
          <a:prstGeom prst="line">
            <a:avLst/>
          </a:prstGeom>
          <a:noFill/>
          <a:ln w="30480">
            <a:solidFill>
              <a:srgbClr val="17A6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38"/>
          <p:cNvSpPr/>
          <p:nvPr/>
        </p:nvSpPr>
        <p:spPr>
          <a:xfrm>
            <a:off x="4021710" y="3495819"/>
            <a:ext cx="1298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Chromium Kiosk</a:t>
            </a:r>
            <a:endParaRPr lang="en-US" sz="1040" dirty="0">
              <a:latin typeface="+mn-ea"/>
            </a:endParaRPr>
          </a:p>
        </p:txBody>
      </p:sp>
      <p:sp>
        <p:nvSpPr>
          <p:cNvPr id="67" name="Shape 39"/>
          <p:cNvSpPr/>
          <p:nvPr/>
        </p:nvSpPr>
        <p:spPr>
          <a:xfrm>
            <a:off x="5181675" y="3032066"/>
            <a:ext cx="85039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40"/>
          <p:cNvSpPr/>
          <p:nvPr/>
        </p:nvSpPr>
        <p:spPr>
          <a:xfrm>
            <a:off x="5199963" y="3086930"/>
            <a:ext cx="0" cy="201168"/>
          </a:xfrm>
          <a:prstGeom prst="line">
            <a:avLst/>
          </a:prstGeom>
          <a:noFill/>
          <a:ln w="30480">
            <a:solidFill>
              <a:srgbClr val="17A6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1"/>
          <p:cNvSpPr/>
          <p:nvPr/>
        </p:nvSpPr>
        <p:spPr>
          <a:xfrm>
            <a:off x="5291403" y="3064070"/>
            <a:ext cx="704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Openbox</a:t>
            </a:r>
            <a:endParaRPr lang="en-US" sz="1040" dirty="0">
              <a:latin typeface="+mn-ea"/>
            </a:endParaRPr>
          </a:p>
        </p:txBody>
      </p:sp>
      <p:sp>
        <p:nvSpPr>
          <p:cNvPr id="70" name="Shape 42"/>
          <p:cNvSpPr/>
          <p:nvPr/>
        </p:nvSpPr>
        <p:spPr>
          <a:xfrm>
            <a:off x="3916056" y="3037720"/>
            <a:ext cx="111556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43"/>
          <p:cNvSpPr/>
          <p:nvPr/>
        </p:nvSpPr>
        <p:spPr>
          <a:xfrm>
            <a:off x="3934344" y="3092584"/>
            <a:ext cx="0" cy="201168"/>
          </a:xfrm>
          <a:prstGeom prst="line">
            <a:avLst/>
          </a:prstGeom>
          <a:noFill/>
          <a:ln w="30480">
            <a:solidFill>
              <a:srgbClr val="17A6D9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44"/>
          <p:cNvSpPr/>
          <p:nvPr/>
        </p:nvSpPr>
        <p:spPr>
          <a:xfrm>
            <a:off x="4025784" y="3069724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LightDM / x11</a:t>
            </a:r>
            <a:endParaRPr lang="en-US" sz="1040" dirty="0">
              <a:latin typeface="+mn-ea"/>
            </a:endParaRPr>
          </a:p>
        </p:txBody>
      </p:sp>
      <p:sp>
        <p:nvSpPr>
          <p:cNvPr id="73" name="Text 45"/>
          <p:cNvSpPr/>
          <p:nvPr/>
        </p:nvSpPr>
        <p:spPr>
          <a:xfrm>
            <a:off x="473838" y="3915107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AUDIO</a:t>
            </a:r>
            <a:endParaRPr lang="en-US" sz="1000" dirty="0">
              <a:latin typeface="+mn-ea"/>
            </a:endParaRPr>
          </a:p>
        </p:txBody>
      </p:sp>
      <p:sp>
        <p:nvSpPr>
          <p:cNvPr id="74" name="Shape 46"/>
          <p:cNvSpPr/>
          <p:nvPr/>
        </p:nvSpPr>
        <p:spPr>
          <a:xfrm>
            <a:off x="473838" y="4165043"/>
            <a:ext cx="58521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47"/>
          <p:cNvSpPr/>
          <p:nvPr/>
        </p:nvSpPr>
        <p:spPr>
          <a:xfrm>
            <a:off x="492126" y="4219907"/>
            <a:ext cx="0" cy="201168"/>
          </a:xfrm>
          <a:prstGeom prst="line">
            <a:avLst/>
          </a:prstGeom>
          <a:noFill/>
          <a:ln w="30480">
            <a:solidFill>
              <a:srgbClr val="FF7B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48"/>
          <p:cNvSpPr/>
          <p:nvPr/>
        </p:nvSpPr>
        <p:spPr>
          <a:xfrm>
            <a:off x="583566" y="4197047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cVLC</a:t>
            </a:r>
            <a:endParaRPr lang="en-US" sz="1040" dirty="0">
              <a:latin typeface="+mn-ea"/>
            </a:endParaRPr>
          </a:p>
        </p:txBody>
      </p:sp>
      <p:sp>
        <p:nvSpPr>
          <p:cNvPr id="77" name="Shape 49"/>
          <p:cNvSpPr/>
          <p:nvPr/>
        </p:nvSpPr>
        <p:spPr>
          <a:xfrm>
            <a:off x="1238632" y="4165043"/>
            <a:ext cx="1481328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Shape 50"/>
          <p:cNvSpPr/>
          <p:nvPr/>
        </p:nvSpPr>
        <p:spPr>
          <a:xfrm>
            <a:off x="1256920" y="4219907"/>
            <a:ext cx="0" cy="201168"/>
          </a:xfrm>
          <a:prstGeom prst="line">
            <a:avLst/>
          </a:prstGeom>
          <a:noFill/>
          <a:ln w="30480">
            <a:solidFill>
              <a:srgbClr val="FF7B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1"/>
          <p:cNvSpPr/>
          <p:nvPr/>
        </p:nvSpPr>
        <p:spPr>
          <a:xfrm>
            <a:off x="1348360" y="4197047"/>
            <a:ext cx="13350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ALSA Headphones</a:t>
            </a:r>
            <a:endParaRPr lang="en-US" sz="1040" dirty="0">
              <a:latin typeface="+mn-ea"/>
            </a:endParaRPr>
          </a:p>
        </p:txBody>
      </p:sp>
      <p:sp>
        <p:nvSpPr>
          <p:cNvPr id="80" name="Text 52"/>
          <p:cNvSpPr/>
          <p:nvPr/>
        </p:nvSpPr>
        <p:spPr>
          <a:xfrm>
            <a:off x="3911982" y="3953207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SERVICE</a:t>
            </a:r>
            <a:endParaRPr lang="en-US" sz="1000" dirty="0">
              <a:latin typeface="+mn-ea"/>
            </a:endParaRPr>
          </a:p>
        </p:txBody>
      </p:sp>
      <p:sp>
        <p:nvSpPr>
          <p:cNvPr id="81" name="Shape 53"/>
          <p:cNvSpPr/>
          <p:nvPr/>
        </p:nvSpPr>
        <p:spPr>
          <a:xfrm>
            <a:off x="3911982" y="4172663"/>
            <a:ext cx="85953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Shape 54"/>
          <p:cNvSpPr/>
          <p:nvPr/>
        </p:nvSpPr>
        <p:spPr>
          <a:xfrm>
            <a:off x="3930270" y="4227527"/>
            <a:ext cx="0" cy="201168"/>
          </a:xfrm>
          <a:prstGeom prst="line">
            <a:avLst/>
          </a:prstGeom>
          <a:noFill/>
          <a:ln w="30480">
            <a:solidFill>
              <a:srgbClr val="5E6E8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55"/>
          <p:cNvSpPr/>
          <p:nvPr/>
        </p:nvSpPr>
        <p:spPr>
          <a:xfrm>
            <a:off x="4021710" y="4204667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systemd</a:t>
            </a:r>
            <a:endParaRPr lang="en-US" sz="1040" dirty="0">
              <a:latin typeface="+mn-ea"/>
            </a:endParaRPr>
          </a:p>
        </p:txBody>
      </p:sp>
      <p:sp>
        <p:nvSpPr>
          <p:cNvPr id="84" name="Shape 56"/>
          <p:cNvSpPr/>
          <p:nvPr/>
        </p:nvSpPr>
        <p:spPr>
          <a:xfrm>
            <a:off x="4927220" y="4172663"/>
            <a:ext cx="1426464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Shape 57"/>
          <p:cNvSpPr/>
          <p:nvPr/>
        </p:nvSpPr>
        <p:spPr>
          <a:xfrm>
            <a:off x="4945508" y="4227527"/>
            <a:ext cx="0" cy="201168"/>
          </a:xfrm>
          <a:prstGeom prst="line">
            <a:avLst/>
          </a:prstGeom>
          <a:noFill/>
          <a:ln w="30480">
            <a:solidFill>
              <a:srgbClr val="5E6E8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6" name="Text 58"/>
          <p:cNvSpPr/>
          <p:nvPr/>
        </p:nvSpPr>
        <p:spPr>
          <a:xfrm>
            <a:off x="5036948" y="4204667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slotguard.service</a:t>
            </a:r>
            <a:endParaRPr lang="en-US" sz="1040" dirty="0">
              <a:latin typeface="+mn-ea"/>
            </a:endParaRPr>
          </a:p>
        </p:txBody>
      </p:sp>
      <p:sp>
        <p:nvSpPr>
          <p:cNvPr id="88" name="Text 59"/>
          <p:cNvSpPr/>
          <p:nvPr/>
        </p:nvSpPr>
        <p:spPr>
          <a:xfrm>
            <a:off x="8309180" y="1566931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ATmega128A Firmware</a:t>
            </a:r>
            <a:endParaRPr lang="en-US" sz="1740" dirty="0">
              <a:latin typeface="+mn-ea"/>
            </a:endParaRPr>
          </a:p>
        </p:txBody>
      </p:sp>
      <p:sp>
        <p:nvSpPr>
          <p:cNvPr id="89" name="Text 60"/>
          <p:cNvSpPr/>
          <p:nvPr/>
        </p:nvSpPr>
        <p:spPr>
          <a:xfrm>
            <a:off x="7886018" y="2238265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DEVELOPMENT</a:t>
            </a:r>
            <a:endParaRPr lang="en-US" sz="1000" dirty="0">
              <a:latin typeface="+mn-ea"/>
            </a:endParaRPr>
          </a:p>
        </p:txBody>
      </p:sp>
      <p:sp>
        <p:nvSpPr>
          <p:cNvPr id="90" name="Shape 61"/>
          <p:cNvSpPr/>
          <p:nvPr/>
        </p:nvSpPr>
        <p:spPr>
          <a:xfrm>
            <a:off x="7886018" y="2512585"/>
            <a:ext cx="112471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Shape 62"/>
          <p:cNvSpPr/>
          <p:nvPr/>
        </p:nvSpPr>
        <p:spPr>
          <a:xfrm>
            <a:off x="7904306" y="2567449"/>
            <a:ext cx="0" cy="201168"/>
          </a:xfrm>
          <a:prstGeom prst="line">
            <a:avLst/>
          </a:prstGeom>
          <a:noFill/>
          <a:ln w="30480">
            <a:solidFill>
              <a:srgbClr val="078FC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Text 63"/>
          <p:cNvSpPr/>
          <p:nvPr/>
        </p:nvSpPr>
        <p:spPr>
          <a:xfrm>
            <a:off x="7995746" y="2544589"/>
            <a:ext cx="9784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Embedded C</a:t>
            </a:r>
            <a:endParaRPr lang="en-US" sz="1040" dirty="0">
              <a:latin typeface="+mn-ea"/>
            </a:endParaRPr>
          </a:p>
        </p:txBody>
      </p:sp>
      <p:sp>
        <p:nvSpPr>
          <p:cNvPr id="93" name="Shape 64"/>
          <p:cNvSpPr/>
          <p:nvPr/>
        </p:nvSpPr>
        <p:spPr>
          <a:xfrm>
            <a:off x="9234758" y="2512585"/>
            <a:ext cx="137160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Shape 65"/>
          <p:cNvSpPr/>
          <p:nvPr/>
        </p:nvSpPr>
        <p:spPr>
          <a:xfrm>
            <a:off x="9253046" y="2567449"/>
            <a:ext cx="0" cy="201168"/>
          </a:xfrm>
          <a:prstGeom prst="line">
            <a:avLst/>
          </a:prstGeom>
          <a:noFill/>
          <a:ln w="30480">
            <a:solidFill>
              <a:srgbClr val="078FCE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66"/>
          <p:cNvSpPr/>
          <p:nvPr/>
        </p:nvSpPr>
        <p:spPr>
          <a:xfrm>
            <a:off x="9344486" y="2544589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Microchip Studio</a:t>
            </a:r>
            <a:endParaRPr lang="en-US" sz="1040" dirty="0">
              <a:latin typeface="+mn-ea"/>
            </a:endParaRPr>
          </a:p>
        </p:txBody>
      </p:sp>
      <p:sp>
        <p:nvSpPr>
          <p:cNvPr id="96" name="Text 67"/>
          <p:cNvSpPr/>
          <p:nvPr/>
        </p:nvSpPr>
        <p:spPr>
          <a:xfrm>
            <a:off x="7886018" y="2997217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87891"/>
                </a:solidFill>
                <a:latin typeface="+mn-ea"/>
                <a:cs typeface="Noto Sans CJK KR" pitchFamily="34" charset="-120"/>
              </a:rPr>
              <a:t>CONTROL</a:t>
            </a:r>
            <a:endParaRPr lang="en-US" sz="1000" dirty="0">
              <a:latin typeface="+mn-ea"/>
            </a:endParaRPr>
          </a:p>
        </p:txBody>
      </p:sp>
      <p:sp>
        <p:nvSpPr>
          <p:cNvPr id="97" name="Shape 68"/>
          <p:cNvSpPr/>
          <p:nvPr/>
        </p:nvSpPr>
        <p:spPr>
          <a:xfrm>
            <a:off x="7886018" y="3262393"/>
            <a:ext cx="77724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Shape 69"/>
          <p:cNvSpPr/>
          <p:nvPr/>
        </p:nvSpPr>
        <p:spPr>
          <a:xfrm>
            <a:off x="7904306" y="3317257"/>
            <a:ext cx="0" cy="201168"/>
          </a:xfrm>
          <a:prstGeom prst="line">
            <a:avLst/>
          </a:prstGeom>
          <a:noFill/>
          <a:ln w="30480">
            <a:solidFill>
              <a:srgbClr val="FF416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9" name="Text 70"/>
          <p:cNvSpPr/>
          <p:nvPr/>
        </p:nvSpPr>
        <p:spPr>
          <a:xfrm>
            <a:off x="7995746" y="3294397"/>
            <a:ext cx="630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USART</a:t>
            </a:r>
            <a:endParaRPr lang="en-US" sz="1040" dirty="0">
              <a:latin typeface="+mn-ea"/>
            </a:endParaRPr>
          </a:p>
        </p:txBody>
      </p:sp>
      <p:sp>
        <p:nvSpPr>
          <p:cNvPr id="100" name="Shape 71"/>
          <p:cNvSpPr/>
          <p:nvPr/>
        </p:nvSpPr>
        <p:spPr>
          <a:xfrm>
            <a:off x="8864426" y="3258329"/>
            <a:ext cx="13258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1" name="Shape 72"/>
          <p:cNvSpPr/>
          <p:nvPr/>
        </p:nvSpPr>
        <p:spPr>
          <a:xfrm>
            <a:off x="8882714" y="3313193"/>
            <a:ext cx="0" cy="201168"/>
          </a:xfrm>
          <a:prstGeom prst="line">
            <a:avLst/>
          </a:prstGeom>
          <a:noFill/>
          <a:ln w="30480">
            <a:solidFill>
              <a:srgbClr val="FF416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Text 73"/>
          <p:cNvSpPr/>
          <p:nvPr/>
        </p:nvSpPr>
        <p:spPr>
          <a:xfrm>
            <a:off x="8974154" y="3290333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Stepper Motor</a:t>
            </a:r>
            <a:endParaRPr lang="en-US" sz="1040" dirty="0">
              <a:latin typeface="+mn-ea"/>
            </a:endParaRPr>
          </a:p>
        </p:txBody>
      </p:sp>
      <p:sp>
        <p:nvSpPr>
          <p:cNvPr id="103" name="Shape 74"/>
          <p:cNvSpPr/>
          <p:nvPr/>
        </p:nvSpPr>
        <p:spPr>
          <a:xfrm>
            <a:off x="8864426" y="3640612"/>
            <a:ext cx="128016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4" name="Shape 75"/>
          <p:cNvSpPr/>
          <p:nvPr/>
        </p:nvSpPr>
        <p:spPr>
          <a:xfrm>
            <a:off x="8882714" y="3695476"/>
            <a:ext cx="0" cy="201168"/>
          </a:xfrm>
          <a:prstGeom prst="line">
            <a:avLst/>
          </a:prstGeom>
          <a:noFill/>
          <a:ln w="30480">
            <a:solidFill>
              <a:srgbClr val="FF416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5" name="Text 76"/>
          <p:cNvSpPr/>
          <p:nvPr/>
        </p:nvSpPr>
        <p:spPr>
          <a:xfrm>
            <a:off x="8974154" y="3672616"/>
            <a:ext cx="1133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Servo Motor</a:t>
            </a:r>
            <a:endParaRPr lang="en-US" sz="1040" dirty="0">
              <a:latin typeface="+mn-ea"/>
            </a:endParaRPr>
          </a:p>
        </p:txBody>
      </p:sp>
      <p:sp>
        <p:nvSpPr>
          <p:cNvPr id="106" name="Shape 77"/>
          <p:cNvSpPr/>
          <p:nvPr/>
        </p:nvSpPr>
        <p:spPr>
          <a:xfrm>
            <a:off x="7886018" y="3637297"/>
            <a:ext cx="86868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0795"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78"/>
          <p:cNvSpPr/>
          <p:nvPr/>
        </p:nvSpPr>
        <p:spPr>
          <a:xfrm>
            <a:off x="7904306" y="3692161"/>
            <a:ext cx="0" cy="201168"/>
          </a:xfrm>
          <a:prstGeom prst="line">
            <a:avLst/>
          </a:prstGeom>
          <a:noFill/>
          <a:ln w="30480">
            <a:solidFill>
              <a:srgbClr val="FF4162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79"/>
          <p:cNvSpPr/>
          <p:nvPr/>
        </p:nvSpPr>
        <p:spPr>
          <a:xfrm>
            <a:off x="7995746" y="3669301"/>
            <a:ext cx="722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405069"/>
                </a:solidFill>
                <a:latin typeface="+mn-ea"/>
                <a:cs typeface="Noto Sans CJK KR" pitchFamily="34" charset="-120"/>
              </a:rPr>
              <a:t>IR Sensor</a:t>
            </a:r>
            <a:endParaRPr lang="en-US" sz="1040" dirty="0">
              <a:latin typeface="+mn-ea"/>
            </a:endParaRPr>
          </a:p>
        </p:txBody>
      </p:sp>
      <p:sp>
        <p:nvSpPr>
          <p:cNvPr id="114" name="Text 84"/>
          <p:cNvSpPr/>
          <p:nvPr/>
        </p:nvSpPr>
        <p:spPr>
          <a:xfrm>
            <a:off x="730378" y="5041168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실행 구조 (Execution Flow)</a:t>
            </a:r>
            <a:endParaRPr lang="en-US" sz="1520" dirty="0">
              <a:latin typeface="+mn-ea"/>
            </a:endParaRPr>
          </a:p>
        </p:txBody>
      </p:sp>
      <p:sp>
        <p:nvSpPr>
          <p:cNvPr id="115" name="Shape 85"/>
          <p:cNvSpPr/>
          <p:nvPr/>
        </p:nvSpPr>
        <p:spPr>
          <a:xfrm>
            <a:off x="719456" y="5457474"/>
            <a:ext cx="957430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6" name="Text 86"/>
          <p:cNvSpPr/>
          <p:nvPr/>
        </p:nvSpPr>
        <p:spPr>
          <a:xfrm>
            <a:off x="572617" y="5466618"/>
            <a:ext cx="122529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Power ON</a:t>
            </a:r>
            <a:endParaRPr lang="en-US" sz="1100" dirty="0">
              <a:latin typeface="+mn-ea"/>
            </a:endParaRPr>
          </a:p>
        </p:txBody>
      </p:sp>
      <p:sp>
        <p:nvSpPr>
          <p:cNvPr id="118" name="Text 87"/>
          <p:cNvSpPr/>
          <p:nvPr/>
        </p:nvSpPr>
        <p:spPr>
          <a:xfrm>
            <a:off x="1652144" y="54940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19" name="Shape 88"/>
          <p:cNvSpPr/>
          <p:nvPr/>
        </p:nvSpPr>
        <p:spPr>
          <a:xfrm>
            <a:off x="2027320" y="5457474"/>
            <a:ext cx="1060704" cy="3840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0" name="Text 89"/>
          <p:cNvSpPr/>
          <p:nvPr/>
        </p:nvSpPr>
        <p:spPr>
          <a:xfrm>
            <a:off x="2187336" y="5466618"/>
            <a:ext cx="759487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systemd</a:t>
            </a:r>
            <a:endParaRPr lang="en-US" sz="1100" dirty="0">
              <a:latin typeface="+mn-ea"/>
            </a:endParaRPr>
          </a:p>
        </p:txBody>
      </p:sp>
      <p:sp>
        <p:nvSpPr>
          <p:cNvPr id="121" name="Text 90"/>
          <p:cNvSpPr/>
          <p:nvPr/>
        </p:nvSpPr>
        <p:spPr>
          <a:xfrm>
            <a:off x="3087752" y="54940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22" name="Shape 91"/>
          <p:cNvSpPr/>
          <p:nvPr/>
        </p:nvSpPr>
        <p:spPr>
          <a:xfrm>
            <a:off x="3389504" y="5457474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F5FAFF"/>
          </a:solidFill>
          <a:ln w="11430">
            <a:solidFill>
              <a:srgbClr val="98C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3" name="Text 92"/>
          <p:cNvSpPr/>
          <p:nvPr/>
        </p:nvSpPr>
        <p:spPr>
          <a:xfrm>
            <a:off x="3389504" y="5466618"/>
            <a:ext cx="160934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58C8"/>
                </a:solidFill>
                <a:latin typeface="+mn-ea"/>
                <a:cs typeface="Noto Sans CJK KR" pitchFamily="34" charset="-120"/>
              </a:rPr>
              <a:t>slotguard.service</a:t>
            </a:r>
            <a:endParaRPr lang="en-US" sz="1080" dirty="0">
              <a:latin typeface="+mn-ea"/>
            </a:endParaRPr>
          </a:p>
        </p:txBody>
      </p:sp>
      <p:sp>
        <p:nvSpPr>
          <p:cNvPr id="124" name="Text 93"/>
          <p:cNvSpPr/>
          <p:nvPr/>
        </p:nvSpPr>
        <p:spPr>
          <a:xfrm>
            <a:off x="5090288" y="54940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25" name="Shape 94"/>
          <p:cNvSpPr/>
          <p:nvPr/>
        </p:nvSpPr>
        <p:spPr>
          <a:xfrm>
            <a:off x="5410328" y="5457474"/>
            <a:ext cx="950976" cy="384048"/>
          </a:xfrm>
          <a:prstGeom prst="roundRect">
            <a:avLst>
              <a:gd name="adj" fmla="val 16667"/>
            </a:avLst>
          </a:prstGeom>
          <a:solidFill>
            <a:srgbClr val="F5FAFF"/>
          </a:solidFill>
          <a:ln w="11430">
            <a:solidFill>
              <a:srgbClr val="98C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6" name="Text 95"/>
          <p:cNvSpPr/>
          <p:nvPr/>
        </p:nvSpPr>
        <p:spPr>
          <a:xfrm>
            <a:off x="5410328" y="5466618"/>
            <a:ext cx="9509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58C8"/>
                </a:solidFill>
                <a:latin typeface="+mn-ea"/>
                <a:cs typeface="Noto Sans CJK KR" pitchFamily="34" charset="-120"/>
              </a:rPr>
              <a:t>app.py</a:t>
            </a:r>
            <a:endParaRPr lang="en-US" sz="1100" dirty="0">
              <a:latin typeface="+mn-ea"/>
            </a:endParaRPr>
          </a:p>
        </p:txBody>
      </p:sp>
      <p:sp>
        <p:nvSpPr>
          <p:cNvPr id="128" name="Shape 97"/>
          <p:cNvSpPr/>
          <p:nvPr/>
        </p:nvSpPr>
        <p:spPr>
          <a:xfrm>
            <a:off x="6763640" y="5336448"/>
            <a:ext cx="134416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9" name="Text 98"/>
          <p:cNvSpPr/>
          <p:nvPr/>
        </p:nvSpPr>
        <p:spPr>
          <a:xfrm>
            <a:off x="6763640" y="5345592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Flask HTTP :5000</a:t>
            </a:r>
            <a:endParaRPr lang="en-US" sz="980" dirty="0">
              <a:latin typeface="+mn-ea"/>
            </a:endParaRPr>
          </a:p>
        </p:txBody>
      </p:sp>
      <p:sp>
        <p:nvSpPr>
          <p:cNvPr id="130" name="Shape 99"/>
          <p:cNvSpPr/>
          <p:nvPr/>
        </p:nvSpPr>
        <p:spPr>
          <a:xfrm>
            <a:off x="6763640" y="5674776"/>
            <a:ext cx="134416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1" name="Text 100"/>
          <p:cNvSpPr/>
          <p:nvPr/>
        </p:nvSpPr>
        <p:spPr>
          <a:xfrm>
            <a:off x="6947888" y="5680373"/>
            <a:ext cx="97567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SQLite</a:t>
            </a:r>
            <a:endParaRPr lang="en-US" sz="980" dirty="0">
              <a:latin typeface="+mn-ea"/>
            </a:endParaRPr>
          </a:p>
        </p:txBody>
      </p:sp>
      <p:sp>
        <p:nvSpPr>
          <p:cNvPr id="132" name="Shape 101"/>
          <p:cNvSpPr/>
          <p:nvPr/>
        </p:nvSpPr>
        <p:spPr>
          <a:xfrm>
            <a:off x="8172648" y="5338933"/>
            <a:ext cx="134416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3" name="Text 102"/>
          <p:cNvSpPr/>
          <p:nvPr/>
        </p:nvSpPr>
        <p:spPr>
          <a:xfrm>
            <a:off x="8172648" y="5348077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27344A"/>
                </a:solidFill>
                <a:latin typeface="+mn-ea"/>
                <a:cs typeface="Noto Sans CJK KR" pitchFamily="34" charset="-120"/>
              </a:rPr>
              <a:t>UART Service</a:t>
            </a:r>
            <a:endParaRPr lang="en-US" sz="980" dirty="0">
              <a:latin typeface="+mn-ea"/>
            </a:endParaRPr>
          </a:p>
        </p:txBody>
      </p:sp>
      <p:sp>
        <p:nvSpPr>
          <p:cNvPr id="134" name="Shape 103"/>
          <p:cNvSpPr/>
          <p:nvPr/>
        </p:nvSpPr>
        <p:spPr>
          <a:xfrm>
            <a:off x="8172648" y="5674776"/>
            <a:ext cx="1344168" cy="292608"/>
          </a:xfrm>
          <a:prstGeom prst="roundRect">
            <a:avLst>
              <a:gd name="adj" fmla="val 21875"/>
            </a:avLst>
          </a:prstGeom>
          <a:solidFill>
            <a:srgbClr val="FFFFFF"/>
          </a:solidFill>
          <a:ln w="11430">
            <a:solidFill>
              <a:srgbClr val="C7D6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5" name="Text 104"/>
          <p:cNvSpPr/>
          <p:nvPr/>
        </p:nvSpPr>
        <p:spPr>
          <a:xfrm>
            <a:off x="8172648" y="5683173"/>
            <a:ext cx="13441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 err="1">
                <a:solidFill>
                  <a:srgbClr val="27344A"/>
                </a:solidFill>
                <a:latin typeface="+mn-ea"/>
                <a:cs typeface="Noto Sans CJK KR" pitchFamily="34" charset="-120"/>
              </a:rPr>
              <a:t>VoiceAlertManager</a:t>
            </a:r>
            <a:endParaRPr lang="en-US" sz="980" dirty="0">
              <a:latin typeface="+mn-ea"/>
            </a:endParaRPr>
          </a:p>
        </p:txBody>
      </p:sp>
      <p:sp>
        <p:nvSpPr>
          <p:cNvPr id="136" name="Shape 105"/>
          <p:cNvSpPr/>
          <p:nvPr/>
        </p:nvSpPr>
        <p:spPr>
          <a:xfrm>
            <a:off x="719456" y="5978174"/>
            <a:ext cx="969264" cy="384048"/>
          </a:xfrm>
          <a:prstGeom prst="roundRect">
            <a:avLst>
              <a:gd name="adj" fmla="val 16667"/>
            </a:avLst>
          </a:prstGeom>
          <a:solidFill>
            <a:srgbClr val="F3FFFB"/>
          </a:solidFill>
          <a:ln w="11430">
            <a:solidFill>
              <a:srgbClr val="5EDA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7" name="Text 106"/>
          <p:cNvSpPr/>
          <p:nvPr/>
        </p:nvSpPr>
        <p:spPr>
          <a:xfrm>
            <a:off x="719456" y="5987318"/>
            <a:ext cx="96926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C72"/>
                </a:solidFill>
                <a:latin typeface="+mn-ea"/>
                <a:cs typeface="Noto Sans CJK KR" pitchFamily="34" charset="-120"/>
              </a:rPr>
              <a:t>LightDM</a:t>
            </a:r>
            <a:endParaRPr lang="en-US" sz="1100" dirty="0">
              <a:latin typeface="+mn-ea"/>
            </a:endParaRPr>
          </a:p>
        </p:txBody>
      </p:sp>
      <p:sp>
        <p:nvSpPr>
          <p:cNvPr id="138" name="Text 107"/>
          <p:cNvSpPr/>
          <p:nvPr/>
        </p:nvSpPr>
        <p:spPr>
          <a:xfrm>
            <a:off x="1674463" y="60147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39" name="Shape 108"/>
          <p:cNvSpPr/>
          <p:nvPr/>
        </p:nvSpPr>
        <p:spPr>
          <a:xfrm>
            <a:off x="2029466" y="5978174"/>
            <a:ext cx="1058285" cy="384048"/>
          </a:xfrm>
          <a:prstGeom prst="roundRect">
            <a:avLst>
              <a:gd name="adj" fmla="val 16667"/>
            </a:avLst>
          </a:prstGeom>
          <a:solidFill>
            <a:srgbClr val="F3FFFB"/>
          </a:solidFill>
          <a:ln w="11430">
            <a:solidFill>
              <a:srgbClr val="5EDA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0" name="Text 109"/>
          <p:cNvSpPr/>
          <p:nvPr/>
        </p:nvSpPr>
        <p:spPr>
          <a:xfrm>
            <a:off x="2146996" y="5987318"/>
            <a:ext cx="8417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C72"/>
                </a:solidFill>
                <a:latin typeface="+mn-ea"/>
                <a:cs typeface="Noto Sans CJK KR" pitchFamily="34" charset="-120"/>
              </a:rPr>
              <a:t>Openbox</a:t>
            </a:r>
            <a:endParaRPr lang="en-US" sz="1100" dirty="0">
              <a:latin typeface="+mn-ea"/>
            </a:endParaRPr>
          </a:p>
        </p:txBody>
      </p:sp>
      <p:sp>
        <p:nvSpPr>
          <p:cNvPr id="141" name="Text 110"/>
          <p:cNvSpPr/>
          <p:nvPr/>
        </p:nvSpPr>
        <p:spPr>
          <a:xfrm>
            <a:off x="3086943" y="60147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42" name="Shape 111"/>
          <p:cNvSpPr/>
          <p:nvPr/>
        </p:nvSpPr>
        <p:spPr>
          <a:xfrm>
            <a:off x="3389504" y="5978174"/>
            <a:ext cx="1609344" cy="384048"/>
          </a:xfrm>
          <a:prstGeom prst="roundRect">
            <a:avLst>
              <a:gd name="adj" fmla="val 16667"/>
            </a:avLst>
          </a:prstGeom>
          <a:solidFill>
            <a:srgbClr val="F3FFFB"/>
          </a:solidFill>
          <a:ln w="11430">
            <a:solidFill>
              <a:srgbClr val="5EDA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3" name="Text 112"/>
          <p:cNvSpPr/>
          <p:nvPr/>
        </p:nvSpPr>
        <p:spPr>
          <a:xfrm>
            <a:off x="3462656" y="5987318"/>
            <a:ext cx="15087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87C72"/>
                </a:solidFill>
                <a:latin typeface="+mn-ea"/>
                <a:cs typeface="Noto Sans CJK KR" pitchFamily="34" charset="-120"/>
              </a:rPr>
              <a:t>Chromium Kiosk</a:t>
            </a:r>
            <a:endParaRPr lang="en-US" sz="1080" dirty="0">
              <a:latin typeface="+mn-ea"/>
            </a:endParaRPr>
          </a:p>
        </p:txBody>
      </p:sp>
      <p:sp>
        <p:nvSpPr>
          <p:cNvPr id="144" name="Text 113"/>
          <p:cNvSpPr/>
          <p:nvPr/>
        </p:nvSpPr>
        <p:spPr>
          <a:xfrm>
            <a:off x="5072000" y="60147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145" name="Shape 114"/>
          <p:cNvSpPr/>
          <p:nvPr/>
        </p:nvSpPr>
        <p:spPr>
          <a:xfrm>
            <a:off x="5392040" y="5978174"/>
            <a:ext cx="941832" cy="384048"/>
          </a:xfrm>
          <a:prstGeom prst="roundRect">
            <a:avLst>
              <a:gd name="adj" fmla="val 16667"/>
            </a:avLst>
          </a:prstGeom>
          <a:solidFill>
            <a:srgbClr val="F3FFFB"/>
          </a:solidFill>
          <a:ln w="11430">
            <a:solidFill>
              <a:srgbClr val="5EDA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6" name="Text 115"/>
          <p:cNvSpPr/>
          <p:nvPr/>
        </p:nvSpPr>
        <p:spPr>
          <a:xfrm>
            <a:off x="5392040" y="5987318"/>
            <a:ext cx="9418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7C72"/>
                </a:solidFill>
                <a:latin typeface="+mn-ea"/>
                <a:cs typeface="Noto Sans CJK KR" pitchFamily="34" charset="-120"/>
              </a:rPr>
              <a:t>/display</a:t>
            </a:r>
            <a:endParaRPr lang="en-US" sz="1100" dirty="0">
              <a:latin typeface="+mn-ea"/>
            </a:endParaRPr>
          </a:p>
        </p:txBody>
      </p:sp>
      <p:sp>
        <p:nvSpPr>
          <p:cNvPr id="147" name="Text 93"/>
          <p:cNvSpPr/>
          <p:nvPr/>
        </p:nvSpPr>
        <p:spPr>
          <a:xfrm>
            <a:off x="6418905" y="549405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7C8DA7"/>
                </a:solidFill>
                <a:latin typeface="+mn-ea"/>
                <a:cs typeface="Noto Sans CJK KR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12631" y="1545393"/>
            <a:ext cx="234409" cy="328173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559" y="1588048"/>
            <a:ext cx="476316" cy="39058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36" y="5067824"/>
            <a:ext cx="304802" cy="30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534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프로그램 설명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en-US" altLang="ko-KR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Motor / Mechanical / Sensor</a:t>
            </a:r>
            <a:endParaRPr lang="ko-KR" altLang="en-US" sz="3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2" name="Rounded Rectangle 7"/>
          <p:cNvSpPr/>
          <p:nvPr/>
        </p:nvSpPr>
        <p:spPr>
          <a:xfrm>
            <a:off x="8641080" y="1575366"/>
            <a:ext cx="2880360" cy="379476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887968" y="1822254"/>
            <a:ext cx="2377440" cy="31089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700" b="1">
                <a:solidFill>
                  <a:srgbClr val="273244"/>
                </a:solidFill>
                <a:latin typeface="+mn-ea"/>
              </a:rPr>
              <a:t>블리스터 내부 좌표 맵</a:t>
            </a:r>
          </a:p>
        </p:txBody>
      </p:sp>
      <p:sp>
        <p:nvSpPr>
          <p:cNvPr id="74" name="Rounded Rectangle 9"/>
          <p:cNvSpPr/>
          <p:nvPr/>
        </p:nvSpPr>
        <p:spPr>
          <a:xfrm>
            <a:off x="8887968" y="2425758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887968" y="2617614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0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4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76" name="Rounded Rectangle 11"/>
          <p:cNvSpPr/>
          <p:nvPr/>
        </p:nvSpPr>
        <p:spPr>
          <a:xfrm>
            <a:off x="9363456" y="2425758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9363456" y="2617614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0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3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78" name="Rounded Rectangle 13"/>
          <p:cNvSpPr/>
          <p:nvPr/>
        </p:nvSpPr>
        <p:spPr>
          <a:xfrm>
            <a:off x="9838944" y="2425758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838944" y="2617614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A79E8"/>
                </a:solidFill>
                <a:latin typeface="+mn-ea"/>
              </a:rPr>
              <a:t>02</a:t>
            </a:r>
          </a:p>
        </p:txBody>
      </p:sp>
      <p:sp>
        <p:nvSpPr>
          <p:cNvPr id="80" name="Rounded Rectangle 15"/>
          <p:cNvSpPr/>
          <p:nvPr/>
        </p:nvSpPr>
        <p:spPr>
          <a:xfrm>
            <a:off x="10314432" y="2425758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314432" y="2617614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0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1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82" name="Rounded Rectangle 17"/>
          <p:cNvSpPr/>
          <p:nvPr/>
        </p:nvSpPr>
        <p:spPr>
          <a:xfrm>
            <a:off x="10789920" y="2425758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0789920" y="2617614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0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0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84" name="Rounded Rectangle 19"/>
          <p:cNvSpPr/>
          <p:nvPr/>
        </p:nvSpPr>
        <p:spPr>
          <a:xfrm>
            <a:off x="8887968" y="3029262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8887968" y="3221118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1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4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86" name="Rounded Rectangle 21"/>
          <p:cNvSpPr/>
          <p:nvPr/>
        </p:nvSpPr>
        <p:spPr>
          <a:xfrm>
            <a:off x="9363456" y="3029262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9363456" y="3221118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1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3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88" name="Rounded Rectangle 23"/>
          <p:cNvSpPr/>
          <p:nvPr/>
        </p:nvSpPr>
        <p:spPr>
          <a:xfrm>
            <a:off x="9838944" y="3029262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9838944" y="3221118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>
                <a:solidFill>
                  <a:srgbClr val="4A79E8"/>
                </a:solidFill>
                <a:latin typeface="+mn-ea"/>
              </a:rPr>
              <a:t>12</a:t>
            </a:r>
          </a:p>
        </p:txBody>
      </p:sp>
      <p:sp>
        <p:nvSpPr>
          <p:cNvPr id="90" name="Rounded Rectangle 25"/>
          <p:cNvSpPr/>
          <p:nvPr/>
        </p:nvSpPr>
        <p:spPr>
          <a:xfrm>
            <a:off x="10314432" y="3029262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10314432" y="3221118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1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1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92" name="Rounded Rectangle 27"/>
          <p:cNvSpPr/>
          <p:nvPr/>
        </p:nvSpPr>
        <p:spPr>
          <a:xfrm>
            <a:off x="10789920" y="3029262"/>
            <a:ext cx="448056" cy="576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6C9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10789920" y="3221118"/>
            <a:ext cx="448056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50" b="1" dirty="0" smtClean="0">
                <a:solidFill>
                  <a:srgbClr val="4A79E8"/>
                </a:solidFill>
                <a:latin typeface="+mn-ea"/>
              </a:rPr>
              <a:t>1</a:t>
            </a:r>
            <a:r>
              <a:rPr lang="en-US" sz="1250" b="1" dirty="0" smtClean="0">
                <a:solidFill>
                  <a:srgbClr val="4A79E8"/>
                </a:solidFill>
                <a:latin typeface="+mn-ea"/>
              </a:rPr>
              <a:t>0</a:t>
            </a:r>
            <a:endParaRPr sz="125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006840" y="3888798"/>
            <a:ext cx="2148840" cy="60529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b="0" dirty="0">
                <a:latin typeface="+mn-ea"/>
              </a:rPr>
              <a:t>행(Row) = X 축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>
                <a:latin typeface="+mn-ea"/>
              </a:rPr>
              <a:t>열(Column) = Y 축</a:t>
            </a:r>
          </a:p>
        </p:txBody>
      </p:sp>
      <p:sp>
        <p:nvSpPr>
          <p:cNvPr id="95" name="Rounded Rectangle 30"/>
          <p:cNvSpPr/>
          <p:nvPr/>
        </p:nvSpPr>
        <p:spPr>
          <a:xfrm>
            <a:off x="502920" y="1529646"/>
            <a:ext cx="781812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6" name="Rounded Rectangle 31"/>
          <p:cNvSpPr/>
          <p:nvPr/>
        </p:nvSpPr>
        <p:spPr>
          <a:xfrm>
            <a:off x="521207" y="1547934"/>
            <a:ext cx="54864" cy="950976"/>
          </a:xfrm>
          <a:prstGeom prst="roundRect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7" name="Oval 32"/>
          <p:cNvSpPr/>
          <p:nvPr/>
        </p:nvSpPr>
        <p:spPr>
          <a:xfrm>
            <a:off x="749808" y="1792061"/>
            <a:ext cx="420624" cy="420624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49808" y="1910040"/>
            <a:ext cx="42062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61872" y="1749348"/>
            <a:ext cx="960120" cy="5303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50" b="1" dirty="0">
                <a:solidFill>
                  <a:srgbClr val="4A79E8"/>
                </a:solidFill>
                <a:latin typeface="+mn-ea"/>
              </a:rPr>
              <a:t>X/Y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 err="1">
                <a:latin typeface="+mn-ea"/>
              </a:rPr>
              <a:t>스테핑</a:t>
            </a:r>
            <a:endParaRPr dirty="0">
              <a:latin typeface="+mn-ea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2377440" y="1839569"/>
            <a:ext cx="2578608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dirty="0">
                <a:solidFill>
                  <a:srgbClr val="4A79E8"/>
                </a:solidFill>
                <a:latin typeface="+mn-ea"/>
              </a:rPr>
              <a:t>2×5 </a:t>
            </a:r>
            <a:r>
              <a:rPr sz="1700" b="1" dirty="0" err="1">
                <a:solidFill>
                  <a:srgbClr val="4A79E8"/>
                </a:solidFill>
                <a:latin typeface="+mn-ea"/>
              </a:rPr>
              <a:t>좌표</a:t>
            </a:r>
            <a:r>
              <a:rPr sz="1700" b="1" dirty="0">
                <a:solidFill>
                  <a:srgbClr val="4A79E8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4A79E8"/>
                </a:solidFill>
                <a:latin typeface="+mn-ea"/>
              </a:rPr>
              <a:t>기반</a:t>
            </a:r>
            <a:r>
              <a:rPr sz="1700" b="1" dirty="0">
                <a:solidFill>
                  <a:srgbClr val="4A79E8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4A79E8"/>
                </a:solidFill>
                <a:latin typeface="+mn-ea"/>
              </a:rPr>
              <a:t>위치</a:t>
            </a:r>
            <a:r>
              <a:rPr sz="1700" b="1" dirty="0">
                <a:solidFill>
                  <a:srgbClr val="4A79E8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4A79E8"/>
                </a:solidFill>
                <a:latin typeface="+mn-ea"/>
              </a:rPr>
              <a:t>제어</a:t>
            </a:r>
            <a:endParaRPr sz="170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5212080" y="1830302"/>
            <a:ext cx="2743200" cy="4113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70" b="0">
                <a:solidFill>
                  <a:srgbClr val="5F6B7E"/>
                </a:solidFill>
                <a:latin typeface="+mn-ea"/>
              </a:rPr>
              <a:t>일정에 배정된 좌표로 X/Y 이동 · 목표 위치 도착 후 WAIT 전송</a:t>
            </a:r>
          </a:p>
        </p:txBody>
      </p:sp>
      <p:sp>
        <p:nvSpPr>
          <p:cNvPr id="102" name="Rounded Rectangle 37"/>
          <p:cNvSpPr/>
          <p:nvPr/>
        </p:nvSpPr>
        <p:spPr>
          <a:xfrm>
            <a:off x="502920" y="2754942"/>
            <a:ext cx="781812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3" name="Rounded Rectangle 38"/>
          <p:cNvSpPr/>
          <p:nvPr/>
        </p:nvSpPr>
        <p:spPr>
          <a:xfrm>
            <a:off x="521207" y="2773230"/>
            <a:ext cx="54864" cy="950976"/>
          </a:xfrm>
          <a:prstGeom prst="roundRect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4" name="Oval 39"/>
          <p:cNvSpPr/>
          <p:nvPr/>
        </p:nvSpPr>
        <p:spPr>
          <a:xfrm>
            <a:off x="749808" y="3017357"/>
            <a:ext cx="420624" cy="420624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749808" y="3135336"/>
            <a:ext cx="42062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61872" y="2937822"/>
            <a:ext cx="960120" cy="5303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50" b="1" dirty="0">
                <a:solidFill>
                  <a:srgbClr val="19B189"/>
                </a:solidFill>
                <a:latin typeface="+mn-ea"/>
              </a:rPr>
              <a:t>LCD /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 err="1">
                <a:latin typeface="+mn-ea"/>
              </a:rPr>
              <a:t>서보</a:t>
            </a:r>
            <a:endParaRPr dirty="0"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2377440" y="3064865"/>
            <a:ext cx="2578608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19B189"/>
                </a:solidFill>
                <a:latin typeface="+mn-ea"/>
              </a:rPr>
              <a:t>사용자 승인 후 서보 압출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12080" y="3055598"/>
            <a:ext cx="2743200" cy="4113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70" b="0">
                <a:solidFill>
                  <a:srgbClr val="5F6B7E"/>
                </a:solidFill>
                <a:latin typeface="+mn-ea"/>
              </a:rPr>
              <a:t>WAIT 전에는 배출 버튼 비활성 · DISPENSE 수신 후 서보 1회 구동</a:t>
            </a:r>
          </a:p>
        </p:txBody>
      </p:sp>
      <p:sp>
        <p:nvSpPr>
          <p:cNvPr id="109" name="Rounded Rectangle 44"/>
          <p:cNvSpPr/>
          <p:nvPr/>
        </p:nvSpPr>
        <p:spPr>
          <a:xfrm>
            <a:off x="502920" y="3980238"/>
            <a:ext cx="781812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0" name="Rounded Rectangle 45"/>
          <p:cNvSpPr/>
          <p:nvPr/>
        </p:nvSpPr>
        <p:spPr>
          <a:xfrm>
            <a:off x="521207" y="3998526"/>
            <a:ext cx="54864" cy="950976"/>
          </a:xfrm>
          <a:prstGeom prst="roundRect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1" name="Oval 46"/>
          <p:cNvSpPr/>
          <p:nvPr/>
        </p:nvSpPr>
        <p:spPr>
          <a:xfrm>
            <a:off x="749808" y="4242653"/>
            <a:ext cx="420624" cy="420624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749808" y="4360632"/>
            <a:ext cx="42062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61872" y="4163118"/>
            <a:ext cx="960120" cy="53035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50" b="1" dirty="0">
                <a:solidFill>
                  <a:srgbClr val="F1842B"/>
                </a:solidFill>
                <a:latin typeface="+mn-ea"/>
              </a:rPr>
              <a:t>IR</a:t>
            </a:r>
            <a:r>
              <a:rPr dirty="0">
                <a:latin typeface="+mn-ea"/>
              </a:rPr>
              <a:t/>
            </a:r>
            <a:br>
              <a:rPr dirty="0">
                <a:latin typeface="+mn-ea"/>
              </a:rPr>
            </a:br>
            <a:r>
              <a:rPr dirty="0" err="1">
                <a:latin typeface="+mn-ea"/>
              </a:rPr>
              <a:t>센서</a:t>
            </a:r>
            <a:endParaRPr dirty="0">
              <a:latin typeface="+mn-ea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2377440" y="4290161"/>
            <a:ext cx="2578608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F1842B"/>
                </a:solidFill>
                <a:latin typeface="+mn-ea"/>
              </a:rPr>
              <a:t>정제 배출 통과 감지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12080" y="4280894"/>
            <a:ext cx="2743200" cy="4113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70" b="0">
                <a:solidFill>
                  <a:srgbClr val="5F6B7E"/>
                </a:solidFill>
                <a:latin typeface="+mn-ea"/>
              </a:rPr>
              <a:t>깔때기로 단일 배출구 유도 · RESULT 코드로 성공/미감지 분기</a:t>
            </a:r>
          </a:p>
        </p:txBody>
      </p:sp>
      <p:sp>
        <p:nvSpPr>
          <p:cNvPr id="116" name="Rounded Rectangle 51"/>
          <p:cNvSpPr/>
          <p:nvPr/>
        </p:nvSpPr>
        <p:spPr>
          <a:xfrm>
            <a:off x="502920" y="5205534"/>
            <a:ext cx="7818120" cy="987552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7" name="Rounded Rectangle 52"/>
          <p:cNvSpPr/>
          <p:nvPr/>
        </p:nvSpPr>
        <p:spPr>
          <a:xfrm>
            <a:off x="521207" y="5223822"/>
            <a:ext cx="54864" cy="950976"/>
          </a:xfrm>
          <a:prstGeom prst="roundRect">
            <a:avLst/>
          </a:prstGeom>
          <a:solidFill>
            <a:srgbClr val="2EA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8" name="Oval 53"/>
          <p:cNvSpPr/>
          <p:nvPr/>
        </p:nvSpPr>
        <p:spPr>
          <a:xfrm>
            <a:off x="749808" y="5467949"/>
            <a:ext cx="420624" cy="420624"/>
          </a:xfrm>
          <a:prstGeom prst="ellipse">
            <a:avLst/>
          </a:prstGeom>
          <a:solidFill>
            <a:srgbClr val="2EA1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749808" y="5585928"/>
            <a:ext cx="420624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+mn-ea"/>
              </a:rPr>
              <a:t>4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261872" y="5473136"/>
            <a:ext cx="960120" cy="4591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250" b="1" dirty="0">
                <a:solidFill>
                  <a:srgbClr val="2EA1CB"/>
                </a:solidFill>
                <a:latin typeface="+mn-ea"/>
              </a:rPr>
              <a:t>SG255</a:t>
            </a:r>
            <a:endParaRPr lang="en-US" sz="1250" b="1" dirty="0">
              <a:solidFill>
                <a:srgbClr val="2EA1CB"/>
              </a:solidFill>
              <a:latin typeface="+mn-ea"/>
            </a:endParaRPr>
          </a:p>
          <a:p>
            <a:pPr algn="ctr"/>
            <a:r>
              <a:rPr lang="ko-KR" altLang="en-US" sz="1400" dirty="0">
                <a:latin typeface="+mn-ea"/>
              </a:rPr>
              <a:t>캡쳐</a:t>
            </a:r>
            <a:endParaRPr sz="1250" b="1" dirty="0">
              <a:solidFill>
                <a:srgbClr val="2EA1CB"/>
              </a:solidFill>
              <a:latin typeface="+mn-ea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2377440" y="5514407"/>
            <a:ext cx="2578608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 dirty="0" err="1">
                <a:solidFill>
                  <a:srgbClr val="2EA1CB"/>
                </a:solidFill>
                <a:latin typeface="+mn-ea"/>
              </a:rPr>
              <a:t>원점</a:t>
            </a:r>
            <a:r>
              <a:rPr sz="1700" b="1" dirty="0">
                <a:solidFill>
                  <a:srgbClr val="2EA1CB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2EA1CB"/>
                </a:solidFill>
                <a:latin typeface="+mn-ea"/>
              </a:rPr>
              <a:t>복귀</a:t>
            </a:r>
            <a:r>
              <a:rPr sz="1700" b="1" dirty="0">
                <a:solidFill>
                  <a:srgbClr val="2EA1CB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2EA1CB"/>
                </a:solidFill>
                <a:latin typeface="+mn-ea"/>
              </a:rPr>
              <a:t>위치</a:t>
            </a:r>
            <a:r>
              <a:rPr sz="1700" b="1" dirty="0">
                <a:solidFill>
                  <a:srgbClr val="2EA1CB"/>
                </a:solidFill>
                <a:latin typeface="+mn-ea"/>
              </a:rPr>
              <a:t> </a:t>
            </a:r>
            <a:r>
              <a:rPr sz="1700" b="1" dirty="0" err="1">
                <a:solidFill>
                  <a:srgbClr val="2EA1CB"/>
                </a:solidFill>
                <a:latin typeface="+mn-ea"/>
              </a:rPr>
              <a:t>감지</a:t>
            </a:r>
            <a:endParaRPr sz="1700" b="1" dirty="0">
              <a:solidFill>
                <a:srgbClr val="2EA1CB"/>
              </a:solidFill>
              <a:latin typeface="+mn-ea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5212080" y="5505140"/>
            <a:ext cx="2743200" cy="4113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70" b="0">
                <a:solidFill>
                  <a:srgbClr val="5F6B7E"/>
                </a:solidFill>
                <a:latin typeface="+mn-ea"/>
              </a:rPr>
              <a:t>차광 플래그로 광학식 원점 검출 · 원점 감지 즉시 모터 정지</a:t>
            </a:r>
          </a:p>
        </p:txBody>
      </p:sp>
      <p:sp>
        <p:nvSpPr>
          <p:cNvPr id="123" name="Rounded Rectangle 58"/>
          <p:cNvSpPr/>
          <p:nvPr/>
        </p:nvSpPr>
        <p:spPr>
          <a:xfrm>
            <a:off x="8641080" y="5571294"/>
            <a:ext cx="2880360" cy="841248"/>
          </a:xfrm>
          <a:prstGeom prst="roundRect">
            <a:avLst/>
          </a:prstGeom>
          <a:solidFill>
            <a:srgbClr val="FFF6EC"/>
          </a:solidFill>
          <a:ln w="13970">
            <a:solidFill>
              <a:srgbClr val="F5D2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8887968" y="5754174"/>
            <a:ext cx="2377440" cy="205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00" b="1">
                <a:solidFill>
                  <a:srgbClr val="F1842B"/>
                </a:solidFill>
                <a:latin typeface="+mn-ea"/>
              </a:rPr>
              <a:t>IR 판정 예시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844936" y="6024192"/>
            <a:ext cx="2676504" cy="2436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50" b="1" dirty="0">
                <a:solidFill>
                  <a:srgbClr val="273244"/>
                </a:solidFill>
                <a:latin typeface="+mn-ea"/>
              </a:rPr>
              <a:t>R=</a:t>
            </a:r>
            <a:r>
              <a:rPr lang="en-US" sz="1250" b="1" dirty="0">
                <a:solidFill>
                  <a:srgbClr val="273244"/>
                </a:solidFill>
                <a:latin typeface="+mn-ea"/>
              </a:rPr>
              <a:t>00</a:t>
            </a:r>
            <a:r>
              <a:rPr sz="1250" b="1" dirty="0">
                <a:solidFill>
                  <a:srgbClr val="273244"/>
                </a:solidFill>
                <a:latin typeface="+mn-ea"/>
              </a:rPr>
              <a:t>1 </a:t>
            </a:r>
            <a:r>
              <a:rPr sz="1250" b="1" dirty="0" err="1">
                <a:solidFill>
                  <a:srgbClr val="273244"/>
                </a:solidFill>
                <a:latin typeface="+mn-ea"/>
              </a:rPr>
              <a:t>배출</a:t>
            </a:r>
            <a:r>
              <a:rPr sz="125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250" b="1" dirty="0" err="1">
                <a:solidFill>
                  <a:srgbClr val="273244"/>
                </a:solidFill>
                <a:latin typeface="+mn-ea"/>
              </a:rPr>
              <a:t>감지</a:t>
            </a:r>
            <a:r>
              <a:rPr sz="1250" b="1" dirty="0">
                <a:solidFill>
                  <a:srgbClr val="273244"/>
                </a:solidFill>
                <a:latin typeface="+mn-ea"/>
              </a:rPr>
              <a:t>  |  R=</a:t>
            </a:r>
            <a:r>
              <a:rPr lang="en-US" sz="1250" b="1" dirty="0">
                <a:solidFill>
                  <a:srgbClr val="273244"/>
                </a:solidFill>
                <a:latin typeface="+mn-ea"/>
              </a:rPr>
              <a:t>00</a:t>
            </a:r>
            <a:r>
              <a:rPr sz="1250" b="1" dirty="0">
                <a:solidFill>
                  <a:srgbClr val="273244"/>
                </a:solidFill>
                <a:latin typeface="+mn-ea"/>
              </a:rPr>
              <a:t>2 </a:t>
            </a:r>
            <a:r>
              <a:rPr lang="ko-KR" altLang="en-US" sz="1250" b="1" dirty="0">
                <a:solidFill>
                  <a:srgbClr val="273244"/>
                </a:solidFill>
                <a:latin typeface="+mn-ea"/>
              </a:rPr>
              <a:t>빈 슬롯</a:t>
            </a:r>
            <a:endParaRPr sz="1250" b="1" dirty="0">
              <a:solidFill>
                <a:srgbClr val="27324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441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프로그램 설명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en-US" altLang="ko-KR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LCD UI /  Web /</a:t>
            </a:r>
            <a:r>
              <a:rPr lang="ko-KR" altLang="en-US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Database</a:t>
            </a:r>
            <a:endParaRPr lang="ko-KR" altLang="en-US" sz="3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Rounded Rectangle 4"/>
          <p:cNvSpPr/>
          <p:nvPr/>
        </p:nvSpPr>
        <p:spPr>
          <a:xfrm>
            <a:off x="411480" y="1456494"/>
            <a:ext cx="11384280" cy="192024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" name="Rounded Rectangle 5"/>
          <p:cNvSpPr/>
          <p:nvPr/>
        </p:nvSpPr>
        <p:spPr>
          <a:xfrm>
            <a:off x="417830" y="1462844"/>
            <a:ext cx="69850" cy="1908006"/>
          </a:xfrm>
          <a:prstGeom prst="round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" name="Oval 6"/>
          <p:cNvSpPr/>
          <p:nvPr/>
        </p:nvSpPr>
        <p:spPr>
          <a:xfrm>
            <a:off x="585216" y="1602798"/>
            <a:ext cx="329184" cy="329184"/>
          </a:xfrm>
          <a:prstGeom prst="ellipse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5216" y="1648126"/>
            <a:ext cx="329184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566222"/>
            <a:ext cx="106070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4674E8"/>
                </a:solidFill>
                <a:latin typeface="+mn-ea"/>
              </a:rPr>
              <a:t>LCD UI — 복약 사용자 인터페이스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1877118"/>
            <a:ext cx="1056132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lang="ko-KR" altLang="en-US" sz="1080" dirty="0">
                <a:solidFill>
                  <a:srgbClr val="606F88"/>
                </a:solidFill>
                <a:latin typeface="+mn-ea"/>
              </a:rPr>
              <a:t>사용자 편의</a:t>
            </a:r>
            <a:r>
              <a:rPr sz="1080" b="0" dirty="0">
                <a:solidFill>
                  <a:srgbClr val="606F88"/>
                </a:solidFill>
                <a:latin typeface="+mn-ea"/>
              </a:rPr>
              <a:t>을 </a:t>
            </a:r>
            <a:r>
              <a:rPr sz="1080" b="0" dirty="0" err="1">
                <a:solidFill>
                  <a:srgbClr val="606F88"/>
                </a:solidFill>
                <a:latin typeface="+mn-ea"/>
              </a:rPr>
              <a:t>고려한</a:t>
            </a:r>
            <a:r>
              <a:rPr sz="1080" b="0" dirty="0">
                <a:solidFill>
                  <a:srgbClr val="606F88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606F88"/>
                </a:solidFill>
                <a:latin typeface="+mn-ea"/>
              </a:rPr>
              <a:t>단순</a:t>
            </a:r>
            <a:r>
              <a:rPr sz="1080" b="0" dirty="0">
                <a:solidFill>
                  <a:srgbClr val="606F88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606F88"/>
                </a:solidFill>
                <a:latin typeface="+mn-ea"/>
              </a:rPr>
              <a:t>조회·복약</a:t>
            </a:r>
            <a:r>
              <a:rPr sz="1080" b="0" dirty="0">
                <a:solidFill>
                  <a:srgbClr val="606F88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606F88"/>
                </a:solidFill>
                <a:latin typeface="+mn-ea"/>
              </a:rPr>
              <a:t>중심</a:t>
            </a:r>
            <a:r>
              <a:rPr sz="1080" b="0" dirty="0">
                <a:solidFill>
                  <a:srgbClr val="606F88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606F88"/>
                </a:solidFill>
                <a:latin typeface="+mn-ea"/>
              </a:rPr>
              <a:t>화면</a:t>
            </a:r>
            <a:endParaRPr sz="1080" b="0" dirty="0">
              <a:solidFill>
                <a:srgbClr val="606F88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2376" y="2114862"/>
            <a:ext cx="164592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 dirty="0">
                <a:solidFill>
                  <a:srgbClr val="606F88"/>
                </a:solidFill>
                <a:latin typeface="+mn-ea"/>
              </a:rPr>
              <a:t>HOME </a:t>
            </a:r>
            <a:r>
              <a:rPr sz="1100" b="1" dirty="0" err="1">
                <a:solidFill>
                  <a:srgbClr val="606F88"/>
                </a:solidFill>
                <a:latin typeface="+mn-ea"/>
              </a:rPr>
              <a:t>표시</a:t>
            </a:r>
            <a:r>
              <a:rPr sz="1100" b="1" dirty="0">
                <a:solidFill>
                  <a:srgbClr val="606F88"/>
                </a:solidFill>
                <a:latin typeface="+mn-ea"/>
              </a:rPr>
              <a:t> </a:t>
            </a:r>
            <a:r>
              <a:rPr sz="1100" b="1" dirty="0" err="1">
                <a:solidFill>
                  <a:srgbClr val="606F88"/>
                </a:solidFill>
                <a:latin typeface="+mn-ea"/>
              </a:rPr>
              <a:t>정보</a:t>
            </a:r>
            <a:endParaRPr sz="1100" b="1" dirty="0">
              <a:solidFill>
                <a:srgbClr val="606F88"/>
              </a:solidFill>
              <a:latin typeface="+mn-ea"/>
            </a:endParaRPr>
          </a:p>
        </p:txBody>
      </p:sp>
      <p:sp>
        <p:nvSpPr>
          <p:cNvPr id="15" name="Rounded Rectangle 11"/>
          <p:cNvSpPr/>
          <p:nvPr/>
        </p:nvSpPr>
        <p:spPr>
          <a:xfrm>
            <a:off x="722376" y="2389182"/>
            <a:ext cx="841248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6" name="Rectangle 12"/>
          <p:cNvSpPr/>
          <p:nvPr/>
        </p:nvSpPr>
        <p:spPr>
          <a:xfrm>
            <a:off x="722376" y="2389182"/>
            <a:ext cx="43180" cy="329184"/>
          </a:xfrm>
          <a:prstGeom prst="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3976" y="2472982"/>
            <a:ext cx="71424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현재 시각</a:t>
            </a:r>
          </a:p>
        </p:txBody>
      </p:sp>
      <p:sp>
        <p:nvSpPr>
          <p:cNvPr id="18" name="Rounded Rectangle 14"/>
          <p:cNvSpPr/>
          <p:nvPr/>
        </p:nvSpPr>
        <p:spPr>
          <a:xfrm>
            <a:off x="1636776" y="2389182"/>
            <a:ext cx="932688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9" name="Rectangle 15"/>
          <p:cNvSpPr/>
          <p:nvPr/>
        </p:nvSpPr>
        <p:spPr>
          <a:xfrm>
            <a:off x="1636776" y="2389182"/>
            <a:ext cx="43180" cy="329184"/>
          </a:xfrm>
          <a:prstGeom prst="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738376" y="2472982"/>
            <a:ext cx="80568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다음 복약</a:t>
            </a:r>
          </a:p>
        </p:txBody>
      </p:sp>
      <p:sp>
        <p:nvSpPr>
          <p:cNvPr id="21" name="Rounded Rectangle 17"/>
          <p:cNvSpPr/>
          <p:nvPr/>
        </p:nvSpPr>
        <p:spPr>
          <a:xfrm>
            <a:off x="2642616" y="2389182"/>
            <a:ext cx="9144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2" name="Rectangle 18"/>
          <p:cNvSpPr/>
          <p:nvPr/>
        </p:nvSpPr>
        <p:spPr>
          <a:xfrm>
            <a:off x="2642616" y="2389182"/>
            <a:ext cx="43180" cy="329184"/>
          </a:xfrm>
          <a:prstGeom prst="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744216" y="2472982"/>
            <a:ext cx="787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남은 시간</a:t>
            </a:r>
          </a:p>
        </p:txBody>
      </p:sp>
      <p:sp>
        <p:nvSpPr>
          <p:cNvPr id="24" name="Rounded Rectangle 20"/>
          <p:cNvSpPr/>
          <p:nvPr/>
        </p:nvSpPr>
        <p:spPr>
          <a:xfrm>
            <a:off x="3630168" y="2389182"/>
            <a:ext cx="859536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5" name="Rectangle 21"/>
          <p:cNvSpPr/>
          <p:nvPr/>
        </p:nvSpPr>
        <p:spPr>
          <a:xfrm>
            <a:off x="3630168" y="2389182"/>
            <a:ext cx="43180" cy="329184"/>
          </a:xfrm>
          <a:prstGeom prst="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31768" y="2472982"/>
            <a:ext cx="732536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약 이름</a:t>
            </a:r>
          </a:p>
        </p:txBody>
      </p:sp>
      <p:sp>
        <p:nvSpPr>
          <p:cNvPr id="27" name="Rounded Rectangle 23"/>
          <p:cNvSpPr/>
          <p:nvPr/>
        </p:nvSpPr>
        <p:spPr>
          <a:xfrm>
            <a:off x="4562856" y="2389182"/>
            <a:ext cx="914400" cy="3291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8" name="Rectangle 24"/>
          <p:cNvSpPr/>
          <p:nvPr/>
        </p:nvSpPr>
        <p:spPr>
          <a:xfrm>
            <a:off x="4562856" y="2389182"/>
            <a:ext cx="43180" cy="329184"/>
          </a:xfrm>
          <a:prstGeom prst="rect">
            <a:avLst/>
          </a:prstGeom>
          <a:solidFill>
            <a:srgbClr val="467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4456" y="2472982"/>
            <a:ext cx="787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대상 슬롯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128" y="2114862"/>
            <a:ext cx="96012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1">
                <a:solidFill>
                  <a:srgbClr val="606F88"/>
                </a:solidFill>
                <a:latin typeface="+mn-ea"/>
              </a:rPr>
              <a:t>복약 상태</a:t>
            </a:r>
          </a:p>
        </p:txBody>
      </p:sp>
      <p:sp>
        <p:nvSpPr>
          <p:cNvPr id="31" name="Rounded Rectangle 27"/>
          <p:cNvSpPr/>
          <p:nvPr/>
        </p:nvSpPr>
        <p:spPr>
          <a:xfrm>
            <a:off x="5577840" y="2370894"/>
            <a:ext cx="1024128" cy="3657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7C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77840" y="2472213"/>
            <a:ext cx="1024128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>
                <a:solidFill>
                  <a:srgbClr val="4674E8"/>
                </a:solidFill>
                <a:latin typeface="+mn-ea"/>
              </a:rPr>
              <a:t>위치 이동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2389182"/>
            <a:ext cx="237744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500" b="0">
                <a:solidFill>
                  <a:srgbClr val="606F88"/>
                </a:solidFill>
                <a:latin typeface="+mn-ea"/>
              </a:rPr>
              <a:t>→</a:t>
            </a:r>
          </a:p>
        </p:txBody>
      </p:sp>
      <p:sp>
        <p:nvSpPr>
          <p:cNvPr id="34" name="Rounded Rectangle 30"/>
          <p:cNvSpPr/>
          <p:nvPr/>
        </p:nvSpPr>
        <p:spPr>
          <a:xfrm>
            <a:off x="6839712" y="2370894"/>
            <a:ext cx="1024128" cy="3657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7C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39712" y="2472213"/>
            <a:ext cx="1024128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>
                <a:solidFill>
                  <a:srgbClr val="4674E8"/>
                </a:solidFill>
                <a:latin typeface="+mn-ea"/>
              </a:rPr>
              <a:t>배출 준비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2389182"/>
            <a:ext cx="237744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500" b="0">
                <a:solidFill>
                  <a:srgbClr val="606F88"/>
                </a:solidFill>
                <a:latin typeface="+mn-ea"/>
              </a:rPr>
              <a:t>→</a:t>
            </a:r>
          </a:p>
        </p:txBody>
      </p:sp>
      <p:sp>
        <p:nvSpPr>
          <p:cNvPr id="37" name="Rounded Rectangle 33"/>
          <p:cNvSpPr/>
          <p:nvPr/>
        </p:nvSpPr>
        <p:spPr>
          <a:xfrm>
            <a:off x="8101584" y="2370894"/>
            <a:ext cx="1024128" cy="3657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7C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01584" y="2472213"/>
            <a:ext cx="1024128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>
                <a:solidFill>
                  <a:srgbClr val="4674E8"/>
                </a:solidFill>
                <a:latin typeface="+mn-ea"/>
              </a:rPr>
              <a:t>배출 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389182"/>
            <a:ext cx="237744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500" b="0">
                <a:solidFill>
                  <a:srgbClr val="606F88"/>
                </a:solidFill>
                <a:latin typeface="+mn-ea"/>
              </a:rPr>
              <a:t>→</a:t>
            </a:r>
          </a:p>
        </p:txBody>
      </p:sp>
      <p:sp>
        <p:nvSpPr>
          <p:cNvPr id="40" name="Rounded Rectangle 36"/>
          <p:cNvSpPr/>
          <p:nvPr/>
        </p:nvSpPr>
        <p:spPr>
          <a:xfrm>
            <a:off x="9363456" y="2370894"/>
            <a:ext cx="1170432" cy="36576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B7C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363456" y="2472213"/>
            <a:ext cx="1170432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60" b="1">
                <a:solidFill>
                  <a:srgbClr val="4674E8"/>
                </a:solidFill>
                <a:latin typeface="+mn-ea"/>
              </a:rPr>
              <a:t>성공 / 실패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2873814"/>
            <a:ext cx="4572000" cy="2405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30" b="0">
                <a:solidFill>
                  <a:srgbClr val="191D24"/>
                </a:solidFill>
                <a:latin typeface="+mn-ea"/>
              </a:rPr>
              <a:t>오류 표시  |  미복약 · 통신 오류 · 장치 오류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96128" y="2873814"/>
            <a:ext cx="5669280" cy="4237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210" b="0">
                <a:solidFill>
                  <a:srgbClr val="191D24"/>
                </a:solidFill>
                <a:latin typeface="+mn-ea"/>
              </a:rPr>
              <a:t>환경 설정  |  음성 반복 1~10회 · 볼륨 0~10단계 · 블리스터 초기화 · 시스템 재시작/종료</a:t>
            </a:r>
          </a:p>
        </p:txBody>
      </p:sp>
      <p:sp>
        <p:nvSpPr>
          <p:cNvPr id="44" name="Rounded Rectangle 40"/>
          <p:cNvSpPr/>
          <p:nvPr/>
        </p:nvSpPr>
        <p:spPr>
          <a:xfrm>
            <a:off x="411480" y="3504297"/>
            <a:ext cx="11384280" cy="1335024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5" name="Rounded Rectangle 41"/>
          <p:cNvSpPr/>
          <p:nvPr/>
        </p:nvSpPr>
        <p:spPr>
          <a:xfrm>
            <a:off x="417830" y="3510647"/>
            <a:ext cx="69850" cy="1322324"/>
          </a:xfrm>
          <a:prstGeom prst="round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6" name="Oval 42"/>
          <p:cNvSpPr/>
          <p:nvPr/>
        </p:nvSpPr>
        <p:spPr>
          <a:xfrm>
            <a:off x="585216" y="3650601"/>
            <a:ext cx="329184" cy="329184"/>
          </a:xfrm>
          <a:prstGeom prst="ellipse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85216" y="3695929"/>
            <a:ext cx="329184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" y="3614025"/>
            <a:ext cx="106070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>
                <a:solidFill>
                  <a:srgbClr val="11A87F"/>
                </a:solidFill>
                <a:latin typeface="+mn-ea"/>
              </a:rPr>
              <a:t>관리자 Local Web — 복약 일정 관리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3272" y="3924921"/>
            <a:ext cx="1056132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>
                <a:solidFill>
                  <a:srgbClr val="606F88"/>
                </a:solidFill>
                <a:latin typeface="+mn-ea"/>
              </a:rPr>
              <a:t>관리자 인증 후 일정 등록·조회·삭제 및 상태 확인</a:t>
            </a:r>
          </a:p>
        </p:txBody>
      </p:sp>
      <p:sp>
        <p:nvSpPr>
          <p:cNvPr id="50" name="Rounded Rectangle 46"/>
          <p:cNvSpPr/>
          <p:nvPr/>
        </p:nvSpPr>
        <p:spPr>
          <a:xfrm>
            <a:off x="722376" y="4217529"/>
            <a:ext cx="1280160" cy="329184"/>
          </a:xfrm>
          <a:prstGeom prst="roundRect">
            <a:avLst/>
          </a:prstGeom>
          <a:solidFill>
            <a:srgbClr val="EEFAF6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1" name="Rectangle 47"/>
          <p:cNvSpPr/>
          <p:nvPr/>
        </p:nvSpPr>
        <p:spPr>
          <a:xfrm>
            <a:off x="722376" y="4217529"/>
            <a:ext cx="43180" cy="329184"/>
          </a:xfrm>
          <a:prstGeom prst="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23976" y="4300560"/>
            <a:ext cx="1153160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60" b="0">
                <a:solidFill>
                  <a:srgbClr val="313C4F"/>
                </a:solidFill>
                <a:latin typeface="+mn-ea"/>
              </a:rPr>
              <a:t>관리자 인증</a:t>
            </a:r>
          </a:p>
        </p:txBody>
      </p:sp>
      <p:sp>
        <p:nvSpPr>
          <p:cNvPr id="53" name="Rounded Rectangle 49"/>
          <p:cNvSpPr/>
          <p:nvPr/>
        </p:nvSpPr>
        <p:spPr>
          <a:xfrm>
            <a:off x="2121408" y="4217529"/>
            <a:ext cx="2788920" cy="329184"/>
          </a:xfrm>
          <a:prstGeom prst="roundRect">
            <a:avLst/>
          </a:prstGeom>
          <a:solidFill>
            <a:srgbClr val="EEFAF6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4" name="Rectangle 50"/>
          <p:cNvSpPr/>
          <p:nvPr/>
        </p:nvSpPr>
        <p:spPr>
          <a:xfrm>
            <a:off x="2121408" y="4217529"/>
            <a:ext cx="43180" cy="329184"/>
          </a:xfrm>
          <a:prstGeom prst="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223008" y="4301329"/>
            <a:ext cx="266192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약 이름 · 날짜 · 시각 · 복약 허용시간 등록</a:t>
            </a:r>
          </a:p>
        </p:txBody>
      </p:sp>
      <p:sp>
        <p:nvSpPr>
          <p:cNvPr id="56" name="Rounded Rectangle 52"/>
          <p:cNvSpPr/>
          <p:nvPr/>
        </p:nvSpPr>
        <p:spPr>
          <a:xfrm>
            <a:off x="5038344" y="4217529"/>
            <a:ext cx="1965960" cy="329184"/>
          </a:xfrm>
          <a:prstGeom prst="roundRect">
            <a:avLst/>
          </a:prstGeom>
          <a:solidFill>
            <a:srgbClr val="EEFAF6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7" name="Rectangle 53"/>
          <p:cNvSpPr/>
          <p:nvPr/>
        </p:nvSpPr>
        <p:spPr>
          <a:xfrm>
            <a:off x="5038344" y="4217529"/>
            <a:ext cx="43180" cy="329184"/>
          </a:xfrm>
          <a:prstGeom prst="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5139944" y="4300560"/>
            <a:ext cx="1838960" cy="16312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60" b="0">
                <a:solidFill>
                  <a:srgbClr val="313C4F"/>
                </a:solidFill>
                <a:latin typeface="+mn-ea"/>
              </a:rPr>
              <a:t>예약 조회 및 삭제</a:t>
            </a:r>
          </a:p>
        </p:txBody>
      </p:sp>
      <p:sp>
        <p:nvSpPr>
          <p:cNvPr id="59" name="Rounded Rectangle 55"/>
          <p:cNvSpPr/>
          <p:nvPr/>
        </p:nvSpPr>
        <p:spPr>
          <a:xfrm>
            <a:off x="7132320" y="4217529"/>
            <a:ext cx="2057400" cy="329184"/>
          </a:xfrm>
          <a:prstGeom prst="roundRect">
            <a:avLst/>
          </a:prstGeom>
          <a:solidFill>
            <a:srgbClr val="EEFAF6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0" name="Rectangle 56"/>
          <p:cNvSpPr/>
          <p:nvPr/>
        </p:nvSpPr>
        <p:spPr>
          <a:xfrm>
            <a:off x="7132320" y="4217529"/>
            <a:ext cx="43180" cy="329184"/>
          </a:xfrm>
          <a:prstGeom prst="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33920" y="4301329"/>
            <a:ext cx="1930400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313C4F"/>
                </a:solidFill>
                <a:latin typeface="+mn-ea"/>
              </a:rPr>
              <a:t>동일 시각 중복 예약 방지</a:t>
            </a:r>
          </a:p>
        </p:txBody>
      </p:sp>
      <p:sp>
        <p:nvSpPr>
          <p:cNvPr id="62" name="Rounded Rectangle 58"/>
          <p:cNvSpPr/>
          <p:nvPr/>
        </p:nvSpPr>
        <p:spPr>
          <a:xfrm>
            <a:off x="9317736" y="4217529"/>
            <a:ext cx="2148840" cy="329184"/>
          </a:xfrm>
          <a:prstGeom prst="roundRect">
            <a:avLst/>
          </a:prstGeom>
          <a:solidFill>
            <a:srgbClr val="EEFAF6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3" name="Rectangle 59"/>
          <p:cNvSpPr/>
          <p:nvPr/>
        </p:nvSpPr>
        <p:spPr>
          <a:xfrm>
            <a:off x="9317736" y="4217529"/>
            <a:ext cx="43180" cy="329184"/>
          </a:xfrm>
          <a:prstGeom prst="rect">
            <a:avLst/>
          </a:prstGeom>
          <a:solidFill>
            <a:srgbClr val="11A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419336" y="4302099"/>
            <a:ext cx="2021840" cy="160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40" b="0">
                <a:solidFill>
                  <a:srgbClr val="313C4F"/>
                </a:solidFill>
                <a:latin typeface="+mn-ea"/>
              </a:rPr>
              <a:t>복약 기록 · 장치 상태 조회</a:t>
            </a:r>
          </a:p>
        </p:txBody>
      </p:sp>
      <p:sp>
        <p:nvSpPr>
          <p:cNvPr id="65" name="Rounded Rectangle 61"/>
          <p:cNvSpPr/>
          <p:nvPr/>
        </p:nvSpPr>
        <p:spPr>
          <a:xfrm>
            <a:off x="411480" y="4988334"/>
            <a:ext cx="11384280" cy="1141533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6" name="Rounded Rectangle 62"/>
          <p:cNvSpPr/>
          <p:nvPr/>
        </p:nvSpPr>
        <p:spPr>
          <a:xfrm>
            <a:off x="417830" y="4994684"/>
            <a:ext cx="69850" cy="1130044"/>
          </a:xfrm>
          <a:prstGeom prst="round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7" name="Oval 63"/>
          <p:cNvSpPr/>
          <p:nvPr/>
        </p:nvSpPr>
        <p:spPr>
          <a:xfrm>
            <a:off x="585216" y="5134638"/>
            <a:ext cx="329184" cy="329184"/>
          </a:xfrm>
          <a:prstGeom prst="ellipse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85216" y="5179966"/>
            <a:ext cx="329184" cy="23852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" y="5098062"/>
            <a:ext cx="106070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000" b="1" dirty="0">
                <a:solidFill>
                  <a:srgbClr val="F0831F"/>
                </a:solidFill>
                <a:latin typeface="+mn-ea"/>
              </a:rPr>
              <a:t>SQLite — </a:t>
            </a:r>
            <a:r>
              <a:rPr sz="2000" b="1" dirty="0" err="1">
                <a:solidFill>
                  <a:srgbClr val="F0831F"/>
                </a:solidFill>
                <a:latin typeface="+mn-ea"/>
              </a:rPr>
              <a:t>로컬</a:t>
            </a:r>
            <a:r>
              <a:rPr sz="2000" b="1" dirty="0">
                <a:solidFill>
                  <a:srgbClr val="F0831F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F0831F"/>
                </a:solidFill>
                <a:latin typeface="+mn-ea"/>
              </a:rPr>
              <a:t>저장</a:t>
            </a:r>
            <a:endParaRPr sz="2000" b="1" dirty="0">
              <a:solidFill>
                <a:srgbClr val="F0831F"/>
              </a:solidFill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33272" y="5408958"/>
            <a:ext cx="10561320" cy="21945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>
                <a:solidFill>
                  <a:srgbClr val="606F88"/>
                </a:solidFill>
                <a:latin typeface="+mn-ea"/>
              </a:rPr>
              <a:t>예약·통신·상태 정보를 장치 내부에 저장</a:t>
            </a:r>
          </a:p>
        </p:txBody>
      </p:sp>
      <p:sp>
        <p:nvSpPr>
          <p:cNvPr id="71" name="Rounded Rectangle 67"/>
          <p:cNvSpPr/>
          <p:nvPr/>
        </p:nvSpPr>
        <p:spPr>
          <a:xfrm>
            <a:off x="722376" y="5664990"/>
            <a:ext cx="960120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2" name="Rectangle 68"/>
          <p:cNvSpPr/>
          <p:nvPr/>
        </p:nvSpPr>
        <p:spPr>
          <a:xfrm>
            <a:off x="722376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23976" y="5752638"/>
            <a:ext cx="83312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예약 정보</a:t>
            </a:r>
          </a:p>
        </p:txBody>
      </p:sp>
      <p:sp>
        <p:nvSpPr>
          <p:cNvPr id="74" name="Rounded Rectangle 70"/>
          <p:cNvSpPr/>
          <p:nvPr/>
        </p:nvSpPr>
        <p:spPr>
          <a:xfrm>
            <a:off x="1801589" y="5664990"/>
            <a:ext cx="1901952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5" name="Rectangle 71"/>
          <p:cNvSpPr/>
          <p:nvPr/>
        </p:nvSpPr>
        <p:spPr>
          <a:xfrm>
            <a:off x="1801589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903189" y="5752638"/>
            <a:ext cx="177495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MOVE / DISPENSE 요청번호</a:t>
            </a:r>
          </a:p>
        </p:txBody>
      </p:sp>
      <p:sp>
        <p:nvSpPr>
          <p:cNvPr id="77" name="Rounded Rectangle 73"/>
          <p:cNvSpPr/>
          <p:nvPr/>
        </p:nvSpPr>
        <p:spPr>
          <a:xfrm>
            <a:off x="3822634" y="5664990"/>
            <a:ext cx="1883664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8" name="Rectangle 74"/>
          <p:cNvSpPr/>
          <p:nvPr/>
        </p:nvSpPr>
        <p:spPr>
          <a:xfrm>
            <a:off x="3822634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924234" y="5752638"/>
            <a:ext cx="1756664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ACK / WAIT / RESULT 시각</a:t>
            </a:r>
          </a:p>
        </p:txBody>
      </p:sp>
      <p:sp>
        <p:nvSpPr>
          <p:cNvPr id="80" name="Rounded Rectangle 76"/>
          <p:cNvSpPr/>
          <p:nvPr/>
        </p:nvSpPr>
        <p:spPr>
          <a:xfrm>
            <a:off x="5825391" y="5664990"/>
            <a:ext cx="987552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1" name="Rectangle 77"/>
          <p:cNvSpPr/>
          <p:nvPr/>
        </p:nvSpPr>
        <p:spPr>
          <a:xfrm>
            <a:off x="5825391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926991" y="5752638"/>
            <a:ext cx="86055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최종 결과</a:t>
            </a:r>
          </a:p>
        </p:txBody>
      </p:sp>
      <p:sp>
        <p:nvSpPr>
          <p:cNvPr id="83" name="Rounded Rectangle 79"/>
          <p:cNvSpPr/>
          <p:nvPr/>
        </p:nvSpPr>
        <p:spPr>
          <a:xfrm>
            <a:off x="6943053" y="5664990"/>
            <a:ext cx="804672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4" name="Rectangle 80"/>
          <p:cNvSpPr/>
          <p:nvPr/>
        </p:nvSpPr>
        <p:spPr>
          <a:xfrm>
            <a:off x="6943053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044653" y="5752638"/>
            <a:ext cx="6776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설정값</a:t>
            </a:r>
          </a:p>
        </p:txBody>
      </p:sp>
      <p:sp>
        <p:nvSpPr>
          <p:cNvPr id="86" name="Rounded Rectangle 82"/>
          <p:cNvSpPr/>
          <p:nvPr/>
        </p:nvSpPr>
        <p:spPr>
          <a:xfrm>
            <a:off x="7877835" y="5664990"/>
            <a:ext cx="914400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7" name="Rectangle 83"/>
          <p:cNvSpPr/>
          <p:nvPr/>
        </p:nvSpPr>
        <p:spPr>
          <a:xfrm>
            <a:off x="7877835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979435" y="5752638"/>
            <a:ext cx="7874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현재 슬롯</a:t>
            </a:r>
          </a:p>
        </p:txBody>
      </p:sp>
      <p:sp>
        <p:nvSpPr>
          <p:cNvPr id="89" name="Rounded Rectangle 85"/>
          <p:cNvSpPr/>
          <p:nvPr/>
        </p:nvSpPr>
        <p:spPr>
          <a:xfrm>
            <a:off x="8911328" y="5664990"/>
            <a:ext cx="987552" cy="329184"/>
          </a:xfrm>
          <a:prstGeom prst="roundRect">
            <a:avLst/>
          </a:prstGeom>
          <a:solidFill>
            <a:srgbClr val="FFF7EE"/>
          </a:solidFill>
          <a:ln w="10160">
            <a:solidFill>
              <a:srgbClr val="D3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0" name="Rectangle 86"/>
          <p:cNvSpPr/>
          <p:nvPr/>
        </p:nvSpPr>
        <p:spPr>
          <a:xfrm>
            <a:off x="8911328" y="5664990"/>
            <a:ext cx="43180" cy="329184"/>
          </a:xfrm>
          <a:prstGeom prst="rect">
            <a:avLst/>
          </a:prstGeom>
          <a:solidFill>
            <a:srgbClr val="F08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9012928" y="5752638"/>
            <a:ext cx="86055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13C4F"/>
                </a:solidFill>
                <a:latin typeface="+mn-ea"/>
              </a:rPr>
              <a:t>이벤트 로그</a:t>
            </a:r>
          </a:p>
        </p:txBody>
      </p:sp>
      <p:sp>
        <p:nvSpPr>
          <p:cNvPr id="92" name="Rounded Rectangle 88"/>
          <p:cNvSpPr/>
          <p:nvPr/>
        </p:nvSpPr>
        <p:spPr>
          <a:xfrm>
            <a:off x="411480" y="6202029"/>
            <a:ext cx="11384280" cy="541671"/>
          </a:xfrm>
          <a:prstGeom prst="roundRect">
            <a:avLst/>
          </a:prstGeom>
          <a:solidFill>
            <a:srgbClr val="F0F3F8"/>
          </a:solidFill>
          <a:ln w="10160">
            <a:solidFill>
              <a:srgbClr val="CD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566928" y="6296377"/>
            <a:ext cx="11434572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 err="1">
                <a:solidFill>
                  <a:srgbClr val="313C4F"/>
                </a:solidFill>
                <a:latin typeface="+mn-ea"/>
              </a:rPr>
              <a:t>LCD에서는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일정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등록·수정·삭제를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수행하지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않고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Web에서만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313C4F"/>
                </a:solidFill>
                <a:latin typeface="+mn-ea"/>
              </a:rPr>
              <a:t>관리</a:t>
            </a:r>
            <a:r>
              <a:rPr sz="1200" b="1" dirty="0">
                <a:solidFill>
                  <a:srgbClr val="313C4F"/>
                </a:solidFill>
                <a:latin typeface="+mn-ea"/>
              </a:rPr>
              <a:t>  · </a:t>
            </a:r>
            <a:r>
              <a:rPr lang="ko-KR" altLang="en-US" sz="1200" b="1" dirty="0">
                <a:latin typeface="+mn-ea"/>
              </a:rPr>
              <a:t>외부 인터넷 없이 로컬 </a:t>
            </a:r>
            <a:r>
              <a:rPr lang="en-US" altLang="ko-KR" sz="1200" b="1" dirty="0">
                <a:latin typeface="+mn-ea"/>
              </a:rPr>
              <a:t>AP </a:t>
            </a:r>
            <a:r>
              <a:rPr lang="ko-KR" altLang="en-US" sz="1200" b="1" dirty="0">
                <a:latin typeface="+mn-ea"/>
              </a:rPr>
              <a:t>기반으로 예약</a:t>
            </a:r>
            <a:r>
              <a:rPr lang="en-US" altLang="ko-KR" sz="1200" b="1" dirty="0">
                <a:latin typeface="+mn-ea"/>
              </a:rPr>
              <a:t>·LCD·</a:t>
            </a:r>
            <a:r>
              <a:rPr lang="ko-KR" altLang="en-US" sz="1200" b="1" dirty="0">
                <a:latin typeface="+mn-ea"/>
              </a:rPr>
              <a:t>음성</a:t>
            </a:r>
            <a:r>
              <a:rPr lang="en-US" altLang="ko-KR" sz="1200" b="1" dirty="0">
                <a:latin typeface="+mn-ea"/>
              </a:rPr>
              <a:t>·UART </a:t>
            </a:r>
            <a:r>
              <a:rPr lang="ko-KR" altLang="en-US" sz="1200" b="1" dirty="0">
                <a:latin typeface="+mn-ea"/>
              </a:rPr>
              <a:t>기능 동작 </a:t>
            </a:r>
            <a:endParaRPr lang="en-US" altLang="ko-KR" sz="1200" b="1" dirty="0">
              <a:latin typeface="+mn-ea"/>
            </a:endParaRPr>
          </a:p>
          <a:p>
            <a:pPr algn="ctr"/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재부팅 후 복약 예약 실행 전 단말기의 시간 동기화 필요.</a:t>
            </a:r>
            <a:endParaRPr sz="1000" dirty="0">
              <a:solidFill>
                <a:srgbClr val="313C4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1357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프로그램 설명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en-US" altLang="ko-KR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UART </a:t>
            </a:r>
            <a:r>
              <a:rPr lang="ko-KR" altLang="en-US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통신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81360" y="6815895"/>
            <a:ext cx="658368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>
                <a:solidFill>
                  <a:srgbClr val="A0A8B5"/>
                </a:solidFill>
                <a:latin typeface="+mn-ea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21519"/>
            <a:ext cx="106984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 dirty="0" err="1">
                <a:solidFill>
                  <a:srgbClr val="273244"/>
                </a:solidFill>
                <a:latin typeface="+mn-ea"/>
              </a:rPr>
              <a:t>단순</a:t>
            </a:r>
            <a:r>
              <a:rPr sz="20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273244"/>
                </a:solidFill>
                <a:latin typeface="+mn-ea"/>
              </a:rPr>
              <a:t>문자열</a:t>
            </a:r>
            <a:r>
              <a:rPr sz="20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273244"/>
                </a:solidFill>
                <a:latin typeface="+mn-ea"/>
              </a:rPr>
              <a:t>통신이</a:t>
            </a:r>
            <a:r>
              <a:rPr sz="20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273244"/>
                </a:solidFill>
                <a:latin typeface="+mn-ea"/>
              </a:rPr>
              <a:t>아니라</a:t>
            </a:r>
            <a:r>
              <a:rPr sz="20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smtClean="0">
                <a:solidFill>
                  <a:srgbClr val="273244"/>
                </a:solidFill>
                <a:latin typeface="+mn-ea"/>
              </a:rPr>
              <a:t>“</a:t>
            </a:r>
            <a:r>
              <a:rPr lang="ko-KR" altLang="en-US" sz="2000" b="1" dirty="0">
                <a:solidFill>
                  <a:srgbClr val="273244"/>
                </a:solidFill>
                <a:latin typeface="+mn-ea"/>
              </a:rPr>
              <a:t>오</a:t>
            </a:r>
            <a:r>
              <a:rPr sz="2000" b="1" dirty="0" err="1" smtClean="0">
                <a:solidFill>
                  <a:srgbClr val="273244"/>
                </a:solidFill>
                <a:latin typeface="+mn-ea"/>
              </a:rPr>
              <a:t>동작을</a:t>
            </a:r>
            <a:r>
              <a:rPr sz="2000" b="1" dirty="0" smtClean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err="1" smtClean="0">
                <a:solidFill>
                  <a:srgbClr val="273244"/>
                </a:solidFill>
                <a:latin typeface="+mn-ea"/>
              </a:rPr>
              <a:t>막는</a:t>
            </a:r>
            <a:r>
              <a:rPr sz="2000" b="1" dirty="0" smtClean="0">
                <a:solidFill>
                  <a:srgbClr val="273244"/>
                </a:solidFill>
                <a:latin typeface="+mn-ea"/>
              </a:rPr>
              <a:t> </a:t>
            </a:r>
            <a:r>
              <a:rPr sz="2000" b="1" dirty="0" err="1">
                <a:solidFill>
                  <a:srgbClr val="273244"/>
                </a:solidFill>
                <a:latin typeface="+mn-ea"/>
              </a:rPr>
              <a:t>프로토콜</a:t>
            </a:r>
            <a:r>
              <a:rPr sz="2000" b="1" dirty="0">
                <a:solidFill>
                  <a:srgbClr val="273244"/>
                </a:solidFill>
                <a:latin typeface="+mn-ea"/>
              </a:rPr>
              <a:t>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24847"/>
            <a:ext cx="6739128" cy="401964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932474" y="2326190"/>
            <a:ext cx="2982874" cy="1609345"/>
            <a:chOff x="932474" y="2326190"/>
            <a:chExt cx="2982874" cy="1609345"/>
          </a:xfrm>
        </p:grpSpPr>
        <p:sp>
          <p:nvSpPr>
            <p:cNvPr id="10" name="TextBox 9"/>
            <p:cNvSpPr txBox="1"/>
            <p:nvPr/>
          </p:nvSpPr>
          <p:spPr>
            <a:xfrm>
              <a:off x="932474" y="2326190"/>
              <a:ext cx="2547155" cy="26674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400" b="1" dirty="0" smtClean="0">
                  <a:solidFill>
                    <a:srgbClr val="4A79E8"/>
                  </a:solidFill>
                  <a:latin typeface="+mn-ea"/>
                </a:rPr>
                <a:t>MOVE</a:t>
              </a:r>
              <a:endParaRPr sz="1400" b="1" dirty="0">
                <a:solidFill>
                  <a:srgbClr val="4A79E8"/>
                </a:solidFill>
                <a:latin typeface="+mn-ea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978194" y="2765103"/>
              <a:ext cx="914400" cy="292608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4A79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3594" y="2842157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4A79E8"/>
                  </a:solidFill>
                  <a:latin typeface="+mn-ea"/>
                </a:rPr>
                <a:t>Pi → AT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971268" y="2798120"/>
              <a:ext cx="1944080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273244"/>
                  </a:solidFill>
                  <a:latin typeface="+mn-ea"/>
                </a:rPr>
                <a:t>MOVE|00000001|0|0|003600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978194" y="3204015"/>
              <a:ext cx="914400" cy="292608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4A79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3594" y="3281069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4A79E8"/>
                  </a:solidFill>
                  <a:latin typeface="+mn-ea"/>
                </a:rPr>
                <a:t>AT → Pi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971268" y="3237032"/>
              <a:ext cx="1618824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273244"/>
                  </a:solidFill>
                  <a:latin typeface="+mn-ea"/>
                </a:rPr>
                <a:t>ACK|00000001|MOVE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78194" y="3642927"/>
              <a:ext cx="914400" cy="292608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4A79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003594" y="3719981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4A79E8"/>
                  </a:solidFill>
                  <a:latin typeface="+mn-ea"/>
                </a:rPr>
                <a:t>AT → Pi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971268" y="3675944"/>
              <a:ext cx="1422443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273244"/>
                  </a:solidFill>
                  <a:latin typeface="+mn-ea"/>
                </a:rPr>
                <a:t>WAIT|00000001</a:t>
              </a:r>
            </a:p>
          </p:txBody>
        </p:sp>
      </p:grpSp>
      <p:grpSp>
        <p:nvGrpSpPr>
          <p:cNvPr id="67" name="그룹 66"/>
          <p:cNvGrpSpPr/>
          <p:nvPr/>
        </p:nvGrpSpPr>
        <p:grpSpPr>
          <a:xfrm>
            <a:off x="932474" y="4145847"/>
            <a:ext cx="3068792" cy="1700784"/>
            <a:chOff x="932474" y="4145847"/>
            <a:chExt cx="3068792" cy="1700784"/>
          </a:xfrm>
        </p:grpSpPr>
        <p:sp>
          <p:nvSpPr>
            <p:cNvPr id="20" name="TextBox 19"/>
            <p:cNvSpPr txBox="1"/>
            <p:nvPr/>
          </p:nvSpPr>
          <p:spPr>
            <a:xfrm>
              <a:off x="932474" y="4145847"/>
              <a:ext cx="3068792" cy="26674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400" b="1" dirty="0" smtClean="0">
                  <a:solidFill>
                    <a:srgbClr val="19B189"/>
                  </a:solidFill>
                  <a:latin typeface="+mn-ea"/>
                </a:rPr>
                <a:t>DISPENSE</a:t>
              </a:r>
              <a:endParaRPr sz="1400" b="1" dirty="0">
                <a:solidFill>
                  <a:srgbClr val="19B189"/>
                </a:solidFill>
                <a:latin typeface="+mn-ea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978194" y="4548183"/>
              <a:ext cx="914400" cy="256032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19B1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003594" y="4606949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19B189"/>
                  </a:solidFill>
                  <a:latin typeface="+mn-ea"/>
                </a:rPr>
                <a:t>Pi → AT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971268" y="4572731"/>
              <a:ext cx="1772247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273244"/>
                  </a:solidFill>
                  <a:latin typeface="+mn-ea"/>
                </a:rPr>
                <a:t>DISPENSE|00000002|0|0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978194" y="4895655"/>
              <a:ext cx="914400" cy="256032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19B1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003594" y="4954421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19B189"/>
                  </a:solidFill>
                  <a:latin typeface="+mn-ea"/>
                </a:rPr>
                <a:t>AT → Pi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971268" y="4920203"/>
              <a:ext cx="1815205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273244"/>
                  </a:solidFill>
                  <a:latin typeface="+mn-ea"/>
                </a:rPr>
                <a:t>ACK|00000002|DISPENSE</a:t>
              </a:r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78194" y="5243127"/>
              <a:ext cx="914400" cy="256032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19B1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3594" y="5301893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19B189"/>
                  </a:solidFill>
                  <a:latin typeface="+mn-ea"/>
                </a:rPr>
                <a:t>AT → Pi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971268" y="5267675"/>
              <a:ext cx="1527048" cy="212879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273244"/>
                  </a:solidFill>
                  <a:latin typeface="+mn-ea"/>
                </a:rPr>
                <a:t>RESULT|00000002|001</a:t>
              </a:r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978194" y="5590599"/>
              <a:ext cx="914400" cy="256032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19B18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03594" y="5649365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rgbClr val="19B189"/>
                  </a:solidFill>
                  <a:latin typeface="+mn-ea"/>
                </a:rPr>
                <a:t>Pi → AT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71268" y="5615147"/>
              <a:ext cx="1527048" cy="212879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273244"/>
                  </a:solidFill>
                  <a:latin typeface="+mn-ea"/>
                </a:rPr>
                <a:t>ACK|00000002|RESULT</a:t>
              </a:r>
            </a:p>
          </p:txBody>
        </p:sp>
      </p:grpSp>
      <p:sp>
        <p:nvSpPr>
          <p:cNvPr id="33" name="Rounded Rectangle 32"/>
          <p:cNvSpPr/>
          <p:nvPr/>
        </p:nvSpPr>
        <p:spPr>
          <a:xfrm>
            <a:off x="7543800" y="2106735"/>
            <a:ext cx="3977639" cy="3566160"/>
          </a:xfrm>
          <a:prstGeom prst="roundRect">
            <a:avLst/>
          </a:prstGeom>
          <a:solidFill>
            <a:srgbClr val="FAFBFD"/>
          </a:solidFill>
          <a:ln w="1397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36408" y="2344478"/>
            <a:ext cx="338328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273244"/>
                </a:solidFill>
                <a:latin typeface="+mn-ea"/>
              </a:rPr>
              <a:t>핵심 설계</a:t>
            </a:r>
          </a:p>
        </p:txBody>
      </p:sp>
      <p:sp>
        <p:nvSpPr>
          <p:cNvPr id="35" name="Oval 34"/>
          <p:cNvSpPr/>
          <p:nvPr/>
        </p:nvSpPr>
        <p:spPr>
          <a:xfrm>
            <a:off x="7712867" y="2865687"/>
            <a:ext cx="292608" cy="292608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12867" y="2935048"/>
            <a:ext cx="29260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1392" y="2843387"/>
            <a:ext cx="16651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solidFill>
                  <a:srgbClr val="273244"/>
                </a:solidFill>
                <a:latin typeface="+mn-ea"/>
              </a:rPr>
              <a:t>8자리 </a:t>
            </a:r>
            <a:r>
              <a:rPr sz="1400" b="1" dirty="0">
                <a:solidFill>
                  <a:srgbClr val="273244"/>
                </a:solidFill>
                <a:latin typeface="+mn-ea"/>
              </a:rPr>
              <a:t>Request 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6561" y="2856543"/>
            <a:ext cx="141732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>
                <a:latin typeface="+mn-ea"/>
              </a:rPr>
              <a:t>MOVE / </a:t>
            </a:r>
            <a:r>
              <a:rPr sz="1100" b="0" dirty="0" err="1">
                <a:latin typeface="+mn-ea"/>
              </a:rPr>
              <a:t>DISPENSE별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독립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식별자</a:t>
            </a:r>
            <a:endParaRPr sz="1100" b="0" dirty="0">
              <a:latin typeface="+mn-ea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712867" y="3501198"/>
            <a:ext cx="292608" cy="292608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12867" y="3570559"/>
            <a:ext cx="29260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71392" y="3478898"/>
            <a:ext cx="16651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273244"/>
                </a:solidFill>
                <a:latin typeface="+mn-ea"/>
              </a:rPr>
              <a:t>동일 ID 재전송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86561" y="3492054"/>
            <a:ext cx="1417320" cy="5591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r>
              <a:rPr lang="en-US" altLang="ko-KR" sz="1100" dirty="0">
                <a:latin typeface="+mn-ea"/>
              </a:rPr>
              <a:t>ACK </a:t>
            </a:r>
            <a:r>
              <a:rPr lang="ko-KR" altLang="en-US" sz="1100" dirty="0">
                <a:latin typeface="+mn-ea"/>
              </a:rPr>
              <a:t>누락 시 </a:t>
            </a:r>
            <a:r>
              <a:rPr lang="en-US" altLang="ko-KR" sz="1100" dirty="0">
                <a:latin typeface="+mn-ea"/>
              </a:rPr>
              <a:t>10</a:t>
            </a:r>
            <a:r>
              <a:rPr lang="ko-KR" altLang="en-US" sz="1100" dirty="0">
                <a:latin typeface="+mn-ea"/>
              </a:rPr>
              <a:t>초마다 동일 </a:t>
            </a:r>
            <a:r>
              <a:rPr lang="en-US" altLang="ko-KR" sz="1100" dirty="0">
                <a:latin typeface="+mn-ea"/>
              </a:rPr>
              <a:t>ID/Payload </a:t>
            </a:r>
            <a:r>
              <a:rPr lang="ko-KR" altLang="en-US" sz="1100" dirty="0">
                <a:latin typeface="+mn-ea"/>
              </a:rPr>
              <a:t>재전송</a:t>
            </a:r>
            <a:endParaRPr sz="1100" b="0" dirty="0">
              <a:latin typeface="+mn-ea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7712867" y="4184327"/>
            <a:ext cx="292608" cy="292608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12867" y="4253688"/>
            <a:ext cx="29260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77970" y="4194917"/>
            <a:ext cx="198043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 err="1" smtClean="0">
                <a:solidFill>
                  <a:srgbClr val="273244"/>
                </a:solidFill>
                <a:latin typeface="+mn-ea"/>
              </a:rPr>
              <a:t>중복</a:t>
            </a:r>
            <a:r>
              <a:rPr sz="1600" b="1" dirty="0" smtClean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구동</a:t>
            </a:r>
            <a:r>
              <a:rPr sz="16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73244"/>
                </a:solidFill>
                <a:latin typeface="+mn-ea"/>
              </a:rPr>
              <a:t>차단</a:t>
            </a:r>
            <a:endParaRPr sz="16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986561" y="4175183"/>
            <a:ext cx="141732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 err="1">
                <a:latin typeface="+mn-ea"/>
              </a:rPr>
              <a:t>동일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요청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재수신</a:t>
            </a:r>
            <a:r>
              <a:rPr sz="1100" b="0" dirty="0">
                <a:latin typeface="+mn-ea"/>
              </a:rPr>
              <a:t> 시 </a:t>
            </a:r>
            <a:r>
              <a:rPr sz="1100" b="0" dirty="0" err="1">
                <a:latin typeface="+mn-ea"/>
              </a:rPr>
              <a:t>모터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재동작</a:t>
            </a:r>
            <a:r>
              <a:rPr sz="1100" b="0" dirty="0">
                <a:latin typeface="+mn-ea"/>
              </a:rPr>
              <a:t> </a:t>
            </a:r>
            <a:r>
              <a:rPr sz="1100" b="0" dirty="0" err="1">
                <a:latin typeface="+mn-ea"/>
              </a:rPr>
              <a:t>금지</a:t>
            </a:r>
            <a:endParaRPr sz="1100" b="0" dirty="0"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12867" y="4951107"/>
            <a:ext cx="29260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51" name="Oval 50"/>
          <p:cNvSpPr/>
          <p:nvPr/>
        </p:nvSpPr>
        <p:spPr>
          <a:xfrm>
            <a:off x="7712867" y="4840974"/>
            <a:ext cx="292608" cy="292608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12867" y="4910335"/>
            <a:ext cx="292608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 dirty="0">
                <a:solidFill>
                  <a:srgbClr val="FFFFFF"/>
                </a:solidFill>
                <a:latin typeface="+mn-ea"/>
              </a:rPr>
              <a:t>0</a:t>
            </a:r>
            <a:r>
              <a:rPr lang="en-US" sz="1000" b="1" dirty="0">
                <a:solidFill>
                  <a:srgbClr val="FFFFFF"/>
                </a:solidFill>
                <a:latin typeface="+mn-ea"/>
              </a:rPr>
              <a:t>4</a:t>
            </a:r>
            <a:endParaRPr sz="1000" b="1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071392" y="4818674"/>
            <a:ext cx="16651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 dirty="0">
                <a:latin typeface="+mn-ea"/>
              </a:rPr>
              <a:t>Reset Recovery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86561" y="4831830"/>
            <a:ext cx="1417320" cy="5591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100" b="0" dirty="0" err="1">
                <a:latin typeface="+mn-ea"/>
              </a:rPr>
              <a:t>재부팅</a:t>
            </a:r>
            <a:r>
              <a:rPr sz="1100" b="0" dirty="0">
                <a:latin typeface="+mn-ea"/>
              </a:rPr>
              <a:t> 시 RECOVERY_REQUIRED </a:t>
            </a:r>
            <a:r>
              <a:rPr sz="1100" b="0" dirty="0" err="1">
                <a:latin typeface="+mn-ea"/>
              </a:rPr>
              <a:t>처리</a:t>
            </a:r>
            <a:endParaRPr sz="1100" b="0" dirty="0">
              <a:latin typeface="+mn-ea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960120" y="6245583"/>
            <a:ext cx="10241280" cy="457200"/>
          </a:xfrm>
          <a:prstGeom prst="roundRect">
            <a:avLst/>
          </a:prstGeom>
          <a:solidFill>
            <a:srgbClr val="EFF4FF"/>
          </a:solidFill>
          <a:ln w="13970">
            <a:solidFill>
              <a:srgbClr val="C9D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70432" y="6355311"/>
            <a:ext cx="9829800" cy="22826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50" b="1" dirty="0">
                <a:solidFill>
                  <a:srgbClr val="2F5CBE"/>
                </a:solidFill>
                <a:latin typeface="+mn-ea"/>
              </a:rPr>
              <a:t>9600 bps · 8N1 </a:t>
            </a:r>
            <a:r>
              <a:rPr sz="1150" b="1" dirty="0" smtClean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| 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통신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 smtClean="0">
                <a:solidFill>
                  <a:srgbClr val="2F5CBE"/>
                </a:solidFill>
                <a:latin typeface="+mn-ea"/>
              </a:rPr>
              <a:t>전송과</a:t>
            </a:r>
            <a:r>
              <a:rPr sz="1150" b="1" dirty="0" smtClean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물리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재구동을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분리하여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 </a:t>
            </a:r>
            <a:r>
              <a:rPr lang="ko-KR" altLang="en-US" sz="1150" b="1" dirty="0" err="1" smtClean="0">
                <a:solidFill>
                  <a:srgbClr val="2F5CBE"/>
                </a:solidFill>
                <a:latin typeface="+mn-ea"/>
              </a:rPr>
              <a:t>오동작</a:t>
            </a:r>
            <a:r>
              <a:rPr sz="1150" b="1" dirty="0" smtClean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위험을</a:t>
            </a:r>
            <a:r>
              <a:rPr sz="115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150" b="1" dirty="0" err="1">
                <a:solidFill>
                  <a:srgbClr val="2F5CBE"/>
                </a:solidFill>
                <a:latin typeface="+mn-ea"/>
              </a:rPr>
              <a:t>차단</a:t>
            </a:r>
            <a:endParaRPr sz="1150" b="1" dirty="0">
              <a:solidFill>
                <a:srgbClr val="2F5CBE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013679" y="2326190"/>
            <a:ext cx="3182296" cy="1170433"/>
            <a:chOff x="4013679" y="2326190"/>
            <a:chExt cx="3182296" cy="1170433"/>
          </a:xfrm>
        </p:grpSpPr>
        <p:sp>
          <p:nvSpPr>
            <p:cNvPr id="57" name="TextBox 56"/>
            <p:cNvSpPr txBox="1"/>
            <p:nvPr/>
          </p:nvSpPr>
          <p:spPr>
            <a:xfrm>
              <a:off x="4013679" y="2326190"/>
              <a:ext cx="2547155" cy="26674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lang="en-US" altLang="ko-KR" sz="1400" b="1" dirty="0" smtClean="0">
                  <a:solidFill>
                    <a:schemeClr val="accent2"/>
                  </a:solidFill>
                  <a:latin typeface="+mn-ea"/>
                </a:rPr>
                <a:t>TIMEOUT</a:t>
              </a:r>
              <a:endParaRPr sz="14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58" name="Rounded Rectangle 10"/>
            <p:cNvSpPr/>
            <p:nvPr/>
          </p:nvSpPr>
          <p:spPr>
            <a:xfrm>
              <a:off x="4059399" y="2765103"/>
              <a:ext cx="914400" cy="29260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143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084799" y="2842157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chemeClr val="accent2"/>
                  </a:solidFill>
                  <a:latin typeface="+mn-ea"/>
                </a:rPr>
                <a:t>Pi → AT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052473" y="2798120"/>
              <a:ext cx="2143502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lang="en-US" altLang="ko-KR" sz="1100" b="0" dirty="0">
                  <a:solidFill>
                    <a:srgbClr val="273244"/>
                  </a:solidFill>
                  <a:latin typeface="+mn-ea"/>
                </a:rPr>
                <a:t>TIMEOUT</a:t>
              </a:r>
              <a:r>
                <a:rPr sz="1100" b="0" dirty="0">
                  <a:solidFill>
                    <a:srgbClr val="273244"/>
                  </a:solidFill>
                  <a:latin typeface="+mn-ea"/>
                </a:rPr>
                <a:t>|00000001</a:t>
              </a:r>
            </a:p>
          </p:txBody>
        </p:sp>
        <p:sp>
          <p:nvSpPr>
            <p:cNvPr id="61" name="Rounded Rectangle 13"/>
            <p:cNvSpPr/>
            <p:nvPr/>
          </p:nvSpPr>
          <p:spPr>
            <a:xfrm>
              <a:off x="4059399" y="3204015"/>
              <a:ext cx="914400" cy="29260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143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084799" y="3281069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900" b="1">
                  <a:solidFill>
                    <a:schemeClr val="accent2"/>
                  </a:solidFill>
                  <a:latin typeface="+mn-ea"/>
                </a:rPr>
                <a:t>AT → Pi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52472" y="3237032"/>
              <a:ext cx="1811877" cy="2205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pPr algn="l"/>
              <a:r>
                <a:rPr sz="1100" b="0" dirty="0">
                  <a:solidFill>
                    <a:srgbClr val="273244"/>
                  </a:solidFill>
                  <a:latin typeface="+mn-ea"/>
                </a:rPr>
                <a:t>ACK|00000001|</a:t>
              </a:r>
              <a:r>
                <a:rPr lang="en-US" sz="1100" dirty="0">
                  <a:solidFill>
                    <a:srgbClr val="273244"/>
                  </a:solidFill>
                  <a:latin typeface="+mn-ea"/>
                </a:rPr>
                <a:t>TIMEOUT</a:t>
              </a:r>
              <a:endParaRPr sz="1100" b="0" dirty="0">
                <a:solidFill>
                  <a:srgbClr val="273244"/>
                </a:solidFill>
                <a:latin typeface="+mn-ea"/>
              </a:endParaRPr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4019317" y="3713422"/>
            <a:ext cx="3182296" cy="1121931"/>
            <a:chOff x="4019317" y="4141019"/>
            <a:chExt cx="3182296" cy="1121931"/>
          </a:xfrm>
        </p:grpSpPr>
        <p:grpSp>
          <p:nvGrpSpPr>
            <p:cNvPr id="68" name="그룹 67"/>
            <p:cNvGrpSpPr/>
            <p:nvPr/>
          </p:nvGrpSpPr>
          <p:grpSpPr>
            <a:xfrm>
              <a:off x="4019317" y="4141019"/>
              <a:ext cx="3182296" cy="731521"/>
              <a:chOff x="4013679" y="2326190"/>
              <a:chExt cx="3182296" cy="731521"/>
            </a:xfrm>
          </p:grpSpPr>
          <p:sp>
            <p:nvSpPr>
              <p:cNvPr id="69" name="TextBox 68"/>
              <p:cNvSpPr txBox="1"/>
              <p:nvPr/>
            </p:nvSpPr>
            <p:spPr>
              <a:xfrm>
                <a:off x="4013679" y="2326190"/>
                <a:ext cx="2547155" cy="266740"/>
              </a:xfrm>
              <a:prstGeom prst="rect">
                <a:avLst/>
              </a:prstGeom>
              <a:noFill/>
            </p:spPr>
            <p:txBody>
              <a:bodyPr wrap="square" lIns="25400" tIns="25400" rIns="25400" bIns="25400" anchor="t">
                <a:spAutoFit/>
              </a:bodyPr>
              <a:lstStyle/>
              <a:p>
                <a:pPr algn="l"/>
                <a:r>
                  <a:rPr lang="en-US" sz="1400" b="1" dirty="0" smtClean="0">
                    <a:solidFill>
                      <a:srgbClr val="7030A0"/>
                    </a:solidFill>
                    <a:latin typeface="+mn-ea"/>
                  </a:rPr>
                  <a:t>ERROR</a:t>
                </a:r>
                <a:endParaRPr sz="1400" b="1" dirty="0">
                  <a:solidFill>
                    <a:srgbClr val="7030A0"/>
                  </a:solidFill>
                  <a:latin typeface="+mn-ea"/>
                </a:endParaRPr>
              </a:p>
            </p:txBody>
          </p:sp>
          <p:sp>
            <p:nvSpPr>
              <p:cNvPr id="70" name="Rounded Rectangle 10"/>
              <p:cNvSpPr/>
              <p:nvPr/>
            </p:nvSpPr>
            <p:spPr>
              <a:xfrm>
                <a:off x="4059399" y="2765103"/>
                <a:ext cx="914400" cy="292608"/>
              </a:xfrm>
              <a:prstGeom prst="roundRect">
                <a:avLst/>
              </a:prstGeom>
              <a:solidFill>
                <a:srgbClr val="E8D8F4"/>
              </a:solidFill>
              <a:ln w="11430">
                <a:solidFill>
                  <a:srgbClr val="7030A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latin typeface="+mn-ea"/>
                </a:endParaRPr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>
                <a:off x="4084799" y="2842157"/>
                <a:ext cx="8636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7030A0"/>
                    </a:solidFill>
                    <a:latin typeface="+mn-ea"/>
                  </a:rPr>
                  <a:t>AT</a:t>
                </a:r>
                <a:r>
                  <a:rPr sz="900" b="1" dirty="0">
                    <a:solidFill>
                      <a:srgbClr val="7030A0"/>
                    </a:solidFill>
                    <a:latin typeface="+mn-ea"/>
                  </a:rPr>
                  <a:t> → </a:t>
                </a:r>
                <a:r>
                  <a:rPr lang="en-US" sz="900" b="1" dirty="0">
                    <a:solidFill>
                      <a:srgbClr val="7030A0"/>
                    </a:solidFill>
                    <a:latin typeface="+mn-ea"/>
                  </a:rPr>
                  <a:t>PI</a:t>
                </a:r>
                <a:endParaRPr sz="900" b="1" dirty="0">
                  <a:solidFill>
                    <a:srgbClr val="7030A0"/>
                  </a:solidFill>
                  <a:latin typeface="+mn-ea"/>
                </a:endParaRPr>
              </a:p>
            </p:txBody>
          </p:sp>
          <p:sp>
            <p:nvSpPr>
              <p:cNvPr id="72" name="TextBox 71"/>
              <p:cNvSpPr txBox="1"/>
              <p:nvPr/>
            </p:nvSpPr>
            <p:spPr>
              <a:xfrm>
                <a:off x="5052473" y="2817170"/>
                <a:ext cx="2143502" cy="205184"/>
              </a:xfrm>
              <a:prstGeom prst="rect">
                <a:avLst/>
              </a:prstGeom>
              <a:noFill/>
            </p:spPr>
            <p:txBody>
              <a:bodyPr wrap="square" lIns="25400" tIns="25400" rIns="25400" bIns="25400" anchor="t">
                <a:spAutoFit/>
              </a:bodyPr>
              <a:lstStyle/>
              <a:p>
                <a:r>
                  <a:rPr lang="en-US" altLang="ko-KR" sz="1000" dirty="0">
                    <a:solidFill>
                      <a:srgbClr val="273244"/>
                    </a:solidFill>
                    <a:latin typeface="+mn-ea"/>
                  </a:rPr>
                  <a:t>ERROR|00000001|ERROR_CODE</a:t>
                </a:r>
                <a:endParaRPr sz="1000" b="0" dirty="0">
                  <a:solidFill>
                    <a:srgbClr val="273244"/>
                  </a:solidFill>
                  <a:latin typeface="+mn-ea"/>
                </a:endParaRPr>
              </a:p>
            </p:txBody>
          </p:sp>
        </p:grpSp>
        <p:sp>
          <p:nvSpPr>
            <p:cNvPr id="73" name="Rounded Rectangle 10"/>
            <p:cNvSpPr/>
            <p:nvPr/>
          </p:nvSpPr>
          <p:spPr>
            <a:xfrm>
              <a:off x="4059399" y="4970342"/>
              <a:ext cx="914400" cy="292608"/>
            </a:xfrm>
            <a:prstGeom prst="roundRect">
              <a:avLst/>
            </a:prstGeom>
            <a:solidFill>
              <a:srgbClr val="E8D8F4"/>
            </a:solidFill>
            <a:ln w="1143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084799" y="5047396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7030A0"/>
                  </a:solidFill>
                  <a:latin typeface="+mn-ea"/>
                </a:rPr>
                <a:t>AT</a:t>
              </a:r>
              <a:r>
                <a:rPr sz="900" b="1" dirty="0">
                  <a:solidFill>
                    <a:srgbClr val="7030A0"/>
                  </a:solidFill>
                  <a:latin typeface="+mn-ea"/>
                </a:rPr>
                <a:t> → </a:t>
              </a:r>
              <a:r>
                <a:rPr lang="en-US" sz="900" b="1" dirty="0">
                  <a:solidFill>
                    <a:srgbClr val="7030A0"/>
                  </a:solidFill>
                  <a:latin typeface="+mn-ea"/>
                </a:rPr>
                <a:t>PI</a:t>
              </a:r>
              <a:endParaRPr sz="900" b="1" dirty="0">
                <a:solidFill>
                  <a:srgbClr val="7030A0"/>
                </a:solidFill>
                <a:latin typeface="+mn-ea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52473" y="5022409"/>
              <a:ext cx="2143502" cy="205184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000" dirty="0">
                  <a:solidFill>
                    <a:srgbClr val="273244"/>
                  </a:solidFill>
                  <a:latin typeface="+mn-ea"/>
                </a:rPr>
                <a:t>ERROR|INVALID_FORMAT</a:t>
              </a:r>
              <a:endParaRPr sz="1000" b="0" dirty="0">
                <a:solidFill>
                  <a:srgbClr val="273244"/>
                </a:solidFill>
                <a:latin typeface="+mn-ea"/>
              </a:endParaRPr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4019317" y="4940548"/>
            <a:ext cx="3182296" cy="1029834"/>
            <a:chOff x="4019317" y="4233116"/>
            <a:chExt cx="3182296" cy="1029834"/>
          </a:xfrm>
        </p:grpSpPr>
        <p:grpSp>
          <p:nvGrpSpPr>
            <p:cNvPr id="77" name="그룹 76"/>
            <p:cNvGrpSpPr/>
            <p:nvPr/>
          </p:nvGrpSpPr>
          <p:grpSpPr>
            <a:xfrm>
              <a:off x="4019317" y="4233116"/>
              <a:ext cx="3182296" cy="639424"/>
              <a:chOff x="4013679" y="2418287"/>
              <a:chExt cx="3182296" cy="639424"/>
            </a:xfrm>
          </p:grpSpPr>
          <p:sp>
            <p:nvSpPr>
              <p:cNvPr id="81" name="TextBox 80"/>
              <p:cNvSpPr txBox="1"/>
              <p:nvPr/>
            </p:nvSpPr>
            <p:spPr>
              <a:xfrm>
                <a:off x="4013679" y="2418287"/>
                <a:ext cx="2547155" cy="266740"/>
              </a:xfrm>
              <a:prstGeom prst="rect">
                <a:avLst/>
              </a:prstGeom>
              <a:noFill/>
            </p:spPr>
            <p:txBody>
              <a:bodyPr wrap="square" lIns="25400" tIns="25400" rIns="25400" bIns="25400" anchor="t">
                <a:spAutoFit/>
              </a:bodyPr>
              <a:lstStyle/>
              <a:p>
                <a:pPr algn="l"/>
                <a:r>
                  <a:rPr lang="en-US" sz="1400" b="1" dirty="0" smtClean="0">
                    <a:solidFill>
                      <a:schemeClr val="accent3">
                        <a:lumMod val="50000"/>
                      </a:schemeClr>
                    </a:solidFill>
                    <a:latin typeface="+mn-ea"/>
                  </a:rPr>
                  <a:t>RESET</a:t>
                </a:r>
                <a:endParaRPr sz="1400" b="1" dirty="0">
                  <a:solidFill>
                    <a:schemeClr val="accent3">
                      <a:lumMod val="50000"/>
                    </a:schemeClr>
                  </a:solidFill>
                  <a:latin typeface="+mn-ea"/>
                </a:endParaRPr>
              </a:p>
            </p:txBody>
          </p:sp>
          <p:sp>
            <p:nvSpPr>
              <p:cNvPr id="82" name="Rounded Rectangle 10"/>
              <p:cNvSpPr/>
              <p:nvPr/>
            </p:nvSpPr>
            <p:spPr>
              <a:xfrm>
                <a:off x="4059399" y="2765103"/>
                <a:ext cx="914400" cy="292608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 w="1143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4084799" y="2842157"/>
                <a:ext cx="863600" cy="138499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lang="en-US" altLang="ko-KR" sz="900" b="1" dirty="0" smtClean="0">
                    <a:latin typeface="+mn-ea"/>
                  </a:rPr>
                  <a:t>PI</a:t>
                </a:r>
                <a:r>
                  <a:rPr sz="900" b="1" dirty="0" smtClean="0">
                    <a:latin typeface="+mn-ea"/>
                  </a:rPr>
                  <a:t> →</a:t>
                </a:r>
                <a:r>
                  <a:rPr lang="en-US" sz="900" b="1" dirty="0" smtClean="0">
                    <a:latin typeface="+mn-ea"/>
                  </a:rPr>
                  <a:t> AT</a:t>
                </a:r>
                <a:endParaRPr sz="900" b="1" dirty="0">
                  <a:latin typeface="+mn-ea"/>
                </a:endParaRP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5052473" y="2817170"/>
                <a:ext cx="2143502" cy="205184"/>
              </a:xfrm>
              <a:prstGeom prst="rect">
                <a:avLst/>
              </a:prstGeom>
              <a:noFill/>
            </p:spPr>
            <p:txBody>
              <a:bodyPr wrap="square" lIns="25400" tIns="25400" rIns="25400" bIns="25400" anchor="t">
                <a:spAutoFit/>
              </a:bodyPr>
              <a:lstStyle/>
              <a:p>
                <a:r>
                  <a:rPr lang="en-US" altLang="ko-KR" sz="1000" dirty="0" smtClean="0">
                    <a:solidFill>
                      <a:srgbClr val="273244"/>
                    </a:solidFill>
                    <a:latin typeface="+mn-ea"/>
                  </a:rPr>
                  <a:t>RESET|00000001</a:t>
                </a:r>
                <a:endParaRPr sz="1000" b="0" dirty="0">
                  <a:solidFill>
                    <a:srgbClr val="273244"/>
                  </a:solidFill>
                  <a:latin typeface="+mn-ea"/>
                </a:endParaRPr>
              </a:p>
            </p:txBody>
          </p:sp>
        </p:grpSp>
        <p:sp>
          <p:nvSpPr>
            <p:cNvPr id="78" name="Rounded Rectangle 10"/>
            <p:cNvSpPr/>
            <p:nvPr/>
          </p:nvSpPr>
          <p:spPr>
            <a:xfrm>
              <a:off x="4059399" y="4970342"/>
              <a:ext cx="914400" cy="29260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143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4084799" y="5047396"/>
              <a:ext cx="863600" cy="138499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1" dirty="0">
                  <a:latin typeface="+mn-ea"/>
                </a:rPr>
                <a:t>AT</a:t>
              </a:r>
              <a:r>
                <a:rPr sz="900" b="1" dirty="0">
                  <a:latin typeface="+mn-ea"/>
                </a:rPr>
                <a:t> → </a:t>
              </a:r>
              <a:r>
                <a:rPr lang="en-US" sz="900" b="1" dirty="0">
                  <a:latin typeface="+mn-ea"/>
                </a:rPr>
                <a:t>PI</a:t>
              </a:r>
              <a:endParaRPr sz="900" b="1" dirty="0">
                <a:latin typeface="+mn-ea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5052473" y="5022409"/>
              <a:ext cx="2143502" cy="205184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000" dirty="0" smtClean="0">
                  <a:solidFill>
                    <a:srgbClr val="273244"/>
                  </a:solidFill>
                  <a:latin typeface="+mn-ea"/>
                </a:rPr>
                <a:t>ACK|00000001|RESET</a:t>
              </a:r>
              <a:endParaRPr lang="en-US" altLang="ko-KR" sz="1000" dirty="0">
                <a:solidFill>
                  <a:srgbClr val="273244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288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구현상세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결과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 </a:t>
            </a:r>
            <a:r>
              <a:rPr lang="ko-KR" altLang="en-US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동작 </a:t>
            </a:r>
            <a:r>
              <a:rPr lang="en-US" altLang="ko-KR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Flow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9" name="Rounded Rectangle 7"/>
          <p:cNvSpPr/>
          <p:nvPr/>
        </p:nvSpPr>
        <p:spPr>
          <a:xfrm>
            <a:off x="645951" y="1699054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70" name="Oval 8"/>
          <p:cNvSpPr/>
          <p:nvPr/>
        </p:nvSpPr>
        <p:spPr>
          <a:xfrm>
            <a:off x="792255" y="1863646"/>
            <a:ext cx="365760" cy="365760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792255" y="1961888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72" name="Rounded Rectangle 10"/>
          <p:cNvSpPr/>
          <p:nvPr/>
        </p:nvSpPr>
        <p:spPr>
          <a:xfrm>
            <a:off x="2218719" y="1854502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244119" y="1897880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79E8"/>
                </a:solidFill>
                <a:latin typeface="+mn-ea"/>
              </a:rPr>
              <a:t>Web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47119" y="2203666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 err="1">
                <a:solidFill>
                  <a:srgbClr val="273244"/>
                </a:solidFill>
                <a:latin typeface="+mn-ea"/>
              </a:rPr>
              <a:t>일정</a:t>
            </a:r>
            <a:r>
              <a:rPr sz="24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400" b="1" dirty="0" err="1">
                <a:solidFill>
                  <a:srgbClr val="273244"/>
                </a:solidFill>
                <a:latin typeface="+mn-ea"/>
              </a:rPr>
              <a:t>등록</a:t>
            </a:r>
            <a:endParaRPr sz="24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847119" y="2596857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보호자가 약 이름·복약 시간·허용시간 등록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087399" y="232084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77" name="Rounded Rectangle 15"/>
          <p:cNvSpPr/>
          <p:nvPr/>
        </p:nvSpPr>
        <p:spPr>
          <a:xfrm>
            <a:off x="3434871" y="1699054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78" name="Oval 16"/>
          <p:cNvSpPr/>
          <p:nvPr/>
        </p:nvSpPr>
        <p:spPr>
          <a:xfrm>
            <a:off x="3581175" y="1863646"/>
            <a:ext cx="365760" cy="365760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3581175" y="1961888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80" name="Rounded Rectangle 18"/>
          <p:cNvSpPr/>
          <p:nvPr/>
        </p:nvSpPr>
        <p:spPr>
          <a:xfrm>
            <a:off x="5007639" y="1854502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33039" y="1897880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79E8"/>
                </a:solidFill>
                <a:latin typeface="+mn-ea"/>
              </a:rPr>
              <a:t>Pi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36039" y="2203666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예약 도달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636039" y="2596857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SQLite 확인 · 음성 안내 · MOVE 전송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876319" y="232084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85" name="Rounded Rectangle 23"/>
          <p:cNvSpPr/>
          <p:nvPr/>
        </p:nvSpPr>
        <p:spPr>
          <a:xfrm>
            <a:off x="6223791" y="1699054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86" name="Oval 24"/>
          <p:cNvSpPr/>
          <p:nvPr/>
        </p:nvSpPr>
        <p:spPr>
          <a:xfrm>
            <a:off x="6370095" y="1863646"/>
            <a:ext cx="365760" cy="365760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6370095" y="1961888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88" name="Rounded Rectangle 26"/>
          <p:cNvSpPr/>
          <p:nvPr/>
        </p:nvSpPr>
        <p:spPr>
          <a:xfrm>
            <a:off x="7796559" y="1854502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821959" y="1897880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A79E8"/>
                </a:solidFill>
                <a:latin typeface="+mn-ea"/>
              </a:rPr>
              <a:t>AT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424959" y="2203666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슬롯 이동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424959" y="2596857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ACK → X/Y 이동 → WAIT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665239" y="232084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93" name="Rounded Rectangle 31"/>
          <p:cNvSpPr/>
          <p:nvPr/>
        </p:nvSpPr>
        <p:spPr>
          <a:xfrm>
            <a:off x="9012711" y="1699054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94" name="Oval 32"/>
          <p:cNvSpPr/>
          <p:nvPr/>
        </p:nvSpPr>
        <p:spPr>
          <a:xfrm>
            <a:off x="9159015" y="1863646"/>
            <a:ext cx="365760" cy="365760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9159015" y="1961888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96" name="Rounded Rectangle 34"/>
          <p:cNvSpPr/>
          <p:nvPr/>
        </p:nvSpPr>
        <p:spPr>
          <a:xfrm>
            <a:off x="10585479" y="1854502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610879" y="1897880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9B189"/>
                </a:solidFill>
                <a:latin typeface="+mn-ea"/>
              </a:rPr>
              <a:t>LCD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213879" y="2203666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사용자 승인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213879" y="2596857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배출 버튼 활성화 · 사용자 터치</a:t>
            </a:r>
          </a:p>
        </p:txBody>
      </p:sp>
      <p:sp>
        <p:nvSpPr>
          <p:cNvPr id="100" name="Rounded Rectangle 38"/>
          <p:cNvSpPr/>
          <p:nvPr/>
        </p:nvSpPr>
        <p:spPr>
          <a:xfrm>
            <a:off x="2044983" y="3634353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01" name="Oval 39"/>
          <p:cNvSpPr/>
          <p:nvPr/>
        </p:nvSpPr>
        <p:spPr>
          <a:xfrm>
            <a:off x="2191287" y="3798945"/>
            <a:ext cx="365760" cy="365760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2191287" y="3897187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05</a:t>
            </a:r>
          </a:p>
        </p:txBody>
      </p:sp>
      <p:sp>
        <p:nvSpPr>
          <p:cNvPr id="103" name="Rounded Rectangle 41"/>
          <p:cNvSpPr/>
          <p:nvPr/>
        </p:nvSpPr>
        <p:spPr>
          <a:xfrm>
            <a:off x="3617751" y="3789801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3643151" y="3833179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9B189"/>
                </a:solidFill>
                <a:latin typeface="+mn-ea"/>
              </a:rPr>
              <a:t>AT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246151" y="4138965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 err="1">
                <a:solidFill>
                  <a:srgbClr val="273244"/>
                </a:solidFill>
                <a:latin typeface="+mn-ea"/>
              </a:rPr>
              <a:t>정제</a:t>
            </a:r>
            <a:r>
              <a:rPr sz="240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2400" b="1" dirty="0" err="1">
                <a:solidFill>
                  <a:srgbClr val="273244"/>
                </a:solidFill>
                <a:latin typeface="+mn-ea"/>
              </a:rPr>
              <a:t>배출</a:t>
            </a:r>
            <a:endParaRPr sz="240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246151" y="4532156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DISPENSE → ACK → 서보 1회 동작</a:t>
            </a:r>
          </a:p>
        </p:txBody>
      </p:sp>
      <p:sp>
        <p:nvSpPr>
          <p:cNvPr id="107" name="Rounded Rectangle 45"/>
          <p:cNvSpPr/>
          <p:nvPr/>
        </p:nvSpPr>
        <p:spPr>
          <a:xfrm>
            <a:off x="4833903" y="3634353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08" name="Oval 46"/>
          <p:cNvSpPr/>
          <p:nvPr/>
        </p:nvSpPr>
        <p:spPr>
          <a:xfrm>
            <a:off x="4980207" y="3798945"/>
            <a:ext cx="365760" cy="365760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4980207" y="3897187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06</a:t>
            </a:r>
          </a:p>
        </p:txBody>
      </p:sp>
      <p:sp>
        <p:nvSpPr>
          <p:cNvPr id="110" name="Rounded Rectangle 48"/>
          <p:cNvSpPr/>
          <p:nvPr/>
        </p:nvSpPr>
        <p:spPr>
          <a:xfrm>
            <a:off x="6406671" y="3789801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432071" y="3833179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9B189"/>
                </a:solidFill>
                <a:latin typeface="+mn-ea"/>
              </a:rPr>
              <a:t>Sensor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035071" y="4138965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배출 확인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035071" y="4532156"/>
            <a:ext cx="201168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IR 판정 → RESULT 전송</a:t>
            </a:r>
          </a:p>
        </p:txBody>
      </p:sp>
      <p:sp>
        <p:nvSpPr>
          <p:cNvPr id="114" name="Rounded Rectangle 52"/>
          <p:cNvSpPr/>
          <p:nvPr/>
        </p:nvSpPr>
        <p:spPr>
          <a:xfrm>
            <a:off x="7622823" y="3634353"/>
            <a:ext cx="2423160" cy="15727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15" name="Oval 53"/>
          <p:cNvSpPr/>
          <p:nvPr/>
        </p:nvSpPr>
        <p:spPr>
          <a:xfrm>
            <a:off x="7769127" y="3798945"/>
            <a:ext cx="365760" cy="365760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7769127" y="3897187"/>
            <a:ext cx="36576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+mn-ea"/>
              </a:rPr>
              <a:t>07</a:t>
            </a:r>
          </a:p>
        </p:txBody>
      </p:sp>
      <p:sp>
        <p:nvSpPr>
          <p:cNvPr id="117" name="Rounded Rectangle 55"/>
          <p:cNvSpPr/>
          <p:nvPr/>
        </p:nvSpPr>
        <p:spPr>
          <a:xfrm>
            <a:off x="9195591" y="3789801"/>
            <a:ext cx="621792" cy="256032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9220991" y="3833179"/>
            <a:ext cx="57099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1842B"/>
                </a:solidFill>
                <a:latin typeface="+mn-ea"/>
              </a:rPr>
              <a:t>DB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823991" y="4138965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결과 저장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823991" y="4532156"/>
            <a:ext cx="2011680" cy="48218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>
                <a:solidFill>
                  <a:srgbClr val="5F6B7E"/>
                </a:solidFill>
                <a:latin typeface="+mn-ea"/>
              </a:rPr>
              <a:t>성공·실패·미복약·통신 오류 저장</a:t>
            </a:r>
          </a:p>
        </p:txBody>
      </p:sp>
      <p:sp>
        <p:nvSpPr>
          <p:cNvPr id="123" name="Rounded Rectangle 61"/>
          <p:cNvSpPr/>
          <p:nvPr/>
        </p:nvSpPr>
        <p:spPr>
          <a:xfrm>
            <a:off x="6344695" y="7285739"/>
            <a:ext cx="3840480" cy="347472"/>
          </a:xfrm>
          <a:prstGeom prst="roundRect">
            <a:avLst/>
          </a:prstGeom>
          <a:solidFill>
            <a:srgbClr val="EFF9F5"/>
          </a:solidFill>
          <a:ln w="11430">
            <a:solidFill>
              <a:srgbClr val="C4E7DB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6370095" y="7336365"/>
            <a:ext cx="3789680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19B189"/>
                </a:solidFill>
                <a:latin typeface="+mn-ea"/>
              </a:rPr>
              <a:t>물리 배출 및 결과 확인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96101" y="424699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500994" y="424699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275915" y="4246996"/>
            <a:ext cx="32004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>
                <a:solidFill>
                  <a:srgbClr val="5F6B7E"/>
                </a:solidFill>
                <a:latin typeface="+mn-ea"/>
              </a:rPr>
              <a:t>→</a:t>
            </a:r>
          </a:p>
        </p:txBody>
      </p:sp>
      <p:sp>
        <p:nvSpPr>
          <p:cNvPr id="66" name="Rounded Rectangle 38"/>
          <p:cNvSpPr/>
          <p:nvPr/>
        </p:nvSpPr>
        <p:spPr>
          <a:xfrm>
            <a:off x="760162" y="5729189"/>
            <a:ext cx="10314238" cy="100393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07346" y="5447147"/>
            <a:ext cx="1947672" cy="383901"/>
            <a:chOff x="1041175" y="7285739"/>
            <a:chExt cx="3840480" cy="347472"/>
          </a:xfrm>
        </p:grpSpPr>
        <p:sp>
          <p:nvSpPr>
            <p:cNvPr id="121" name="Rounded Rectangle 59"/>
            <p:cNvSpPr/>
            <p:nvPr/>
          </p:nvSpPr>
          <p:spPr>
            <a:xfrm>
              <a:off x="1041175" y="7285739"/>
              <a:ext cx="3840480" cy="347472"/>
            </a:xfrm>
            <a:prstGeom prst="roundRect">
              <a:avLst/>
            </a:prstGeom>
            <a:solidFill>
              <a:srgbClr val="FEEEE4"/>
            </a:solidFill>
            <a:ln w="11430">
              <a:solidFill>
                <a:srgbClr val="F7D5C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latin typeface="+mn-ea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1066574" y="7348048"/>
              <a:ext cx="3789680" cy="22285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rgbClr val="F1842B"/>
                  </a:solidFill>
                  <a:latin typeface="+mn-ea"/>
                </a:rPr>
                <a:t>예외 분기</a:t>
              </a:r>
              <a:endParaRPr sz="1600" b="1" dirty="0">
                <a:solidFill>
                  <a:srgbClr val="F1842B"/>
                </a:solidFill>
                <a:latin typeface="+mn-ea"/>
              </a:endParaRPr>
            </a:p>
          </p:txBody>
        </p:sp>
      </p:grpSp>
      <p:sp>
        <p:nvSpPr>
          <p:cNvPr id="68" name="TextBox 67"/>
          <p:cNvSpPr txBox="1"/>
          <p:nvPr/>
        </p:nvSpPr>
        <p:spPr>
          <a:xfrm>
            <a:off x="1065005" y="5964418"/>
            <a:ext cx="425353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ko-KR" altLang="en-US" sz="1400" dirty="0" err="1">
                <a:solidFill>
                  <a:srgbClr val="273244"/>
                </a:solidFill>
                <a:latin typeface="+mn-ea"/>
              </a:rPr>
              <a:t>허용시간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 초과 → </a:t>
            </a:r>
            <a:r>
              <a:rPr lang="en-US" altLang="ko-KR" sz="1400" dirty="0">
                <a:solidFill>
                  <a:srgbClr val="273244"/>
                </a:solidFill>
                <a:latin typeface="+mn-ea"/>
              </a:rPr>
              <a:t>MISSED 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저장 → </a:t>
            </a:r>
            <a:r>
              <a:rPr lang="en-US" altLang="ko-KR" sz="1400" dirty="0">
                <a:solidFill>
                  <a:srgbClr val="273244"/>
                </a:solidFill>
                <a:latin typeface="+mn-ea"/>
              </a:rPr>
              <a:t>TIMEOUT 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전송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44825" y="6268686"/>
            <a:ext cx="4092515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en-US" altLang="ko-KR" sz="1400" dirty="0">
                <a:solidFill>
                  <a:srgbClr val="273244"/>
                </a:solidFill>
                <a:latin typeface="+mn-ea"/>
              </a:rPr>
              <a:t>R=2 → 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빈 슬롯 기록 → 다음 좌표로 새 </a:t>
            </a:r>
            <a:r>
              <a:rPr lang="en-US" altLang="ko-KR" sz="1400" dirty="0">
                <a:solidFill>
                  <a:srgbClr val="273244"/>
                </a:solidFill>
                <a:latin typeface="+mn-ea"/>
              </a:rPr>
              <a:t>MOVE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614399" y="5964418"/>
            <a:ext cx="492663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마지막 슬롯 완료 → </a:t>
            </a:r>
            <a:r>
              <a:rPr lang="en-US" altLang="ko-KR" sz="1400" dirty="0">
                <a:solidFill>
                  <a:srgbClr val="273244"/>
                </a:solidFill>
                <a:latin typeface="+mn-ea"/>
              </a:rPr>
              <a:t>(0,0) 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원점 복귀 → </a:t>
            </a:r>
            <a:r>
              <a:rPr lang="ko-KR" altLang="en-US" sz="1400" dirty="0" err="1">
                <a:solidFill>
                  <a:srgbClr val="273244"/>
                </a:solidFill>
                <a:latin typeface="+mn-ea"/>
              </a:rPr>
              <a:t>블리스터</a:t>
            </a:r>
            <a:r>
              <a:rPr lang="ko-KR" altLang="en-US" sz="1400" dirty="0">
                <a:solidFill>
                  <a:srgbClr val="273244"/>
                </a:solidFill>
                <a:latin typeface="+mn-ea"/>
              </a:rPr>
              <a:t> 교체 대기</a:t>
            </a:r>
            <a:endParaRPr sz="1400" dirty="0">
              <a:solidFill>
                <a:srgbClr val="273244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38192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프로그램 설명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– </a:t>
            </a:r>
            <a:r>
              <a:rPr lang="ko-KR" altLang="en-US" sz="32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프로그램 구성 및 핵심 함수</a:t>
            </a:r>
            <a:endParaRPr lang="ko-KR" altLang="en-US" sz="40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8" name="Rounded Rectangle 7"/>
          <p:cNvSpPr/>
          <p:nvPr/>
        </p:nvSpPr>
        <p:spPr>
          <a:xfrm>
            <a:off x="657813" y="1563513"/>
            <a:ext cx="5394960" cy="5049373"/>
          </a:xfrm>
          <a:prstGeom prst="roundRect">
            <a:avLst>
              <a:gd name="adj" fmla="val 11493"/>
            </a:avLst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19" name="Rounded Rectangle 8"/>
          <p:cNvSpPr/>
          <p:nvPr/>
        </p:nvSpPr>
        <p:spPr>
          <a:xfrm>
            <a:off x="658368" y="1563512"/>
            <a:ext cx="5358384" cy="451295"/>
          </a:xfrm>
          <a:prstGeom prst="roundRect">
            <a:avLst/>
          </a:prstGeom>
          <a:solidFill>
            <a:srgbClr val="EFF4FF"/>
          </a:solidFill>
          <a:ln w="19050">
            <a:solidFill>
              <a:srgbClr val="2F5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7812" y="1597550"/>
            <a:ext cx="5358939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 dirty="0">
                <a:solidFill>
                  <a:srgbClr val="2F5CBE"/>
                </a:solidFill>
                <a:latin typeface="+mn-ea"/>
              </a:rPr>
              <a:t>Raspberry Pi 4  ·  Application Layer</a:t>
            </a:r>
          </a:p>
        </p:txBody>
      </p:sp>
      <p:sp>
        <p:nvSpPr>
          <p:cNvPr id="36" name="Rounded Rectangle 25"/>
          <p:cNvSpPr/>
          <p:nvPr/>
        </p:nvSpPr>
        <p:spPr>
          <a:xfrm>
            <a:off x="6276416" y="1622243"/>
            <a:ext cx="5303520" cy="4990644"/>
          </a:xfrm>
          <a:prstGeom prst="roundRect">
            <a:avLst>
              <a:gd name="adj" fmla="val 14942"/>
            </a:avLst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7" name="Rounded Rectangle 26"/>
          <p:cNvSpPr/>
          <p:nvPr/>
        </p:nvSpPr>
        <p:spPr>
          <a:xfrm>
            <a:off x="6281928" y="1563513"/>
            <a:ext cx="5266944" cy="451294"/>
          </a:xfrm>
          <a:prstGeom prst="roundRect">
            <a:avLst/>
          </a:prstGeom>
          <a:solidFill>
            <a:srgbClr val="EFF9F5"/>
          </a:solidFill>
          <a:ln w="19050">
            <a:solidFill>
              <a:srgbClr val="19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n-ea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81372" y="1590697"/>
            <a:ext cx="5267499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 dirty="0">
                <a:solidFill>
                  <a:srgbClr val="19B189"/>
                </a:solidFill>
                <a:latin typeface="+mn-ea"/>
              </a:rPr>
              <a:t>ATmega128A  ·  Firmware Layer</a:t>
            </a:r>
          </a:p>
        </p:txBody>
      </p:sp>
      <p:grpSp>
        <p:nvGrpSpPr>
          <p:cNvPr id="8" name="그룹 7"/>
          <p:cNvGrpSpPr/>
          <p:nvPr/>
        </p:nvGrpSpPr>
        <p:grpSpPr>
          <a:xfrm>
            <a:off x="756354" y="2137551"/>
            <a:ext cx="5161845" cy="606990"/>
            <a:chOff x="756354" y="2137551"/>
            <a:chExt cx="5161845" cy="606990"/>
          </a:xfrm>
        </p:grpSpPr>
        <p:sp>
          <p:nvSpPr>
            <p:cNvPr id="21" name="Rounded Rectangle 10"/>
            <p:cNvSpPr/>
            <p:nvPr/>
          </p:nvSpPr>
          <p:spPr>
            <a:xfrm>
              <a:off x="756354" y="2137551"/>
              <a:ext cx="1371600" cy="310896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C3D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81754" y="2185277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400" b="1">
                  <a:latin typeface="+mn-ea"/>
                </a:rPr>
                <a:t>app.py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192698" y="2180230"/>
              <a:ext cx="3725501" cy="266740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400" dirty="0">
                  <a:latin typeface="+mn-ea"/>
                </a:rPr>
                <a:t>Flask </a:t>
              </a:r>
              <a:r>
                <a:rPr lang="ko-KR" altLang="en-US" sz="1400" dirty="0">
                  <a:latin typeface="+mn-ea"/>
                </a:rPr>
                <a:t>웹</a:t>
              </a:r>
              <a:r>
                <a:rPr lang="en-US" altLang="ko-KR" sz="1400" dirty="0">
                  <a:latin typeface="+mn-ea"/>
                </a:rPr>
                <a:t>·LCD API / </a:t>
              </a:r>
              <a:r>
                <a:rPr lang="ko-KR" altLang="en-US" sz="1400" dirty="0">
                  <a:latin typeface="+mn-ea"/>
                </a:rPr>
                <a:t>인증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예약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음성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전원 연계</a:t>
              </a:r>
              <a:endParaRPr sz="1400" b="0" dirty="0">
                <a:latin typeface="+mn-ea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22700" y="2508579"/>
              <a:ext cx="4458404" cy="235962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200" dirty="0" err="1">
                  <a:latin typeface="+mn-ea"/>
                </a:rPr>
                <a:t>schedule_page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build_display_status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api_display_dispense</a:t>
              </a:r>
              <a:r>
                <a:rPr lang="en-US" altLang="ko-KR" sz="1200" dirty="0">
                  <a:latin typeface="+mn-ea"/>
                </a:rPr>
                <a:t>()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760546" y="2856904"/>
            <a:ext cx="5071988" cy="684981"/>
            <a:chOff x="756354" y="3022155"/>
            <a:chExt cx="5071988" cy="684981"/>
          </a:xfrm>
        </p:grpSpPr>
        <p:sp>
          <p:nvSpPr>
            <p:cNvPr id="24" name="Rounded Rectangle 13"/>
            <p:cNvSpPr/>
            <p:nvPr/>
          </p:nvSpPr>
          <p:spPr>
            <a:xfrm>
              <a:off x="756354" y="3041135"/>
              <a:ext cx="1371600" cy="310896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C3D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81754" y="3104250"/>
              <a:ext cx="1320800" cy="18466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200" b="1" dirty="0">
                  <a:latin typeface="+mn-ea"/>
                </a:rPr>
                <a:t>d</a:t>
              </a:r>
              <a:r>
                <a:rPr sz="1200" b="1" dirty="0">
                  <a:latin typeface="+mn-ea"/>
                </a:rPr>
                <a:t>atabase</a:t>
              </a:r>
              <a:r>
                <a:rPr lang="en-US" sz="1200" b="1" dirty="0">
                  <a:latin typeface="+mn-ea"/>
                </a:rPr>
                <a:t>.py</a:t>
              </a:r>
              <a:endParaRPr sz="1200" b="1" dirty="0">
                <a:latin typeface="+mn-ea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2195297" y="3022155"/>
              <a:ext cx="3633045" cy="48218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400" dirty="0">
                  <a:latin typeface="+mn-ea"/>
                </a:rPr>
                <a:t>SQLite </a:t>
              </a:r>
              <a:r>
                <a:rPr lang="ko-KR" altLang="en-US" sz="1400" dirty="0">
                  <a:latin typeface="+mn-ea"/>
                </a:rPr>
                <a:t>스키마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일정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좌표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상태 전이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결과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이벤트 저장</a:t>
              </a:r>
              <a:endParaRPr sz="1400" b="0" dirty="0">
                <a:latin typeface="+mn-ea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913286" y="3471174"/>
              <a:ext cx="4864100" cy="235962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200" dirty="0" err="1">
                  <a:latin typeface="+mn-ea"/>
                </a:rPr>
                <a:t>init_db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create_schedule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prepare_move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complete_dispensed</a:t>
              </a:r>
              <a:r>
                <a:rPr lang="en-US" altLang="ko-KR" sz="1200" dirty="0">
                  <a:latin typeface="+mn-ea"/>
                </a:rPr>
                <a:t>()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56354" y="4576345"/>
            <a:ext cx="5084004" cy="860567"/>
            <a:chOff x="756354" y="4735826"/>
            <a:chExt cx="5084004" cy="860567"/>
          </a:xfrm>
        </p:grpSpPr>
        <p:sp>
          <p:nvSpPr>
            <p:cNvPr id="30" name="Rounded Rectangle 19"/>
            <p:cNvSpPr/>
            <p:nvPr/>
          </p:nvSpPr>
          <p:spPr>
            <a:xfrm>
              <a:off x="756354" y="4735826"/>
              <a:ext cx="1371600" cy="597094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C3D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846500" y="4801074"/>
              <a:ext cx="1191307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>
                  <a:latin typeface="+mn-ea"/>
                </a:rPr>
                <a:t>system_time_service.py</a:t>
              </a:r>
              <a:endParaRPr sz="1400" b="1" dirty="0">
                <a:latin typeface="+mn-ea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218100" y="4803045"/>
              <a:ext cx="3574158" cy="48218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400" dirty="0">
                  <a:latin typeface="+mn-ea"/>
                </a:rPr>
                <a:t>스마트폰 시간 검증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시스템 시각 동기화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 err="1">
                  <a:latin typeface="+mn-ea"/>
                </a:rPr>
                <a:t>부팅별</a:t>
              </a:r>
              <a:r>
                <a:rPr lang="ko-KR" altLang="en-US" sz="1400" dirty="0">
                  <a:latin typeface="+mn-ea"/>
                </a:rPr>
                <a:t> 시간 유효성 관리</a:t>
              </a:r>
              <a:endParaRPr sz="1400" b="0" dirty="0">
                <a:latin typeface="+mn-ea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921454" y="5360431"/>
              <a:ext cx="4918904" cy="235962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200" dirty="0" err="1">
                  <a:latin typeface="+mn-ea"/>
                </a:rPr>
                <a:t>set_system_time_from_smartphone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is_system_time_configured</a:t>
              </a:r>
              <a:r>
                <a:rPr lang="en-US" altLang="ko-KR" sz="1200" dirty="0">
                  <a:latin typeface="+mn-ea"/>
                </a:rPr>
                <a:t>()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763408" y="5506327"/>
            <a:ext cx="5069127" cy="851723"/>
            <a:chOff x="756354" y="5882329"/>
            <a:chExt cx="5069127" cy="851723"/>
          </a:xfrm>
        </p:grpSpPr>
        <p:sp>
          <p:nvSpPr>
            <p:cNvPr id="33" name="Rounded Rectangle 22"/>
            <p:cNvSpPr/>
            <p:nvPr/>
          </p:nvSpPr>
          <p:spPr>
            <a:xfrm>
              <a:off x="756354" y="5882329"/>
              <a:ext cx="1371600" cy="571171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C3D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56354" y="5933156"/>
              <a:ext cx="1320800" cy="43088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slotguard_net</a:t>
              </a:r>
              <a:r>
                <a:rPr lang="en-US" sz="1400" b="1" dirty="0">
                  <a:latin typeface="+mn-ea"/>
                </a:rPr>
                <a:t> work_helper.py</a:t>
              </a:r>
              <a:endParaRPr sz="1400" b="1" dirty="0">
                <a:latin typeface="+mn-ea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184876" y="5920127"/>
              <a:ext cx="3640605" cy="48218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400" dirty="0">
                  <a:latin typeface="+mn-ea"/>
                </a:rPr>
                <a:t>운영 </a:t>
              </a:r>
              <a:r>
                <a:rPr lang="en-US" altLang="ko-KR" sz="1400" dirty="0">
                  <a:latin typeface="+mn-ea"/>
                </a:rPr>
                <a:t>AP↔</a:t>
              </a:r>
              <a:r>
                <a:rPr lang="ko-KR" altLang="en-US" sz="1400" dirty="0">
                  <a:latin typeface="+mn-ea"/>
                </a:rPr>
                <a:t>개발 </a:t>
              </a:r>
              <a:r>
                <a:rPr lang="en-US" altLang="ko-KR" sz="1400" dirty="0">
                  <a:latin typeface="+mn-ea"/>
                </a:rPr>
                <a:t>Wi‑Fi </a:t>
              </a:r>
              <a:r>
                <a:rPr lang="ko-KR" altLang="en-US" sz="1400" dirty="0">
                  <a:latin typeface="+mn-ea"/>
                </a:rPr>
                <a:t>모드 판정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전환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개발 연결 실패 시 </a:t>
              </a:r>
              <a:r>
                <a:rPr lang="en-US" altLang="ko-KR" sz="1400" dirty="0">
                  <a:latin typeface="+mn-ea"/>
                </a:rPr>
                <a:t>AP </a:t>
              </a:r>
              <a:r>
                <a:rPr lang="ko-KR" altLang="en-US" sz="1400" dirty="0">
                  <a:latin typeface="+mn-ea"/>
                </a:rPr>
                <a:t>복구</a:t>
              </a:r>
              <a:endParaRPr sz="1400" b="0" dirty="0">
                <a:latin typeface="+mn-ea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944223" y="6498090"/>
              <a:ext cx="4512504" cy="235962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200" dirty="0" err="1">
                  <a:latin typeface="+mn-ea"/>
                </a:rPr>
                <a:t>network_mode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activate_connection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switch_mode</a:t>
              </a:r>
              <a:r>
                <a:rPr lang="en-US" altLang="ko-KR" sz="1200" dirty="0">
                  <a:latin typeface="+mn-ea"/>
                </a:rPr>
                <a:t>()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756354" y="3634976"/>
            <a:ext cx="5035904" cy="826278"/>
            <a:chOff x="756354" y="3921559"/>
            <a:chExt cx="5035904" cy="826278"/>
          </a:xfrm>
        </p:grpSpPr>
        <p:sp>
          <p:nvSpPr>
            <p:cNvPr id="27" name="Rounded Rectangle 16"/>
            <p:cNvSpPr/>
            <p:nvPr/>
          </p:nvSpPr>
          <p:spPr>
            <a:xfrm>
              <a:off x="756354" y="3950570"/>
              <a:ext cx="1371600" cy="310896"/>
            </a:xfrm>
            <a:prstGeom prst="roundRect">
              <a:avLst/>
            </a:prstGeom>
            <a:solidFill>
              <a:srgbClr val="EFF4FF"/>
            </a:solidFill>
            <a:ln w="11430">
              <a:solidFill>
                <a:srgbClr val="C3D6F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81754" y="3998296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>
                  <a:latin typeface="+mn-ea"/>
                </a:rPr>
                <a:t>uart_service.py</a:t>
              </a:r>
              <a:endParaRPr sz="1400" b="1" dirty="0">
                <a:latin typeface="+mn-ea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218100" y="3921559"/>
              <a:ext cx="3574158" cy="48218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400" dirty="0">
                  <a:latin typeface="+mn-ea"/>
                </a:rPr>
                <a:t>UART </a:t>
              </a:r>
              <a:r>
                <a:rPr lang="ko-KR" altLang="en-US" sz="1400" dirty="0">
                  <a:latin typeface="+mn-ea"/>
                </a:rPr>
                <a:t>작업 스레드 </a:t>
              </a:r>
              <a:r>
                <a:rPr lang="en-US" altLang="ko-KR" sz="1400" dirty="0">
                  <a:latin typeface="+mn-ea"/>
                </a:rPr>
                <a:t>/ </a:t>
              </a:r>
              <a:r>
                <a:rPr lang="ko-KR" altLang="en-US" sz="1400" dirty="0">
                  <a:latin typeface="+mn-ea"/>
                </a:rPr>
                <a:t>명령 송수신 </a:t>
              </a:r>
              <a:r>
                <a:rPr lang="en-US" altLang="ko-KR" sz="1400" dirty="0">
                  <a:latin typeface="+mn-ea"/>
                </a:rPr>
                <a:t>/ ACK·WAIT·RESULT </a:t>
              </a:r>
              <a:r>
                <a:rPr lang="ko-KR" altLang="en-US" sz="1400" dirty="0">
                  <a:latin typeface="+mn-ea"/>
                </a:rPr>
                <a:t>처리</a:t>
              </a:r>
              <a:r>
                <a:rPr lang="en-US" altLang="ko-KR" sz="1400" dirty="0">
                  <a:latin typeface="+mn-ea"/>
                </a:rPr>
                <a:t>·</a:t>
              </a:r>
              <a:r>
                <a:rPr lang="ko-KR" altLang="en-US" sz="1400" dirty="0">
                  <a:latin typeface="+mn-ea"/>
                </a:rPr>
                <a:t>재전송</a:t>
              </a:r>
              <a:endParaRPr sz="1400" b="0" dirty="0">
                <a:latin typeface="+mn-ea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927804" y="4327209"/>
              <a:ext cx="3929946" cy="420628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altLang="ko-KR" sz="1200" dirty="0" err="1">
                  <a:latin typeface="+mn-ea"/>
                </a:rPr>
                <a:t>build_move_command</a:t>
              </a:r>
              <a:r>
                <a:rPr lang="en-US" altLang="ko-KR" sz="1200" dirty="0">
                  <a:latin typeface="+mn-ea"/>
                </a:rPr>
                <a:t>() · </a:t>
              </a:r>
              <a:r>
                <a:rPr lang="en-US" altLang="ko-KR" sz="1200" dirty="0" err="1">
                  <a:latin typeface="+mn-ea"/>
                </a:rPr>
                <a:t>parse_protocol_message</a:t>
              </a:r>
              <a:r>
                <a:rPr lang="en-US" altLang="ko-KR" sz="1200" dirty="0">
                  <a:latin typeface="+mn-ea"/>
                </a:rPr>
                <a:t>() · _</a:t>
              </a:r>
              <a:r>
                <a:rPr lang="en-US" altLang="ko-KR" sz="1200" dirty="0" err="1">
                  <a:latin typeface="+mn-ea"/>
                </a:rPr>
                <a:t>handle_message</a:t>
              </a:r>
              <a:r>
                <a:rPr lang="en-US" altLang="ko-KR" sz="1200" dirty="0">
                  <a:latin typeface="+mn-ea"/>
                </a:rPr>
                <a:t>() · _</a:t>
              </a:r>
              <a:r>
                <a:rPr lang="en-US" altLang="ko-KR" sz="1200" dirty="0" err="1">
                  <a:latin typeface="+mn-ea"/>
                </a:rPr>
                <a:t>process_schedules</a:t>
              </a:r>
              <a:r>
                <a:rPr lang="en-US" altLang="ko-KR" sz="1200" dirty="0">
                  <a:latin typeface="+mn-ea"/>
                </a:rPr>
                <a:t>()</a:t>
              </a:r>
              <a:endParaRPr lang="ko-KR" altLang="en-US" sz="1200" dirty="0">
                <a:latin typeface="+mn-ea"/>
              </a:endParaRPr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6433378" y="2227540"/>
            <a:ext cx="5047422" cy="775452"/>
            <a:chOff x="6537960" y="2583144"/>
            <a:chExt cx="5047422" cy="775452"/>
          </a:xfrm>
        </p:grpSpPr>
        <p:sp>
          <p:nvSpPr>
            <p:cNvPr id="39" name="Rounded Rectangle 28"/>
            <p:cNvSpPr/>
            <p:nvPr/>
          </p:nvSpPr>
          <p:spPr>
            <a:xfrm>
              <a:off x="6537960" y="2601103"/>
              <a:ext cx="1371600" cy="310896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C2E6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563360" y="2648829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uart.c</a:t>
              </a:r>
              <a:endParaRPr sz="1400" b="1" dirty="0">
                <a:latin typeface="+mn-ea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677660" y="2999523"/>
              <a:ext cx="4907722" cy="3590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sz="1000" dirty="0" err="1">
                  <a:latin typeface="+mn-ea"/>
                </a:rPr>
                <a:t>Uart_ReadLine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Uart_WriteLine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Protocol_Parse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Fsm_CheckIdConflict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Fsm_IsDuplicate</a:t>
              </a:r>
              <a:r>
                <a:rPr lang="en-US" sz="1000" dirty="0">
                  <a:latin typeface="+mn-ea"/>
                </a:rPr>
                <a:t>() 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998459" y="2583144"/>
              <a:ext cx="3586923" cy="374461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050" dirty="0" err="1">
                  <a:latin typeface="+mn-ea"/>
                </a:rPr>
                <a:t>링버퍼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ko-KR" altLang="en-US" sz="1050" dirty="0" err="1">
                  <a:latin typeface="+mn-ea"/>
                </a:rPr>
                <a:t>수송신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필드 분리</a:t>
              </a:r>
              <a:r>
                <a:rPr lang="en-US" altLang="ko-KR" sz="1050" dirty="0">
                  <a:latin typeface="+mn-ea"/>
                </a:rPr>
                <a:t>/</a:t>
              </a:r>
              <a:r>
                <a:rPr lang="ko-KR" altLang="en-US" sz="1050" dirty="0">
                  <a:latin typeface="+mn-ea"/>
                </a:rPr>
                <a:t>프레임 </a:t>
              </a:r>
              <a:r>
                <a:rPr lang="ko-KR" altLang="en-US" sz="1050" dirty="0" err="1">
                  <a:latin typeface="+mn-ea"/>
                </a:rPr>
                <a:t>파싱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· REQ_ID </a:t>
              </a:r>
              <a:r>
                <a:rPr lang="ko-KR" altLang="en-US" sz="1050" dirty="0">
                  <a:latin typeface="+mn-ea"/>
                </a:rPr>
                <a:t>포맷 검증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동일 </a:t>
              </a:r>
              <a:r>
                <a:rPr lang="ko-KR" altLang="en-US" sz="1050" dirty="0" err="1">
                  <a:latin typeface="+mn-ea"/>
                </a:rPr>
                <a:t>요청번호의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Payload </a:t>
              </a:r>
              <a:r>
                <a:rPr lang="ko-KR" altLang="en-US" sz="1050" dirty="0">
                  <a:latin typeface="+mn-ea"/>
                </a:rPr>
                <a:t>충돌 판정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재전송</a:t>
              </a:r>
              <a:r>
                <a:rPr lang="en-US" altLang="ko-KR" sz="1050" dirty="0">
                  <a:latin typeface="+mn-ea"/>
                </a:rPr>
                <a:t>(</a:t>
              </a:r>
              <a:r>
                <a:rPr lang="ko-KR" altLang="en-US" sz="1050" dirty="0">
                  <a:latin typeface="+mn-ea"/>
                </a:rPr>
                <a:t>중복</a:t>
              </a:r>
              <a:r>
                <a:rPr lang="en-US" altLang="ko-KR" sz="1050" dirty="0">
                  <a:latin typeface="+mn-ea"/>
                </a:rPr>
                <a:t>) </a:t>
              </a:r>
              <a:r>
                <a:rPr lang="ko-KR" altLang="en-US" sz="1050" dirty="0">
                  <a:latin typeface="+mn-ea"/>
                </a:rPr>
                <a:t>판정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83576B8-E94D-5E48-296F-0A85A5793DCD}"/>
              </a:ext>
            </a:extLst>
          </p:cNvPr>
          <p:cNvGrpSpPr/>
          <p:nvPr/>
        </p:nvGrpSpPr>
        <p:grpSpPr>
          <a:xfrm>
            <a:off x="6433378" y="3023240"/>
            <a:ext cx="5047422" cy="929340"/>
            <a:chOff x="6537960" y="2583144"/>
            <a:chExt cx="5047422" cy="929340"/>
          </a:xfrm>
        </p:grpSpPr>
        <p:sp>
          <p:nvSpPr>
            <p:cNvPr id="26" name="Rounded Rectangle 28">
              <a:extLst>
                <a:ext uri="{FF2B5EF4-FFF2-40B4-BE49-F238E27FC236}">
                  <a16:creationId xmlns:a16="http://schemas.microsoft.com/office/drawing/2014/main" id="{0F4EFA79-8E75-9D9F-7C6C-84F5FB1EED77}"/>
                </a:ext>
              </a:extLst>
            </p:cNvPr>
            <p:cNvSpPr/>
            <p:nvPr/>
          </p:nvSpPr>
          <p:spPr>
            <a:xfrm>
              <a:off x="6537960" y="2601103"/>
              <a:ext cx="1371600" cy="310896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C2E6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9749085-AE1D-0472-260A-EEF7C473680B}"/>
                </a:ext>
              </a:extLst>
            </p:cNvPr>
            <p:cNvSpPr txBox="1"/>
            <p:nvPr/>
          </p:nvSpPr>
          <p:spPr>
            <a:xfrm>
              <a:off x="6563360" y="2648829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stepper.c</a:t>
              </a:r>
              <a:endParaRPr sz="1400" b="1" dirty="0">
                <a:latin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BC09285-2893-3A47-5AF5-241456553FD0}"/>
                </a:ext>
              </a:extLst>
            </p:cNvPr>
            <p:cNvSpPr txBox="1"/>
            <p:nvPr/>
          </p:nvSpPr>
          <p:spPr>
            <a:xfrm>
              <a:off x="6677660" y="2999523"/>
              <a:ext cx="4907722" cy="512961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sz="1000" dirty="0" err="1">
                  <a:latin typeface="+mn-ea"/>
                </a:rPr>
                <a:t>Stepper_MoveToSlot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Stepper_IsBusy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Stepper_ReleaseAll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Stepper_MoveToSlot</a:t>
              </a:r>
              <a:r>
                <a:rPr lang="en-US" sz="1000" dirty="0">
                  <a:latin typeface="+mn-ea"/>
                </a:rPr>
                <a:t>() </a:t>
              </a:r>
              <a:r>
                <a:rPr lang="en-US" altLang="ko-KR" sz="1000" dirty="0">
                  <a:latin typeface="+mn-ea"/>
                </a:rPr>
                <a:t>· </a:t>
              </a:r>
              <a:r>
                <a:rPr lang="en-US" altLang="ko-KR" sz="1000" dirty="0" err="1">
                  <a:latin typeface="+mn-ea"/>
                </a:rPr>
                <a:t>Stepper_AxisBusy</a:t>
              </a:r>
              <a:r>
                <a:rPr lang="en-US" altLang="ko-KR" sz="1000" dirty="0">
                  <a:latin typeface="+mn-ea"/>
                </a:rPr>
                <a:t>() · </a:t>
              </a:r>
              <a:r>
                <a:rPr lang="en-US" altLang="ko-KR" sz="1000" dirty="0" err="1">
                  <a:latin typeface="+mn-ea"/>
                </a:rPr>
                <a:t>Stepper_Stop</a:t>
              </a:r>
              <a:r>
                <a:rPr lang="en-US" altLang="ko-KR" sz="1000" dirty="0">
                  <a:latin typeface="+mn-ea"/>
                </a:rPr>
                <a:t>() · </a:t>
              </a:r>
              <a:r>
                <a:rPr lang="en-US" altLang="ko-KR" sz="1000" dirty="0" err="1">
                  <a:latin typeface="+mn-ea"/>
                </a:rPr>
                <a:t>Stepper_StepRaw</a:t>
              </a:r>
              <a:r>
                <a:rPr lang="en-US" altLang="ko-KR" sz="1000" dirty="0">
                  <a:latin typeface="+mn-ea"/>
                </a:rPr>
                <a:t>() · </a:t>
              </a:r>
              <a:r>
                <a:rPr lang="en-US" altLang="ko-KR" sz="1000" dirty="0" err="1">
                  <a:latin typeface="+mn-ea"/>
                </a:rPr>
                <a:t>Stepper_ZeroAt</a:t>
              </a:r>
              <a:r>
                <a:rPr lang="en-US" altLang="ko-KR" sz="1000" dirty="0">
                  <a:latin typeface="+mn-ea"/>
                </a:rPr>
                <a:t>()</a:t>
              </a:r>
              <a:r>
                <a:rPr lang="en-US" sz="1000" dirty="0">
                  <a:latin typeface="+mn-ea"/>
                </a:rPr>
                <a:t>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AEE62D-D2AE-99FA-55EC-0322313351BE}"/>
                </a:ext>
              </a:extLst>
            </p:cNvPr>
            <p:cNvSpPr txBox="1"/>
            <p:nvPr/>
          </p:nvSpPr>
          <p:spPr>
            <a:xfrm>
              <a:off x="7998459" y="2583144"/>
              <a:ext cx="3586923" cy="374461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050" dirty="0" err="1">
                  <a:latin typeface="+mn-ea"/>
                </a:rPr>
                <a:t>스테핑모터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X/Y</a:t>
              </a:r>
              <a:r>
                <a:rPr lang="ko-KR" altLang="en-US" sz="1050" dirty="0">
                  <a:latin typeface="+mn-ea"/>
                </a:rPr>
                <a:t>축 슬롯 좌표 이동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원점 복귀 </a:t>
              </a:r>
              <a:r>
                <a:rPr lang="en-US" altLang="ko-KR" sz="1050" dirty="0">
                  <a:latin typeface="+mn-ea"/>
                </a:rPr>
                <a:t>· FULL DRIVE </a:t>
              </a:r>
              <a:r>
                <a:rPr lang="ko-KR" altLang="en-US" sz="1050" dirty="0">
                  <a:latin typeface="+mn-ea"/>
                </a:rPr>
                <a:t>제어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슬롯 좌표 ↔ 절대 스텝 변환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ADEC26B0-A195-6675-A5E8-900C5EA3ABA0}"/>
              </a:ext>
            </a:extLst>
          </p:cNvPr>
          <p:cNvGrpSpPr/>
          <p:nvPr/>
        </p:nvGrpSpPr>
        <p:grpSpPr>
          <a:xfrm>
            <a:off x="6433378" y="3996170"/>
            <a:ext cx="5047422" cy="621563"/>
            <a:chOff x="6537960" y="2583144"/>
            <a:chExt cx="5047422" cy="621563"/>
          </a:xfrm>
        </p:grpSpPr>
        <p:sp>
          <p:nvSpPr>
            <p:cNvPr id="61" name="Rounded Rectangle 28">
              <a:extLst>
                <a:ext uri="{FF2B5EF4-FFF2-40B4-BE49-F238E27FC236}">
                  <a16:creationId xmlns:a16="http://schemas.microsoft.com/office/drawing/2014/main" id="{0696735D-594F-038A-1A31-4D515F8643F5}"/>
                </a:ext>
              </a:extLst>
            </p:cNvPr>
            <p:cNvSpPr/>
            <p:nvPr/>
          </p:nvSpPr>
          <p:spPr>
            <a:xfrm>
              <a:off x="6537960" y="2601103"/>
              <a:ext cx="1371600" cy="310896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C2E6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E8AD39B1-4FCA-1202-553F-8BA104F55960}"/>
                </a:ext>
              </a:extLst>
            </p:cNvPr>
            <p:cNvSpPr txBox="1"/>
            <p:nvPr/>
          </p:nvSpPr>
          <p:spPr>
            <a:xfrm>
              <a:off x="6563360" y="2648829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servo.c</a:t>
              </a:r>
              <a:endParaRPr sz="1400" b="1" dirty="0"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261F93D-D57D-DA14-7750-14B2FBBAF36D}"/>
                </a:ext>
              </a:extLst>
            </p:cNvPr>
            <p:cNvSpPr txBox="1"/>
            <p:nvPr/>
          </p:nvSpPr>
          <p:spPr>
            <a:xfrm>
              <a:off x="6677660" y="2999523"/>
              <a:ext cx="4907722" cy="205184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sz="1000" dirty="0" err="1">
                  <a:latin typeface="+mn-ea"/>
                </a:rPr>
                <a:t>Servo_StartPushRamp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Servo_ReturnIdle</a:t>
              </a:r>
              <a:r>
                <a:rPr lang="en-US" sz="1000" dirty="0">
                  <a:latin typeface="+mn-ea"/>
                </a:rPr>
                <a:t>() · Servo_IsBusy()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D9E681A2-9F06-F27E-9F73-FCDA86536690}"/>
                </a:ext>
              </a:extLst>
            </p:cNvPr>
            <p:cNvSpPr txBox="1"/>
            <p:nvPr/>
          </p:nvSpPr>
          <p:spPr>
            <a:xfrm>
              <a:off x="7998459" y="2583144"/>
              <a:ext cx="3586923" cy="212879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050" dirty="0">
                  <a:latin typeface="+mn-ea"/>
                </a:rPr>
                <a:t>배출 압출 동작 구동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원위치 복귀 제어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8CB1B9D-AF64-3B8C-A510-51B0E7A39BCE}"/>
              </a:ext>
            </a:extLst>
          </p:cNvPr>
          <p:cNvGrpSpPr/>
          <p:nvPr/>
        </p:nvGrpSpPr>
        <p:grpSpPr>
          <a:xfrm>
            <a:off x="6433378" y="4719861"/>
            <a:ext cx="5047422" cy="775452"/>
            <a:chOff x="6537960" y="2583144"/>
            <a:chExt cx="5047422" cy="775452"/>
          </a:xfrm>
        </p:grpSpPr>
        <p:sp>
          <p:nvSpPr>
            <p:cNvPr id="69" name="Rounded Rectangle 28">
              <a:extLst>
                <a:ext uri="{FF2B5EF4-FFF2-40B4-BE49-F238E27FC236}">
                  <a16:creationId xmlns:a16="http://schemas.microsoft.com/office/drawing/2014/main" id="{A4923D3D-3AB3-B8BF-7467-71775FDDEFEF}"/>
                </a:ext>
              </a:extLst>
            </p:cNvPr>
            <p:cNvSpPr/>
            <p:nvPr/>
          </p:nvSpPr>
          <p:spPr>
            <a:xfrm>
              <a:off x="6537960" y="2601103"/>
              <a:ext cx="1371600" cy="310896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C2E6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8C9B5ED-9383-8452-76BC-E6873233D6A7}"/>
                </a:ext>
              </a:extLst>
            </p:cNvPr>
            <p:cNvSpPr txBox="1"/>
            <p:nvPr/>
          </p:nvSpPr>
          <p:spPr>
            <a:xfrm>
              <a:off x="6563360" y="2648829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sensors.c</a:t>
              </a:r>
              <a:endParaRPr sz="1400" b="1" dirty="0">
                <a:latin typeface="+mn-ea"/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01CD7E1-EFF6-81B4-63E5-C1F3062EB9CA}"/>
                </a:ext>
              </a:extLst>
            </p:cNvPr>
            <p:cNvSpPr txBox="1"/>
            <p:nvPr/>
          </p:nvSpPr>
          <p:spPr>
            <a:xfrm>
              <a:off x="6677660" y="2999523"/>
              <a:ext cx="4907722" cy="359073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sz="1000" dirty="0" err="1">
                  <a:latin typeface="+mn-ea"/>
                </a:rPr>
                <a:t>Sensors_IrDetected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Sensors_IrEnable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Sensors_HomeLevel</a:t>
              </a:r>
              <a:r>
                <a:rPr lang="en-US" sz="1000" dirty="0">
                  <a:latin typeface="+mn-ea"/>
                </a:rPr>
                <a:t>() </a:t>
              </a:r>
              <a:r>
                <a:rPr lang="en-US" altLang="ko-KR" sz="1000" dirty="0">
                  <a:latin typeface="+mn-ea"/>
                </a:rPr>
                <a:t>· </a:t>
              </a:r>
              <a:r>
                <a:rPr lang="en-US" altLang="ko-KR" sz="1000" dirty="0" err="1">
                  <a:latin typeface="+mn-ea"/>
                </a:rPr>
                <a:t>Sensors_HomeLatched</a:t>
              </a:r>
              <a:r>
                <a:rPr lang="en-US" altLang="ko-KR" sz="1000" dirty="0">
                  <a:latin typeface="+mn-ea"/>
                </a:rPr>
                <a:t>()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C71DECE-7137-9529-063C-847B7C8C2603}"/>
                </a:ext>
              </a:extLst>
            </p:cNvPr>
            <p:cNvSpPr txBox="1"/>
            <p:nvPr/>
          </p:nvSpPr>
          <p:spPr>
            <a:xfrm>
              <a:off x="7998459" y="2583144"/>
              <a:ext cx="3586923" cy="212879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050" dirty="0">
                  <a:latin typeface="+mn-ea"/>
                </a:rPr>
                <a:t>상품 낙하 감지</a:t>
              </a:r>
              <a:r>
                <a:rPr lang="en-US" altLang="ko-KR" sz="1050" dirty="0">
                  <a:latin typeface="+mn-ea"/>
                </a:rPr>
                <a:t>(IR)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en-US" altLang="ko-KR" sz="1050" dirty="0">
                  <a:latin typeface="+mn-ea"/>
                </a:rPr>
                <a:t>· </a:t>
              </a:r>
              <a:r>
                <a:rPr lang="ko-KR" altLang="en-US" sz="1050" dirty="0">
                  <a:latin typeface="+mn-ea"/>
                </a:rPr>
                <a:t>원점 위치 감지</a:t>
              </a:r>
              <a:r>
                <a:rPr lang="en-US" altLang="ko-KR" sz="1050" dirty="0">
                  <a:latin typeface="+mn-ea"/>
                </a:rPr>
                <a:t>(</a:t>
              </a:r>
              <a:r>
                <a:rPr lang="ko-KR" altLang="en-US" sz="1050" dirty="0" err="1">
                  <a:latin typeface="+mn-ea"/>
                </a:rPr>
                <a:t>홈센서</a:t>
              </a:r>
              <a:r>
                <a:rPr lang="en-US" altLang="ko-KR" sz="1050" dirty="0">
                  <a:latin typeface="+mn-ea"/>
                </a:rPr>
                <a:t>)</a:t>
              </a:r>
              <a:endParaRPr lang="en-US" sz="1000" dirty="0">
                <a:latin typeface="+mn-ea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A41AA92-F951-7D2A-294A-FF19A78963B5}"/>
              </a:ext>
            </a:extLst>
          </p:cNvPr>
          <p:cNvGrpSpPr/>
          <p:nvPr/>
        </p:nvGrpSpPr>
        <p:grpSpPr>
          <a:xfrm>
            <a:off x="6433378" y="5612085"/>
            <a:ext cx="5047422" cy="621563"/>
            <a:chOff x="6537960" y="2583144"/>
            <a:chExt cx="5047422" cy="621563"/>
          </a:xfrm>
        </p:grpSpPr>
        <p:sp>
          <p:nvSpPr>
            <p:cNvPr id="74" name="Rounded Rectangle 28">
              <a:extLst>
                <a:ext uri="{FF2B5EF4-FFF2-40B4-BE49-F238E27FC236}">
                  <a16:creationId xmlns:a16="http://schemas.microsoft.com/office/drawing/2014/main" id="{55FF255C-1ED8-5E89-3139-910457511131}"/>
                </a:ext>
              </a:extLst>
            </p:cNvPr>
            <p:cNvSpPr/>
            <p:nvPr/>
          </p:nvSpPr>
          <p:spPr>
            <a:xfrm>
              <a:off x="6537960" y="2601103"/>
              <a:ext cx="1371600" cy="310896"/>
            </a:xfrm>
            <a:prstGeom prst="roundRect">
              <a:avLst/>
            </a:prstGeom>
            <a:solidFill>
              <a:srgbClr val="EFF9F5"/>
            </a:solidFill>
            <a:ln w="11430">
              <a:solidFill>
                <a:srgbClr val="C2E6D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80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77F7503D-1388-98C5-FF6D-6006E3B9DC4D}"/>
                </a:ext>
              </a:extLst>
            </p:cNvPr>
            <p:cNvSpPr txBox="1"/>
            <p:nvPr/>
          </p:nvSpPr>
          <p:spPr>
            <a:xfrm>
              <a:off x="6563360" y="2648829"/>
              <a:ext cx="1320800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dirty="0" err="1">
                  <a:latin typeface="+mn-ea"/>
                </a:rPr>
                <a:t>dispense.c</a:t>
              </a:r>
              <a:endParaRPr sz="1400" b="1" dirty="0">
                <a:latin typeface="+mn-ea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0FDDB7C0-DCE0-3DD8-0FCB-1B5A894FEC18}"/>
                </a:ext>
              </a:extLst>
            </p:cNvPr>
            <p:cNvSpPr txBox="1"/>
            <p:nvPr/>
          </p:nvSpPr>
          <p:spPr>
            <a:xfrm>
              <a:off x="6677660" y="2999523"/>
              <a:ext cx="4907722" cy="205184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en-US" sz="1000" dirty="0" err="1">
                  <a:latin typeface="+mn-ea"/>
                </a:rPr>
                <a:t>Dispense_Start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Dispense_IsComplete</a:t>
              </a:r>
              <a:r>
                <a:rPr lang="en-US" sz="1000" dirty="0">
                  <a:latin typeface="+mn-ea"/>
                </a:rPr>
                <a:t>() · </a:t>
              </a:r>
              <a:r>
                <a:rPr lang="en-US" sz="1000" dirty="0" err="1">
                  <a:latin typeface="+mn-ea"/>
                </a:rPr>
                <a:t>Dispense_Result</a:t>
              </a:r>
              <a:r>
                <a:rPr lang="en-US" sz="1000" dirty="0">
                  <a:latin typeface="+mn-ea"/>
                </a:rPr>
                <a:t>() </a:t>
              </a:r>
              <a:r>
                <a:rPr lang="en-US" altLang="ko-KR" sz="1000" dirty="0">
                  <a:latin typeface="+mn-ea"/>
                </a:rPr>
                <a:t>· </a:t>
              </a:r>
              <a:r>
                <a:rPr lang="en-US" altLang="ko-KR" sz="1000" dirty="0" err="1">
                  <a:latin typeface="+mn-ea"/>
                </a:rPr>
                <a:t>Dispense_Task</a:t>
              </a:r>
              <a:r>
                <a:rPr lang="en-US" altLang="ko-KR" sz="1000" dirty="0">
                  <a:latin typeface="+mn-ea"/>
                </a:rPr>
                <a:t>()</a:t>
              </a:r>
              <a:endParaRPr lang="en-US" sz="1000" dirty="0">
                <a:latin typeface="+mn-ea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C62DB6F9-DE30-1F6B-E6EB-3520441DEFA0}"/>
                </a:ext>
              </a:extLst>
            </p:cNvPr>
            <p:cNvSpPr txBox="1"/>
            <p:nvPr/>
          </p:nvSpPr>
          <p:spPr>
            <a:xfrm>
              <a:off x="7998459" y="2583144"/>
              <a:ext cx="3586923" cy="212879"/>
            </a:xfrm>
            <a:prstGeom prst="rect">
              <a:avLst/>
            </a:prstGeom>
            <a:noFill/>
          </p:spPr>
          <p:txBody>
            <a:bodyPr wrap="square" lIns="25400" tIns="25400" rIns="25400" bIns="25400" anchor="t">
              <a:spAutoFit/>
            </a:bodyPr>
            <a:lstStyle/>
            <a:p>
              <a:r>
                <a:rPr lang="ko-KR" altLang="en-US" sz="1050" dirty="0">
                  <a:latin typeface="+mn-ea"/>
                </a:rPr>
                <a:t>배출 시퀀스 총괄</a:t>
              </a:r>
              <a:r>
                <a:rPr lang="en-US" altLang="ko-KR" sz="1050" dirty="0">
                  <a:latin typeface="+mn-ea"/>
                </a:rPr>
                <a:t>(</a:t>
              </a:r>
              <a:r>
                <a:rPr lang="ko-KR" altLang="en-US" sz="1050" dirty="0">
                  <a:latin typeface="+mn-ea"/>
                </a:rPr>
                <a:t>이동</a:t>
              </a:r>
              <a:r>
                <a:rPr lang="en-US" altLang="ko-KR" sz="1050" dirty="0">
                  <a:latin typeface="+mn-ea"/>
                </a:rPr>
                <a:t>·</a:t>
              </a:r>
              <a:r>
                <a:rPr lang="ko-KR" altLang="en-US" sz="1050" dirty="0">
                  <a:latin typeface="+mn-ea"/>
                </a:rPr>
                <a:t>압출</a:t>
              </a:r>
              <a:r>
                <a:rPr lang="en-US" altLang="ko-KR" sz="1050" dirty="0">
                  <a:latin typeface="+mn-ea"/>
                </a:rPr>
                <a:t>·</a:t>
              </a:r>
              <a:r>
                <a:rPr lang="ko-KR" altLang="en-US" sz="1050" dirty="0">
                  <a:latin typeface="+mn-ea"/>
                </a:rPr>
                <a:t>감지</a:t>
              </a:r>
              <a:r>
                <a:rPr lang="en-US" altLang="ko-KR" sz="1050" dirty="0">
                  <a:latin typeface="+mn-ea"/>
                </a:rPr>
                <a:t>) · </a:t>
              </a:r>
              <a:r>
                <a:rPr lang="ko-KR" altLang="en-US" sz="1050" dirty="0">
                  <a:latin typeface="+mn-ea"/>
                </a:rPr>
                <a:t>배출 결과 판정</a:t>
              </a:r>
              <a:endParaRPr lang="en-US" sz="10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523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5224" y="5912257"/>
            <a:ext cx="969383" cy="969383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구현상세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결과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– </a:t>
            </a:r>
            <a:r>
              <a:rPr lang="ko-KR" altLang="en-US" sz="3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구현 시험 현황</a:t>
            </a:r>
            <a:endParaRPr lang="ko-KR" altLang="en-US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388113"/>
            <a:ext cx="7658101" cy="21852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300" b="0" dirty="0" err="1">
                <a:solidFill>
                  <a:srgbClr val="5F6B7E"/>
                </a:solidFill>
              </a:rPr>
              <a:t>정상</a:t>
            </a:r>
            <a:r>
              <a:rPr sz="1300" b="0" dirty="0">
                <a:solidFill>
                  <a:srgbClr val="5F6B7E"/>
                </a:solidFill>
              </a:rPr>
              <a:t> </a:t>
            </a:r>
            <a:r>
              <a:rPr sz="1300" b="0" dirty="0" err="1">
                <a:solidFill>
                  <a:srgbClr val="5F6B7E"/>
                </a:solidFill>
              </a:rPr>
              <a:t>동작</a:t>
            </a:r>
            <a:r>
              <a:rPr sz="1300" b="0" dirty="0">
                <a:solidFill>
                  <a:srgbClr val="5F6B7E"/>
                </a:solidFill>
              </a:rPr>
              <a:t> + </a:t>
            </a:r>
            <a:r>
              <a:rPr sz="1300" b="0" dirty="0" err="1">
                <a:solidFill>
                  <a:srgbClr val="5F6B7E"/>
                </a:solidFill>
              </a:rPr>
              <a:t>예외</a:t>
            </a:r>
            <a:r>
              <a:rPr sz="1300" b="0" dirty="0">
                <a:solidFill>
                  <a:srgbClr val="5F6B7E"/>
                </a:solidFill>
              </a:rPr>
              <a:t>/</a:t>
            </a:r>
            <a:r>
              <a:rPr sz="1300" b="0" dirty="0" err="1">
                <a:solidFill>
                  <a:srgbClr val="5F6B7E"/>
                </a:solidFill>
              </a:rPr>
              <a:t>안전</a:t>
            </a:r>
            <a:r>
              <a:rPr sz="1300" b="0" dirty="0">
                <a:solidFill>
                  <a:srgbClr val="5F6B7E"/>
                </a:solidFill>
              </a:rPr>
              <a:t> </a:t>
            </a:r>
            <a:r>
              <a:rPr sz="1300" b="0" dirty="0" err="1">
                <a:solidFill>
                  <a:srgbClr val="5F6B7E"/>
                </a:solidFill>
              </a:rPr>
              <a:t>동작을</a:t>
            </a:r>
            <a:r>
              <a:rPr sz="1300" b="0" dirty="0">
                <a:solidFill>
                  <a:srgbClr val="5F6B7E"/>
                </a:solidFill>
              </a:rPr>
              <a:t> </a:t>
            </a:r>
            <a:r>
              <a:rPr sz="1300" b="0" dirty="0" err="1">
                <a:solidFill>
                  <a:srgbClr val="5F6B7E"/>
                </a:solidFill>
              </a:rPr>
              <a:t>분리하여</a:t>
            </a:r>
            <a:r>
              <a:rPr sz="1300" b="0" dirty="0">
                <a:solidFill>
                  <a:srgbClr val="5F6B7E"/>
                </a:solidFill>
              </a:rPr>
              <a:t> HW · SW · </a:t>
            </a:r>
            <a:r>
              <a:rPr sz="1300" b="0" dirty="0" err="1">
                <a:solidFill>
                  <a:srgbClr val="5F6B7E"/>
                </a:solidFill>
              </a:rPr>
              <a:t>통신</a:t>
            </a:r>
            <a:r>
              <a:rPr sz="1300" b="0" dirty="0">
                <a:solidFill>
                  <a:srgbClr val="5F6B7E"/>
                </a:solidFill>
              </a:rPr>
              <a:t> · </a:t>
            </a:r>
            <a:r>
              <a:rPr sz="1300" b="0" dirty="0" err="1">
                <a:solidFill>
                  <a:srgbClr val="5F6B7E"/>
                </a:solidFill>
              </a:rPr>
              <a:t>센서</a:t>
            </a:r>
            <a:r>
              <a:rPr sz="1300" b="0" dirty="0">
                <a:solidFill>
                  <a:srgbClr val="5F6B7E"/>
                </a:solidFill>
              </a:rPr>
              <a:t> · </a:t>
            </a:r>
            <a:r>
              <a:rPr sz="1300" b="0" dirty="0" err="1">
                <a:solidFill>
                  <a:srgbClr val="5F6B7E"/>
                </a:solidFill>
              </a:rPr>
              <a:t>DB를</a:t>
            </a:r>
            <a:r>
              <a:rPr sz="1300" b="0" dirty="0">
                <a:solidFill>
                  <a:srgbClr val="5F6B7E"/>
                </a:solidFill>
              </a:rPr>
              <a:t> </a:t>
            </a:r>
            <a:r>
              <a:rPr sz="1300" b="0" dirty="0" err="1">
                <a:solidFill>
                  <a:srgbClr val="5F6B7E"/>
                </a:solidFill>
              </a:rPr>
              <a:t>단계별</a:t>
            </a:r>
            <a:r>
              <a:rPr sz="1300" b="0" dirty="0">
                <a:solidFill>
                  <a:srgbClr val="5F6B7E"/>
                </a:solidFill>
              </a:rPr>
              <a:t> </a:t>
            </a:r>
            <a:r>
              <a:rPr sz="1300" b="0" dirty="0" err="1">
                <a:solidFill>
                  <a:srgbClr val="5F6B7E"/>
                </a:solidFill>
              </a:rPr>
              <a:t>검증</a:t>
            </a:r>
            <a:endParaRPr sz="1300" b="0" dirty="0">
              <a:solidFill>
                <a:srgbClr val="5F6B7E"/>
              </a:solidFill>
            </a:endParaRPr>
          </a:p>
        </p:txBody>
      </p:sp>
      <p:sp>
        <p:nvSpPr>
          <p:cNvPr id="8" name="Rounded Rectangle 92"/>
          <p:cNvSpPr/>
          <p:nvPr/>
        </p:nvSpPr>
        <p:spPr>
          <a:xfrm>
            <a:off x="356108" y="6281928"/>
            <a:ext cx="8128000" cy="365760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2215" y="6382268"/>
            <a:ext cx="7965694" cy="183127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070" b="1" dirty="0" err="1">
                <a:solidFill>
                  <a:srgbClr val="273244"/>
                </a:solidFill>
              </a:rPr>
              <a:t>핵심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검증</a:t>
            </a:r>
            <a:r>
              <a:rPr sz="1070" b="1" dirty="0">
                <a:solidFill>
                  <a:srgbClr val="273244"/>
                </a:solidFill>
              </a:rPr>
              <a:t>  |  </a:t>
            </a:r>
            <a:r>
              <a:rPr sz="1070" b="1" dirty="0" err="1">
                <a:solidFill>
                  <a:srgbClr val="273244"/>
                </a:solidFill>
              </a:rPr>
              <a:t>정상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복약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Flow와</a:t>
            </a:r>
            <a:r>
              <a:rPr sz="1070" b="1" dirty="0">
                <a:solidFill>
                  <a:srgbClr val="273244"/>
                </a:solidFill>
              </a:rPr>
              <a:t> “</a:t>
            </a:r>
            <a:r>
              <a:rPr sz="1070" b="1" dirty="0" err="1">
                <a:solidFill>
                  <a:srgbClr val="273244"/>
                </a:solidFill>
              </a:rPr>
              <a:t>동일</a:t>
            </a:r>
            <a:r>
              <a:rPr sz="1070" b="1" dirty="0">
                <a:solidFill>
                  <a:srgbClr val="273244"/>
                </a:solidFill>
              </a:rPr>
              <a:t> Request ID </a:t>
            </a:r>
            <a:r>
              <a:rPr sz="1070" b="1" dirty="0" err="1">
                <a:solidFill>
                  <a:srgbClr val="273244"/>
                </a:solidFill>
              </a:rPr>
              <a:t>재수신</a:t>
            </a:r>
            <a:r>
              <a:rPr sz="1070" b="1" dirty="0">
                <a:solidFill>
                  <a:srgbClr val="273244"/>
                </a:solidFill>
              </a:rPr>
              <a:t> 시 </a:t>
            </a:r>
            <a:r>
              <a:rPr sz="1070" b="1" dirty="0" err="1">
                <a:solidFill>
                  <a:srgbClr val="273244"/>
                </a:solidFill>
              </a:rPr>
              <a:t>중복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 smtClean="0">
                <a:solidFill>
                  <a:srgbClr val="273244"/>
                </a:solidFill>
              </a:rPr>
              <a:t>구동</a:t>
            </a:r>
            <a:r>
              <a:rPr sz="1070" b="1" dirty="0" smtClean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차단”을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함께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시험하여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기능성과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안전성을</a:t>
            </a:r>
            <a:r>
              <a:rPr sz="1070" b="1" dirty="0">
                <a:solidFill>
                  <a:srgbClr val="273244"/>
                </a:solidFill>
              </a:rPr>
              <a:t> </a:t>
            </a:r>
            <a:r>
              <a:rPr sz="1070" b="1" dirty="0" err="1">
                <a:solidFill>
                  <a:srgbClr val="273244"/>
                </a:solidFill>
              </a:rPr>
              <a:t>확인</a:t>
            </a:r>
            <a:endParaRPr sz="1070" b="1" dirty="0">
              <a:solidFill>
                <a:srgbClr val="273244"/>
              </a:solidFill>
            </a:endParaRP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90414"/>
              </p:ext>
            </p:extLst>
          </p:nvPr>
        </p:nvGraphicFramePr>
        <p:xfrm>
          <a:off x="356108" y="1684119"/>
          <a:ext cx="8128001" cy="3337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61801">
                  <a:extLst>
                    <a:ext uri="{9D8B030D-6E8A-4147-A177-3AD203B41FA5}">
                      <a16:colId xmlns:a16="http://schemas.microsoft.com/office/drawing/2014/main" val="3865460433"/>
                    </a:ext>
                  </a:extLst>
                </a:gridCol>
                <a:gridCol w="1222041">
                  <a:extLst>
                    <a:ext uri="{9D8B030D-6E8A-4147-A177-3AD203B41FA5}">
                      <a16:colId xmlns:a16="http://schemas.microsoft.com/office/drawing/2014/main" val="3697391598"/>
                    </a:ext>
                  </a:extLst>
                </a:gridCol>
                <a:gridCol w="2619375">
                  <a:extLst>
                    <a:ext uri="{9D8B030D-6E8A-4147-A177-3AD203B41FA5}">
                      <a16:colId xmlns:a16="http://schemas.microsoft.com/office/drawing/2014/main" val="4048575345"/>
                    </a:ext>
                  </a:extLst>
                </a:gridCol>
                <a:gridCol w="2609850">
                  <a:extLst>
                    <a:ext uri="{9D8B030D-6E8A-4147-A177-3AD203B41FA5}">
                      <a16:colId xmlns:a16="http://schemas.microsoft.com/office/drawing/2014/main" val="3131915910"/>
                    </a:ext>
                  </a:extLst>
                </a:gridCol>
                <a:gridCol w="1114934">
                  <a:extLst>
                    <a:ext uri="{9D8B030D-6E8A-4147-A177-3AD203B41FA5}">
                      <a16:colId xmlns:a16="http://schemas.microsoft.com/office/drawing/2014/main" val="27694261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No.</a:t>
                      </a:r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시험 항목</a:t>
                      </a:r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시험 방법</a:t>
                      </a:r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판정 기준</a:t>
                      </a:r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결과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558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01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/>
                        <a:t>예약 자동 실행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등록한 복약 시간이 도달하도록 예약 실행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Pi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가 해당 좌표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MOVE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요청 전송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52722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02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/>
                        <a:t>슬롯 위치 이동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2×5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좌표 중 지정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X/Y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로 이동 요청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목표 위치 도착 후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WAIT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반환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4296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03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/>
                        <a:t>사용자 승인 제어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WAIT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수신 전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후 배출 버튼 동작 비교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WAIT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이전 배출 차단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이후 활성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543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04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정제 압출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LCD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배출 승인 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DISPENSE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전송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서보가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 목표 슬롯에서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회만 구동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2311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05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정제 통과 감지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실제 정제를 배출구로 통과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IR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감지 후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RESULT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반환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9752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06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/>
                        <a:t>복약 결과 저장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1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회 복약 시나리오 완료 후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DB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확인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결과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시각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·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상태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SQLite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저장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6521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07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 err="1" smtClean="0"/>
                        <a:t>오동작</a:t>
                      </a:r>
                      <a:r>
                        <a:rPr lang="ko-KR" altLang="en-US" sz="1000" b="1" dirty="0" smtClean="0"/>
                        <a:t> 방지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ACK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유실 가정 → 동일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Request ID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재전송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000" b="1" dirty="0">
                          <a:solidFill>
                            <a:srgbClr val="273244"/>
                          </a:solidFill>
                        </a:rPr>
                        <a:t>동일 </a:t>
                      </a:r>
                      <a:r>
                        <a:rPr lang="en-US" altLang="ko-KR" sz="1000" b="1" dirty="0">
                          <a:solidFill>
                            <a:srgbClr val="273244"/>
                          </a:solidFill>
                        </a:rPr>
                        <a:t>ID </a:t>
                      </a:r>
                      <a:r>
                        <a:rPr lang="ko-KR" altLang="en-US" sz="1000" b="1" dirty="0" err="1">
                          <a:solidFill>
                            <a:srgbClr val="273244"/>
                          </a:solidFill>
                        </a:rPr>
                        <a:t>재수신</a:t>
                      </a:r>
                      <a:r>
                        <a:rPr lang="ko-KR" altLang="en-US" sz="1000" b="1" dirty="0">
                          <a:solidFill>
                            <a:srgbClr val="273244"/>
                          </a:solidFill>
                        </a:rPr>
                        <a:t> 시 물리 </a:t>
                      </a:r>
                      <a:r>
                        <a:rPr lang="ko-KR" altLang="en-US" sz="1000" b="1" dirty="0" err="1">
                          <a:solidFill>
                            <a:srgbClr val="273244"/>
                          </a:solidFill>
                        </a:rPr>
                        <a:t>재구동</a:t>
                      </a:r>
                      <a:r>
                        <a:rPr lang="ko-KR" altLang="en-US" sz="1000" b="1" dirty="0">
                          <a:solidFill>
                            <a:srgbClr val="273244"/>
                          </a:solidFill>
                        </a:rPr>
                        <a:t> 없음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085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08</a:t>
                      </a:r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dirty="0"/>
                        <a:t>원점 복귀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Home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동작 중 </a:t>
                      </a:r>
                      <a:r>
                        <a:rPr lang="en-US" altLang="ko-KR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SG255 </a:t>
                      </a:r>
                      <a:r>
                        <a:rPr lang="ko-KR" altLang="en-US" sz="1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차광 플래그 검출</a:t>
                      </a:r>
                      <a:endParaRPr lang="ko-KR" altLang="en-US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rgbClr val="273244"/>
                          </a:solidFill>
                        </a:rPr>
                        <a:t>원점 감지 즉시 해당 모터 정지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>
                          <a:solidFill>
                            <a:srgbClr val="2F5CBE"/>
                          </a:solidFill>
                          <a:latin typeface="+mn-lt"/>
                        </a:rPr>
                        <a:t>PASS</a:t>
                      </a:r>
                      <a:endParaRPr lang="ko-KR" altLang="en-US" sz="1600" b="1" dirty="0">
                        <a:solidFill>
                          <a:srgbClr val="2F5CBE"/>
                        </a:solidFill>
                        <a:latin typeface="+mn-lt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61318"/>
                  </a:ext>
                </a:extLst>
              </a:tr>
            </a:tbl>
          </a:graphicData>
        </a:graphic>
      </p:graphicFrame>
      <p:sp>
        <p:nvSpPr>
          <p:cNvPr id="11" name="Rounded Rectangle 71"/>
          <p:cNvSpPr/>
          <p:nvPr/>
        </p:nvSpPr>
        <p:spPr>
          <a:xfrm>
            <a:off x="356108" y="5122020"/>
            <a:ext cx="8128000" cy="105810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72"/>
          <p:cNvSpPr/>
          <p:nvPr/>
        </p:nvSpPr>
        <p:spPr>
          <a:xfrm flipH="1">
            <a:off x="337053" y="5122020"/>
            <a:ext cx="84957" cy="1058102"/>
          </a:xfrm>
          <a:prstGeom prst="rect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3805" y="5167954"/>
            <a:ext cx="2734056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420" b="1" dirty="0" err="1">
                <a:solidFill>
                  <a:srgbClr val="19B189"/>
                </a:solidFill>
              </a:rPr>
              <a:t>통합</a:t>
            </a:r>
            <a:r>
              <a:rPr sz="1420" b="1" dirty="0">
                <a:solidFill>
                  <a:srgbClr val="19B189"/>
                </a:solidFill>
              </a:rPr>
              <a:t> </a:t>
            </a:r>
            <a:r>
              <a:rPr sz="1420" b="1" dirty="0" err="1">
                <a:solidFill>
                  <a:srgbClr val="19B189"/>
                </a:solidFill>
              </a:rPr>
              <a:t>시험</a:t>
            </a:r>
            <a:r>
              <a:rPr sz="1420" b="1" dirty="0">
                <a:solidFill>
                  <a:srgbClr val="19B189"/>
                </a:solidFill>
              </a:rPr>
              <a:t> </a:t>
            </a:r>
            <a:r>
              <a:rPr sz="1420" b="1" dirty="0" err="1">
                <a:solidFill>
                  <a:srgbClr val="19B189"/>
                </a:solidFill>
              </a:rPr>
              <a:t>시나리오</a:t>
            </a:r>
            <a:endParaRPr sz="1420" b="1" dirty="0">
              <a:solidFill>
                <a:srgbClr val="19B189"/>
              </a:solidFill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577716" y="5478850"/>
            <a:ext cx="2807208" cy="633025"/>
            <a:chOff x="9105900" y="1854372"/>
            <a:chExt cx="2807208" cy="1366603"/>
          </a:xfrm>
        </p:grpSpPr>
        <p:sp>
          <p:nvSpPr>
            <p:cNvPr id="14" name="Rounded Rectangle 74"/>
            <p:cNvSpPr/>
            <p:nvPr/>
          </p:nvSpPr>
          <p:spPr>
            <a:xfrm>
              <a:off x="9105900" y="1854372"/>
              <a:ext cx="2807208" cy="1366603"/>
            </a:xfrm>
            <a:prstGeom prst="roundRect">
              <a:avLst/>
            </a:prstGeom>
            <a:solidFill>
              <a:srgbClr val="F7F9FC"/>
            </a:solidFill>
            <a:ln w="10160">
              <a:solidFill>
                <a:srgbClr val="D5DD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75"/>
            <p:cNvSpPr/>
            <p:nvPr/>
          </p:nvSpPr>
          <p:spPr>
            <a:xfrm>
              <a:off x="9233916" y="2242567"/>
              <a:ext cx="658368" cy="256032"/>
            </a:xfrm>
            <a:prstGeom prst="roundRect">
              <a:avLst/>
            </a:prstGeom>
            <a:solidFill>
              <a:srgbClr val="F0F5FF"/>
            </a:solidFill>
            <a:ln w="6350">
              <a:solidFill>
                <a:srgbClr val="F0F5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45015" y="2021493"/>
              <a:ext cx="658368" cy="256033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sz="919" b="1" dirty="0">
                  <a:solidFill>
                    <a:srgbClr val="2F5CBE"/>
                  </a:solidFill>
                </a:rPr>
                <a:t>NORMAL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252966" y="2366100"/>
              <a:ext cx="2386718" cy="704308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l"/>
              <a:r>
                <a:rPr sz="1000" b="1" dirty="0" err="1">
                  <a:solidFill>
                    <a:srgbClr val="273244"/>
                  </a:solidFill>
                </a:rPr>
                <a:t>예약</a:t>
              </a:r>
              <a:r>
                <a:rPr sz="1000" b="1" dirty="0">
                  <a:solidFill>
                    <a:srgbClr val="273244"/>
                  </a:solidFill>
                </a:rPr>
                <a:t> → MOVE → WAIT → </a:t>
              </a:r>
              <a:r>
                <a:rPr sz="1000" b="1" dirty="0" err="1">
                  <a:solidFill>
                    <a:srgbClr val="273244"/>
                  </a:solidFill>
                </a:rPr>
                <a:t>사용자</a:t>
              </a:r>
              <a:r>
                <a:rPr sz="1000" b="1" dirty="0">
                  <a:solidFill>
                    <a:srgbClr val="273244"/>
                  </a:solidFill>
                </a:rPr>
                <a:t> </a:t>
              </a:r>
              <a:r>
                <a:rPr sz="1000" b="1" dirty="0" err="1">
                  <a:solidFill>
                    <a:srgbClr val="273244"/>
                  </a:solidFill>
                </a:rPr>
                <a:t>승인</a:t>
              </a:r>
              <a:r>
                <a:rPr sz="1000" b="1" dirty="0">
                  <a:solidFill>
                    <a:srgbClr val="273244"/>
                  </a:solidFill>
                </a:rPr>
                <a:t>
→ DISPENSE → IR </a:t>
              </a:r>
              <a:r>
                <a:rPr sz="1000" b="1" dirty="0" err="1">
                  <a:solidFill>
                    <a:srgbClr val="273244"/>
                  </a:solidFill>
                </a:rPr>
                <a:t>감지</a:t>
              </a:r>
              <a:r>
                <a:rPr sz="1000" b="1" dirty="0">
                  <a:solidFill>
                    <a:srgbClr val="273244"/>
                  </a:solidFill>
                </a:rPr>
                <a:t> → DB </a:t>
              </a:r>
              <a:r>
                <a:rPr sz="1000" b="1" dirty="0" err="1">
                  <a:solidFill>
                    <a:srgbClr val="273244"/>
                  </a:solidFill>
                </a:rPr>
                <a:t>기록</a:t>
              </a:r>
              <a:endParaRPr sz="1000" b="1" dirty="0">
                <a:solidFill>
                  <a:srgbClr val="273244"/>
                </a:solidFill>
              </a:endParaRPr>
            </a:p>
          </p:txBody>
        </p:sp>
      </p:grpSp>
      <p:grpSp>
        <p:nvGrpSpPr>
          <p:cNvPr id="36" name="그룹 35"/>
          <p:cNvGrpSpPr/>
          <p:nvPr/>
        </p:nvGrpSpPr>
        <p:grpSpPr>
          <a:xfrm>
            <a:off x="3521576" y="5478851"/>
            <a:ext cx="2142624" cy="633026"/>
            <a:chOff x="9105900" y="3313901"/>
            <a:chExt cx="2142624" cy="1132372"/>
          </a:xfrm>
        </p:grpSpPr>
        <p:sp>
          <p:nvSpPr>
            <p:cNvPr id="18" name="Rounded Rectangle 78"/>
            <p:cNvSpPr/>
            <p:nvPr/>
          </p:nvSpPr>
          <p:spPr>
            <a:xfrm>
              <a:off x="9105900" y="3313901"/>
              <a:ext cx="2142624" cy="1132372"/>
            </a:xfrm>
            <a:prstGeom prst="roundRect">
              <a:avLst/>
            </a:prstGeom>
            <a:solidFill>
              <a:srgbClr val="EEFAF6"/>
            </a:solidFill>
            <a:ln w="10160">
              <a:solidFill>
                <a:srgbClr val="B8E3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173178" y="3437811"/>
              <a:ext cx="480066" cy="286062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sz="919" b="1" dirty="0">
                  <a:solidFill>
                    <a:srgbClr val="19B189"/>
                  </a:solidFill>
                </a:rPr>
                <a:t>SAFETY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233916" y="3708390"/>
              <a:ext cx="1887608" cy="583591"/>
            </a:xfrm>
            <a:prstGeom prst="rect">
              <a:avLst/>
            </a:prstGeom>
            <a:noFill/>
          </p:spPr>
          <p:txBody>
            <a:bodyPr wrap="square" lIns="27432" tIns="9144" rIns="27432" bIns="9144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273244"/>
                  </a:solidFill>
                </a:rPr>
                <a:t>ACK </a:t>
              </a:r>
              <a:r>
                <a:rPr sz="1000" b="1" dirty="0" err="1">
                  <a:solidFill>
                    <a:srgbClr val="273244"/>
                  </a:solidFill>
                </a:rPr>
                <a:t>유실</a:t>
              </a:r>
              <a:r>
                <a:rPr sz="1000" b="1" dirty="0">
                  <a:solidFill>
                    <a:srgbClr val="273244"/>
                  </a:solidFill>
                </a:rPr>
                <a:t> → </a:t>
              </a:r>
              <a:r>
                <a:rPr sz="1000" b="1" dirty="0" err="1">
                  <a:solidFill>
                    <a:srgbClr val="273244"/>
                  </a:solidFill>
                </a:rPr>
                <a:t>동일</a:t>
              </a:r>
              <a:r>
                <a:rPr sz="1000" b="1" dirty="0">
                  <a:solidFill>
                    <a:srgbClr val="273244"/>
                  </a:solidFill>
                </a:rPr>
                <a:t> ID </a:t>
              </a:r>
              <a:r>
                <a:rPr sz="1000" b="1" dirty="0" err="1">
                  <a:solidFill>
                    <a:srgbClr val="273244"/>
                  </a:solidFill>
                </a:rPr>
                <a:t>재전송</a:t>
              </a:r>
              <a:r>
                <a:rPr sz="1000" b="1" dirty="0">
                  <a:solidFill>
                    <a:srgbClr val="273244"/>
                  </a:solidFill>
                </a:rPr>
                <a:t>
→ </a:t>
              </a:r>
              <a:r>
                <a:rPr sz="1000" b="1" dirty="0" err="1">
                  <a:solidFill>
                    <a:srgbClr val="273244"/>
                  </a:solidFill>
                </a:rPr>
                <a:t>중복</a:t>
              </a:r>
              <a:r>
                <a:rPr sz="1000" b="1" dirty="0">
                  <a:solidFill>
                    <a:srgbClr val="273244"/>
                  </a:solidFill>
                </a:rPr>
                <a:t> ID </a:t>
              </a:r>
              <a:r>
                <a:rPr sz="1000" b="1" dirty="0" err="1">
                  <a:solidFill>
                    <a:srgbClr val="273244"/>
                  </a:solidFill>
                </a:rPr>
                <a:t>판별</a:t>
              </a:r>
              <a:r>
                <a:rPr sz="1000" b="1" dirty="0">
                  <a:solidFill>
                    <a:srgbClr val="273244"/>
                  </a:solidFill>
                </a:rPr>
                <a:t> → </a:t>
              </a:r>
              <a:r>
                <a:rPr sz="1000" b="1" dirty="0" err="1">
                  <a:solidFill>
                    <a:srgbClr val="273244"/>
                  </a:solidFill>
                </a:rPr>
                <a:t>재구동</a:t>
              </a:r>
              <a:r>
                <a:rPr sz="1000" b="1" dirty="0">
                  <a:solidFill>
                    <a:srgbClr val="273244"/>
                  </a:solidFill>
                </a:rPr>
                <a:t> </a:t>
              </a:r>
              <a:r>
                <a:rPr sz="1000" b="1" dirty="0" err="1">
                  <a:solidFill>
                    <a:srgbClr val="273244"/>
                  </a:solidFill>
                </a:rPr>
                <a:t>차단</a:t>
              </a:r>
              <a:endParaRPr sz="1000" b="1" dirty="0">
                <a:solidFill>
                  <a:srgbClr val="273244"/>
                </a:solidFill>
              </a:endParaRP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5796533" y="5174151"/>
            <a:ext cx="2566925" cy="946804"/>
            <a:chOff x="9142476" y="4713684"/>
            <a:chExt cx="2734056" cy="967027"/>
          </a:xfrm>
        </p:grpSpPr>
        <p:sp>
          <p:nvSpPr>
            <p:cNvPr id="22" name="TextBox 21"/>
            <p:cNvSpPr txBox="1"/>
            <p:nvPr/>
          </p:nvSpPr>
          <p:spPr>
            <a:xfrm>
              <a:off x="9142476" y="4713684"/>
              <a:ext cx="2734056" cy="196469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l"/>
              <a:r>
                <a:rPr lang="ko-KR" altLang="en-US" sz="1130" b="1" dirty="0">
                  <a:solidFill>
                    <a:srgbClr val="F28222"/>
                  </a:solidFill>
                </a:rPr>
                <a:t>복약 시나리오 통합 </a:t>
              </a:r>
              <a:r>
                <a:rPr lang="ko-KR" altLang="en-US" sz="1130" b="1" dirty="0" err="1">
                  <a:solidFill>
                    <a:srgbClr val="F28222"/>
                  </a:solidFill>
                </a:rPr>
                <a:t>반복시험</a:t>
              </a:r>
              <a:endParaRPr sz="1130" b="1" dirty="0">
                <a:solidFill>
                  <a:srgbClr val="F28222"/>
                </a:solidFill>
              </a:endParaRPr>
            </a:p>
          </p:txBody>
        </p:sp>
        <p:sp>
          <p:nvSpPr>
            <p:cNvPr id="23" name="Rounded Rectangle 83"/>
            <p:cNvSpPr/>
            <p:nvPr/>
          </p:nvSpPr>
          <p:spPr>
            <a:xfrm>
              <a:off x="9142476" y="4967476"/>
              <a:ext cx="813816" cy="713232"/>
            </a:xfrm>
            <a:prstGeom prst="roundRect">
              <a:avLst/>
            </a:prstGeom>
            <a:solidFill>
              <a:srgbClr val="FFF5EB"/>
            </a:solidFill>
            <a:ln w="10160">
              <a:solidFill>
                <a:srgbClr val="F6D4B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142476" y="5013199"/>
              <a:ext cx="813816" cy="201168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sz="880" b="1">
                  <a:solidFill>
                    <a:srgbClr val="5F6B7E"/>
                  </a:solidFill>
                </a:rPr>
                <a:t>반복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142476" y="5270836"/>
              <a:ext cx="813816" cy="242050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lang="en-US" sz="1420" b="1" dirty="0"/>
                <a:t>2</a:t>
              </a:r>
              <a:r>
                <a:rPr lang="en-US" sz="1420" b="1" dirty="0" smtClean="0"/>
                <a:t>0</a:t>
              </a:r>
              <a:r>
                <a:rPr sz="1420" b="1" dirty="0" smtClean="0"/>
                <a:t> </a:t>
              </a:r>
              <a:r>
                <a:rPr sz="1420" b="1" dirty="0"/>
                <a:t>회</a:t>
              </a:r>
            </a:p>
          </p:txBody>
        </p:sp>
        <p:sp>
          <p:nvSpPr>
            <p:cNvPr id="26" name="Rounded Rectangle 86"/>
            <p:cNvSpPr/>
            <p:nvPr/>
          </p:nvSpPr>
          <p:spPr>
            <a:xfrm>
              <a:off x="10029444" y="4967479"/>
              <a:ext cx="813816" cy="713232"/>
            </a:xfrm>
            <a:prstGeom prst="roundRect">
              <a:avLst/>
            </a:prstGeom>
            <a:solidFill>
              <a:srgbClr val="FFF5EB"/>
            </a:solidFill>
            <a:ln w="10160">
              <a:solidFill>
                <a:srgbClr val="F6D4B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029444" y="5013199"/>
              <a:ext cx="813816" cy="201168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sz="880" b="1">
                  <a:solidFill>
                    <a:srgbClr val="5F6B7E"/>
                  </a:solidFill>
                </a:rPr>
                <a:t>정상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0029444" y="5257934"/>
              <a:ext cx="813816" cy="242050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lang="en-US" sz="1420" b="1" dirty="0"/>
                <a:t>2</a:t>
              </a:r>
              <a:r>
                <a:rPr lang="en-US" sz="1420" b="1" dirty="0" smtClean="0"/>
                <a:t>0</a:t>
              </a:r>
              <a:r>
                <a:rPr sz="1420" b="1" dirty="0" smtClean="0"/>
                <a:t> </a:t>
              </a:r>
              <a:r>
                <a:rPr sz="1420" b="1" dirty="0"/>
                <a:t>회</a:t>
              </a:r>
            </a:p>
          </p:txBody>
        </p:sp>
        <p:sp>
          <p:nvSpPr>
            <p:cNvPr id="29" name="Rounded Rectangle 89"/>
            <p:cNvSpPr/>
            <p:nvPr/>
          </p:nvSpPr>
          <p:spPr>
            <a:xfrm>
              <a:off x="10916412" y="4967479"/>
              <a:ext cx="813816" cy="713232"/>
            </a:xfrm>
            <a:prstGeom prst="roundRect">
              <a:avLst/>
            </a:prstGeom>
            <a:solidFill>
              <a:srgbClr val="FFF5EB"/>
            </a:solidFill>
            <a:ln w="10160">
              <a:solidFill>
                <a:srgbClr val="F6D4B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0916412" y="5013199"/>
              <a:ext cx="813816" cy="201168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sz="880" b="1" dirty="0" err="1">
                  <a:solidFill>
                    <a:srgbClr val="5F6B7E"/>
                  </a:solidFill>
                </a:rPr>
                <a:t>성공률</a:t>
              </a:r>
              <a:endParaRPr sz="880" b="1" dirty="0">
                <a:solidFill>
                  <a:srgbClr val="5F6B7E"/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0916411" y="5257934"/>
              <a:ext cx="813816" cy="242050"/>
            </a:xfrm>
            <a:prstGeom prst="rect">
              <a:avLst/>
            </a:prstGeom>
            <a:noFill/>
          </p:spPr>
          <p:txBody>
            <a:bodyPr wrap="square" lIns="27432" tIns="9144" rIns="27432" bIns="9144" anchor="ctr">
              <a:spAutoFit/>
            </a:bodyPr>
            <a:lstStyle/>
            <a:p>
              <a:pPr algn="ctr"/>
              <a:r>
                <a:rPr lang="en-US" sz="1420" b="1" dirty="0"/>
                <a:t>100</a:t>
              </a:r>
              <a:r>
                <a:rPr sz="1420" b="1" dirty="0"/>
                <a:t> %</a:t>
              </a:r>
            </a:p>
          </p:txBody>
        </p:sp>
      </p:grpSp>
      <p:sp>
        <p:nvSpPr>
          <p:cNvPr id="41" name="직사각형 40"/>
          <p:cNvSpPr/>
          <p:nvPr/>
        </p:nvSpPr>
        <p:spPr>
          <a:xfrm>
            <a:off x="8572057" y="1493470"/>
            <a:ext cx="3263391" cy="2647787"/>
          </a:xfrm>
          <a:prstGeom prst="rect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8616441" y="4233583"/>
            <a:ext cx="3219450" cy="1710424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39" name="Rounded Rectangle 92"/>
          <p:cNvSpPr/>
          <p:nvPr/>
        </p:nvSpPr>
        <p:spPr>
          <a:xfrm flipH="1">
            <a:off x="8687440" y="6071574"/>
            <a:ext cx="1916402" cy="621388"/>
          </a:xfrm>
          <a:prstGeom prst="roundRect">
            <a:avLst/>
          </a:prstGeom>
          <a:solidFill>
            <a:srgbClr val="F4F7FB"/>
          </a:solidFill>
          <a:ln w="10160">
            <a:solidFill>
              <a:srgbClr val="E0E6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tx1"/>
                </a:solidFill>
                <a:latin typeface="Pretendard"/>
              </a:rPr>
              <a:t>반복 시험 재생목록</a:t>
            </a:r>
            <a:endParaRPr sz="1200" b="1" dirty="0">
              <a:solidFill>
                <a:schemeClr val="tx1"/>
              </a:solidFill>
              <a:latin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25037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트러블 슈팅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3" name="Rounded Rectangle 7"/>
          <p:cNvSpPr/>
          <p:nvPr/>
        </p:nvSpPr>
        <p:spPr>
          <a:xfrm>
            <a:off x="361385" y="1646055"/>
            <a:ext cx="5684266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4" name="Rounded Rectangle 8"/>
          <p:cNvSpPr/>
          <p:nvPr/>
        </p:nvSpPr>
        <p:spPr>
          <a:xfrm>
            <a:off x="364179" y="1655199"/>
            <a:ext cx="101974" cy="1947672"/>
          </a:xfrm>
          <a:prstGeom prst="roundRect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417" y="1847223"/>
            <a:ext cx="4480560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4A79E8"/>
                </a:solidFill>
                <a:latin typeface="+mn-ea"/>
              </a:rPr>
              <a:t>Raspberry Pi 전원 강하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705" y="2304423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8145" y="2304423"/>
            <a:ext cx="3749039" cy="2174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 dirty="0">
                <a:solidFill>
                  <a:srgbClr val="273244"/>
                </a:solidFill>
                <a:latin typeface="+mn-ea"/>
              </a:rPr>
              <a:t>Pi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연결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시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전압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급락·저전압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경고</a:t>
            </a:r>
            <a:endParaRPr sz="1080" b="0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5705" y="2651895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원인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8145" y="2651895"/>
            <a:ext cx="3749039" cy="2174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 dirty="0" err="1">
                <a:solidFill>
                  <a:srgbClr val="273244"/>
                </a:solidFill>
                <a:latin typeface="+mn-ea"/>
              </a:rPr>
              <a:t>실제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부하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공급능력</a:t>
            </a:r>
            <a:r>
              <a:rPr lang="en-US"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·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전압강하</a:t>
            </a:r>
            <a:endParaRPr sz="1080" b="0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5705" y="3008511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4A79E8"/>
                </a:solidFill>
                <a:latin typeface="+mn-ea"/>
              </a:rPr>
              <a:t>해결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8145" y="3008511"/>
            <a:ext cx="3749039" cy="3836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1" dirty="0" err="1">
                <a:solidFill>
                  <a:srgbClr val="273244"/>
                </a:solidFill>
                <a:latin typeface="+mn-ea"/>
              </a:rPr>
              <a:t>고전류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5V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전원부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·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굵고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짧은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배선</a:t>
            </a:r>
            <a:r>
              <a:rPr lang="en-US" sz="1080" b="1" dirty="0">
                <a:solidFill>
                  <a:srgbClr val="273244"/>
                </a:solidFill>
                <a:latin typeface="+mn-ea"/>
              </a:rPr>
              <a:t/>
            </a:r>
            <a:br>
              <a:rPr lang="en-US" sz="1080" b="1" dirty="0">
                <a:solidFill>
                  <a:srgbClr val="273244"/>
                </a:solidFill>
                <a:latin typeface="+mn-ea"/>
              </a:rPr>
            </a:br>
            <a:r>
              <a:rPr sz="1080" b="1" dirty="0">
                <a:solidFill>
                  <a:srgbClr val="273244"/>
                </a:solidFill>
                <a:latin typeface="+mn-ea"/>
              </a:rPr>
              <a:t> ·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모터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전원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분리</a:t>
            </a:r>
            <a:endParaRPr sz="108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22" name="Rounded Rectangle 16"/>
          <p:cNvSpPr/>
          <p:nvPr/>
        </p:nvSpPr>
        <p:spPr>
          <a:xfrm>
            <a:off x="6217355" y="1646055"/>
            <a:ext cx="561326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3" name="Rounded Rectangle 17"/>
          <p:cNvSpPr/>
          <p:nvPr/>
        </p:nvSpPr>
        <p:spPr>
          <a:xfrm>
            <a:off x="6213799" y="1655199"/>
            <a:ext cx="109728" cy="1947672"/>
          </a:xfrm>
          <a:prstGeom prst="roundRect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3387" y="1847223"/>
            <a:ext cx="4480560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F1842B"/>
                </a:solidFill>
                <a:latin typeface="+mn-ea"/>
              </a:rPr>
              <a:t>서보 압출 기구 오차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1675" y="2304423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4115" y="2304423"/>
            <a:ext cx="3749039" cy="20518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0" dirty="0" err="1">
                <a:solidFill>
                  <a:srgbClr val="273244"/>
                </a:solidFill>
                <a:latin typeface="+mn-ea"/>
              </a:rPr>
              <a:t>스플라인</a:t>
            </a:r>
            <a:r>
              <a:rPr sz="100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273244"/>
                </a:solidFill>
                <a:latin typeface="+mn-ea"/>
              </a:rPr>
              <a:t>결합·레버</a:t>
            </a:r>
            <a:r>
              <a:rPr sz="100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273244"/>
                </a:solidFill>
                <a:latin typeface="+mn-ea"/>
              </a:rPr>
              <a:t>길이</a:t>
            </a:r>
            <a:r>
              <a:rPr sz="1000" b="0" dirty="0">
                <a:solidFill>
                  <a:srgbClr val="273244"/>
                </a:solidFill>
                <a:latin typeface="+mn-ea"/>
              </a:rPr>
              <a:t>/</a:t>
            </a:r>
            <a:r>
              <a:rPr sz="1000" b="0" dirty="0" err="1">
                <a:solidFill>
                  <a:srgbClr val="273244"/>
                </a:solidFill>
                <a:latin typeface="+mn-ea"/>
              </a:rPr>
              <a:t>깊이</a:t>
            </a:r>
            <a:r>
              <a:rPr sz="100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00" b="0" dirty="0" err="1">
                <a:solidFill>
                  <a:srgbClr val="273244"/>
                </a:solidFill>
                <a:latin typeface="+mn-ea"/>
              </a:rPr>
              <a:t>불일치</a:t>
            </a:r>
            <a:endParaRPr sz="1000" b="0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91675" y="2651895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4115" y="2651895"/>
            <a:ext cx="3749039" cy="2174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>
                <a:solidFill>
                  <a:srgbClr val="273244"/>
                </a:solidFill>
                <a:latin typeface="+mn-ea"/>
              </a:rPr>
              <a:t>기구 공차와 조립 오차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1675" y="3008511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F1842B"/>
                </a:solidFill>
                <a:latin typeface="+mn-ea"/>
              </a:rPr>
              <a:t>해결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64115" y="3008511"/>
            <a:ext cx="3749039" cy="3836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1" dirty="0" err="1">
                <a:solidFill>
                  <a:srgbClr val="273244"/>
                </a:solidFill>
                <a:latin typeface="+mn-ea"/>
              </a:rPr>
              <a:t>FreeCAD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/3MF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반복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수정</a:t>
            </a:r>
            <a:r>
              <a:rPr lang="en-US" sz="1080" b="1" dirty="0">
                <a:solidFill>
                  <a:srgbClr val="273244"/>
                </a:solidFill>
                <a:latin typeface="+mn-ea"/>
              </a:rPr>
              <a:t/>
            </a:r>
            <a:br>
              <a:rPr lang="en-US" sz="1080" b="1" dirty="0">
                <a:solidFill>
                  <a:srgbClr val="273244"/>
                </a:solidFill>
                <a:latin typeface="+mn-ea"/>
              </a:rPr>
            </a:br>
            <a:r>
              <a:rPr sz="1080" b="1" dirty="0">
                <a:solidFill>
                  <a:srgbClr val="273244"/>
                </a:solidFill>
                <a:latin typeface="+mn-ea"/>
              </a:rPr>
              <a:t> · mm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단위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치수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튜닝</a:t>
            </a:r>
            <a:endParaRPr sz="108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0" name="Rounded Rectangle 34"/>
          <p:cNvSpPr/>
          <p:nvPr/>
        </p:nvSpPr>
        <p:spPr>
          <a:xfrm>
            <a:off x="355997" y="3977775"/>
            <a:ext cx="561326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1" name="Rounded Rectangle 35"/>
          <p:cNvSpPr/>
          <p:nvPr/>
        </p:nvSpPr>
        <p:spPr>
          <a:xfrm>
            <a:off x="352441" y="3986919"/>
            <a:ext cx="109728" cy="1947672"/>
          </a:xfrm>
          <a:prstGeom prst="roundRect">
            <a:avLst/>
          </a:prstGeom>
          <a:solidFill>
            <a:srgbClr val="2F97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12029" y="4178943"/>
            <a:ext cx="4480560" cy="31290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700" b="1">
                <a:solidFill>
                  <a:srgbClr val="2F97C5"/>
                </a:solidFill>
                <a:latin typeface="+mn-ea"/>
              </a:rPr>
              <a:t>정제 센서 오검출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317" y="4636143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문제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2757" y="4636143"/>
            <a:ext cx="3749039" cy="2174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 dirty="0">
                <a:solidFill>
                  <a:srgbClr val="273244"/>
                </a:solidFill>
                <a:latin typeface="+mn-ea"/>
              </a:rPr>
              <a:t>IR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감지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불안정</a:t>
            </a:r>
            <a:endParaRPr sz="1080" b="0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0317" y="4983615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5F6B7E"/>
                </a:solidFill>
                <a:latin typeface="+mn-ea"/>
              </a:rPr>
              <a:t>원인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2757" y="4983615"/>
            <a:ext cx="3749039" cy="2174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0" dirty="0" err="1">
                <a:solidFill>
                  <a:srgbClr val="273244"/>
                </a:solidFill>
                <a:latin typeface="+mn-ea"/>
              </a:rPr>
              <a:t>정제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통과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0" dirty="0" err="1">
                <a:solidFill>
                  <a:srgbClr val="273244"/>
                </a:solidFill>
                <a:latin typeface="+mn-ea"/>
              </a:rPr>
              <a:t>위치</a:t>
            </a:r>
            <a:r>
              <a:rPr sz="1080" b="0" dirty="0">
                <a:solidFill>
                  <a:srgbClr val="273244"/>
                </a:solidFill>
                <a:latin typeface="+mn-ea"/>
              </a:rPr>
              <a:t> </a:t>
            </a:r>
            <a:r>
              <a:rPr lang="ko-KR" altLang="en-US" sz="1080" dirty="0" err="1">
                <a:solidFill>
                  <a:srgbClr val="273244"/>
                </a:solidFill>
                <a:latin typeface="+mn-ea"/>
              </a:rPr>
              <a:t>편차심함</a:t>
            </a:r>
            <a:endParaRPr sz="1080" b="0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30317" y="5340231"/>
            <a:ext cx="64008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50" b="1">
                <a:solidFill>
                  <a:srgbClr val="2F97C5"/>
                </a:solidFill>
                <a:latin typeface="+mn-ea"/>
              </a:rPr>
              <a:t>해결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2757" y="5340231"/>
            <a:ext cx="2011991" cy="3836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80" b="1" dirty="0" err="1">
                <a:solidFill>
                  <a:srgbClr val="273244"/>
                </a:solidFill>
                <a:latin typeface="+mn-ea"/>
              </a:rPr>
              <a:t>깔때기로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단일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배출구</a:t>
            </a:r>
            <a:r>
              <a:rPr sz="1080" b="1" dirty="0">
                <a:solidFill>
                  <a:srgbClr val="273244"/>
                </a:solidFill>
                <a:latin typeface="+mn-ea"/>
              </a:rPr>
              <a:t> </a:t>
            </a:r>
            <a:r>
              <a:rPr sz="1080" b="1" dirty="0" err="1">
                <a:solidFill>
                  <a:srgbClr val="273244"/>
                </a:solidFill>
                <a:latin typeface="+mn-ea"/>
              </a:rPr>
              <a:t>집중</a:t>
            </a:r>
            <a:r>
              <a:rPr lang="en-US" sz="1080" b="1" dirty="0">
                <a:solidFill>
                  <a:srgbClr val="273244"/>
                </a:solidFill>
                <a:latin typeface="+mn-ea"/>
              </a:rPr>
              <a:t/>
            </a:r>
            <a:br>
              <a:rPr lang="en-US" sz="1080" b="1" dirty="0">
                <a:solidFill>
                  <a:srgbClr val="273244"/>
                </a:solidFill>
                <a:latin typeface="+mn-ea"/>
              </a:rPr>
            </a:br>
            <a:r>
              <a:rPr sz="1080" b="1" dirty="0">
                <a:solidFill>
                  <a:srgbClr val="273244"/>
                </a:solidFill>
                <a:latin typeface="+mn-ea"/>
              </a:rPr>
              <a:t> · </a:t>
            </a:r>
            <a:r>
              <a:rPr lang="ko-KR" altLang="en-US" sz="1080" b="1" dirty="0">
                <a:solidFill>
                  <a:srgbClr val="273244"/>
                </a:solidFill>
                <a:latin typeface="+mn-ea"/>
              </a:rPr>
              <a:t>이중 </a:t>
            </a:r>
            <a:r>
              <a:rPr lang="en-US" altLang="ko-KR" sz="1080" b="1" dirty="0">
                <a:solidFill>
                  <a:srgbClr val="273244"/>
                </a:solidFill>
                <a:latin typeface="+mn-ea"/>
              </a:rPr>
              <a:t>IR </a:t>
            </a:r>
            <a:r>
              <a:rPr lang="ko-KR" altLang="en-US" sz="1080" b="1" dirty="0">
                <a:solidFill>
                  <a:srgbClr val="273244"/>
                </a:solidFill>
                <a:latin typeface="+mn-ea"/>
              </a:rPr>
              <a:t>감지</a:t>
            </a:r>
            <a:endParaRPr sz="1080" b="1" dirty="0">
              <a:solidFill>
                <a:srgbClr val="273244"/>
              </a:solidFill>
              <a:latin typeface="+mn-ea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469252" y="1660749"/>
            <a:ext cx="2584117" cy="1966116"/>
          </a:xfrm>
          <a:prstGeom prst="roundRect">
            <a:avLst/>
          </a:prstGeom>
          <a:blipFill dpi="0" rotWithShape="1"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모서리가 둥근 직사각형 49"/>
          <p:cNvSpPr/>
          <p:nvPr/>
        </p:nvSpPr>
        <p:spPr>
          <a:xfrm>
            <a:off x="9467851" y="1635639"/>
            <a:ext cx="2377792" cy="1966116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860365" y="1860662"/>
            <a:ext cx="484590" cy="637717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5178173" y="1891978"/>
            <a:ext cx="626559" cy="52067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/>
          <p:cNvSpPr/>
          <p:nvPr/>
        </p:nvSpPr>
        <p:spPr>
          <a:xfrm flipV="1">
            <a:off x="3560572" y="3462519"/>
            <a:ext cx="595828" cy="13923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/>
          <p:cNvSpPr/>
          <p:nvPr/>
        </p:nvSpPr>
        <p:spPr>
          <a:xfrm flipV="1">
            <a:off x="4817872" y="3452994"/>
            <a:ext cx="595828" cy="13923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모서리가 둥근 직사각형 54"/>
          <p:cNvSpPr/>
          <p:nvPr/>
        </p:nvSpPr>
        <p:spPr>
          <a:xfrm>
            <a:off x="3606493" y="4000557"/>
            <a:ext cx="2377792" cy="1966116"/>
          </a:xfrm>
          <a:prstGeom prst="roundRect">
            <a:avLst/>
          </a:prstGeom>
          <a:blipFill dpi="0" rotWithShape="1"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9" name="직사각형 48"/>
          <p:cNvSpPr/>
          <p:nvPr/>
        </p:nvSpPr>
        <p:spPr>
          <a:xfrm>
            <a:off x="4409446" y="4298678"/>
            <a:ext cx="934095" cy="472702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 rot="19437568">
            <a:off x="4448961" y="4952064"/>
            <a:ext cx="497232" cy="13911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31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118" y="6051891"/>
            <a:ext cx="790151" cy="79015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4461" y="6041013"/>
            <a:ext cx="854870" cy="80437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6883" y="6053624"/>
            <a:ext cx="790657" cy="78022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 차별성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Shape 2"/>
          <p:cNvSpPr/>
          <p:nvPr/>
        </p:nvSpPr>
        <p:spPr>
          <a:xfrm>
            <a:off x="416859" y="1443438"/>
            <a:ext cx="5047488" cy="893422"/>
          </a:xfrm>
          <a:prstGeom prst="roundRect">
            <a:avLst>
              <a:gd name="adj" fmla="val 13115"/>
            </a:avLst>
          </a:prstGeom>
          <a:solidFill>
            <a:srgbClr val="FFF2E8"/>
          </a:solidFill>
          <a:ln w="12700">
            <a:solidFill>
              <a:srgbClr val="F5C7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3"/>
          <p:cNvSpPr/>
          <p:nvPr/>
        </p:nvSpPr>
        <p:spPr>
          <a:xfrm>
            <a:off x="6561627" y="1443438"/>
            <a:ext cx="5047488" cy="893422"/>
          </a:xfrm>
          <a:prstGeom prst="roundRect">
            <a:avLst>
              <a:gd name="adj" fmla="val 13115"/>
            </a:avLst>
          </a:prstGeom>
          <a:solidFill>
            <a:srgbClr val="ECF8F5"/>
          </a:solidFill>
          <a:ln w="12700">
            <a:solidFill>
              <a:srgbClr val="BFE7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4"/>
          <p:cNvSpPr/>
          <p:nvPr/>
        </p:nvSpPr>
        <p:spPr>
          <a:xfrm>
            <a:off x="691179" y="1605340"/>
            <a:ext cx="347472" cy="347472"/>
          </a:xfrm>
          <a:prstGeom prst="ellipse">
            <a:avLst/>
          </a:prstGeom>
          <a:solidFill>
            <a:srgbClr val="F5822A"/>
          </a:solidFill>
          <a:ln w="12700">
            <a:solidFill>
              <a:srgbClr val="F582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5"/>
          <p:cNvSpPr/>
          <p:nvPr/>
        </p:nvSpPr>
        <p:spPr>
          <a:xfrm>
            <a:off x="691179" y="15596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→</a:t>
            </a:r>
            <a:endParaRPr lang="en-US" sz="1800" dirty="0">
              <a:latin typeface="+mn-ea"/>
            </a:endParaRPr>
          </a:p>
        </p:txBody>
      </p:sp>
      <p:sp>
        <p:nvSpPr>
          <p:cNvPr id="27" name="Text 6"/>
          <p:cNvSpPr/>
          <p:nvPr/>
        </p:nvSpPr>
        <p:spPr>
          <a:xfrm>
            <a:off x="1175811" y="14498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6D14"/>
                </a:solidFill>
                <a:latin typeface="+mn-ea"/>
                <a:cs typeface="NanumSquare" pitchFamily="34" charset="-120"/>
              </a:rPr>
              <a:t>기존 자동 복약기</a:t>
            </a:r>
            <a:endParaRPr lang="en-US" sz="1400" dirty="0">
              <a:latin typeface="+mn-ea"/>
            </a:endParaRPr>
          </a:p>
        </p:txBody>
      </p:sp>
      <p:sp>
        <p:nvSpPr>
          <p:cNvPr id="28" name="Text 7"/>
          <p:cNvSpPr/>
          <p:nvPr/>
        </p:nvSpPr>
        <p:spPr>
          <a:xfrm>
            <a:off x="1175811" y="17607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약을 장치에 맞춤</a:t>
            </a:r>
            <a:endParaRPr lang="en-US" sz="1550" dirty="0">
              <a:latin typeface="+mn-ea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175811" y="20533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카트리지·Bin·Tray에 재투입 / 사전 분류</a:t>
            </a:r>
            <a:endParaRPr lang="en-US" sz="1050" dirty="0">
              <a:latin typeface="+mn-ea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5638083" y="1669348"/>
            <a:ext cx="731520" cy="384048"/>
          </a:xfrm>
          <a:prstGeom prst="chevron">
            <a:avLst/>
          </a:prstGeom>
          <a:solidFill>
            <a:srgbClr val="D7DEE5"/>
          </a:solidFill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0"/>
          <p:cNvSpPr/>
          <p:nvPr/>
        </p:nvSpPr>
        <p:spPr>
          <a:xfrm>
            <a:off x="6835947" y="1605340"/>
            <a:ext cx="347472" cy="347472"/>
          </a:xfrm>
          <a:prstGeom prst="ellipse">
            <a:avLst/>
          </a:prstGeom>
          <a:solidFill>
            <a:srgbClr val="18AE8F"/>
          </a:solidFill>
          <a:ln w="12700">
            <a:solidFill>
              <a:srgbClr val="18AE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1"/>
          <p:cNvSpPr/>
          <p:nvPr/>
        </p:nvSpPr>
        <p:spPr>
          <a:xfrm>
            <a:off x="6835947" y="15596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✓</a:t>
            </a:r>
            <a:endParaRPr lang="en-US" sz="1700" dirty="0">
              <a:latin typeface="+mn-ea"/>
            </a:endParaRPr>
          </a:p>
        </p:txBody>
      </p:sp>
      <p:sp>
        <p:nvSpPr>
          <p:cNvPr id="33" name="Text 12"/>
          <p:cNvSpPr/>
          <p:nvPr/>
        </p:nvSpPr>
        <p:spPr>
          <a:xfrm>
            <a:off x="7320579" y="14498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9B7C"/>
                </a:solidFill>
                <a:latin typeface="+mn-ea"/>
                <a:cs typeface="NanumSquare" pitchFamily="34" charset="-120"/>
              </a:rPr>
              <a:t>약SLOT-GUARD</a:t>
            </a:r>
            <a:endParaRPr lang="en-US" sz="1400" dirty="0">
              <a:latin typeface="+mn-ea"/>
            </a:endParaRPr>
          </a:p>
        </p:txBody>
      </p:sp>
      <p:sp>
        <p:nvSpPr>
          <p:cNvPr id="34" name="Text 13"/>
          <p:cNvSpPr/>
          <p:nvPr/>
        </p:nvSpPr>
        <p:spPr>
          <a:xfrm>
            <a:off x="7320579" y="17607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장치가 약에 맞춰 이동</a:t>
            </a:r>
            <a:endParaRPr lang="en-US" sz="1550" dirty="0">
              <a:latin typeface="+mn-ea"/>
            </a:endParaRPr>
          </a:p>
        </p:txBody>
      </p:sp>
      <p:sp>
        <p:nvSpPr>
          <p:cNvPr id="35" name="Text 14"/>
          <p:cNvSpPr/>
          <p:nvPr/>
        </p:nvSpPr>
        <p:spPr>
          <a:xfrm>
            <a:off x="7320579" y="20533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기존 2×5 블리스터 그대로 장착 · 대상 슬롯으로 직접 이동</a:t>
            </a:r>
            <a:endParaRPr lang="en-US" sz="1050" dirty="0">
              <a:latin typeface="+mn-ea"/>
            </a:endParaRPr>
          </a:p>
        </p:txBody>
      </p:sp>
      <p:sp>
        <p:nvSpPr>
          <p:cNvPr id="36" name="Shape 15"/>
          <p:cNvSpPr/>
          <p:nvPr/>
        </p:nvSpPr>
        <p:spPr>
          <a:xfrm>
            <a:off x="416859" y="2432601"/>
            <a:ext cx="1536192" cy="347182"/>
          </a:xfrm>
          <a:prstGeom prst="rect">
            <a:avLst/>
          </a:prstGeom>
          <a:solidFill>
            <a:srgbClr val="F5822A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16"/>
          <p:cNvSpPr/>
          <p:nvPr/>
        </p:nvSpPr>
        <p:spPr>
          <a:xfrm>
            <a:off x="453435" y="2441745"/>
            <a:ext cx="1463040" cy="33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비교 항목</a:t>
            </a:r>
            <a:endParaRPr lang="en-US" sz="1200" dirty="0">
              <a:latin typeface="+mn-ea"/>
            </a:endParaRPr>
          </a:p>
        </p:txBody>
      </p:sp>
      <p:sp>
        <p:nvSpPr>
          <p:cNvPr id="38" name="Shape 17"/>
          <p:cNvSpPr/>
          <p:nvPr/>
        </p:nvSpPr>
        <p:spPr>
          <a:xfrm>
            <a:off x="1953051" y="2432601"/>
            <a:ext cx="1938528" cy="347182"/>
          </a:xfrm>
          <a:prstGeom prst="rect">
            <a:avLst/>
          </a:prstGeom>
          <a:solidFill>
            <a:srgbClr val="F5822A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18"/>
          <p:cNvSpPr/>
          <p:nvPr/>
        </p:nvSpPr>
        <p:spPr>
          <a:xfrm>
            <a:off x="1989627" y="2441745"/>
            <a:ext cx="1865376" cy="33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Hero Smart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Dispenser</a:t>
            </a:r>
            <a:endParaRPr lang="en-US" sz="1200" dirty="0">
              <a:latin typeface="+mn-ea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3891579" y="2432601"/>
            <a:ext cx="1938528" cy="347182"/>
          </a:xfrm>
          <a:prstGeom prst="rect">
            <a:avLst/>
          </a:prstGeom>
          <a:solidFill>
            <a:srgbClr val="F5822A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20"/>
          <p:cNvSpPr/>
          <p:nvPr/>
        </p:nvSpPr>
        <p:spPr>
          <a:xfrm>
            <a:off x="3928155" y="2441745"/>
            <a:ext cx="1865376" cy="33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MedaCube</a:t>
            </a:r>
            <a:endParaRPr lang="en-US" sz="1200" dirty="0">
              <a:latin typeface="+mn-ea"/>
            </a:endParaRPr>
          </a:p>
        </p:txBody>
      </p:sp>
      <p:sp>
        <p:nvSpPr>
          <p:cNvPr id="42" name="Shape 21"/>
          <p:cNvSpPr/>
          <p:nvPr/>
        </p:nvSpPr>
        <p:spPr>
          <a:xfrm>
            <a:off x="5830107" y="2432601"/>
            <a:ext cx="2011680" cy="347182"/>
          </a:xfrm>
          <a:prstGeom prst="rect">
            <a:avLst/>
          </a:prstGeom>
          <a:solidFill>
            <a:srgbClr val="F5822A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22"/>
          <p:cNvSpPr/>
          <p:nvPr/>
        </p:nvSpPr>
        <p:spPr>
          <a:xfrm>
            <a:off x="5866683" y="2441745"/>
            <a:ext cx="1938528" cy="33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MedMinder</a:t>
            </a:r>
            <a:endParaRPr lang="en-US" sz="1200" dirty="0">
              <a:latin typeface="+mn-ea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7841786" y="2432601"/>
            <a:ext cx="3737627" cy="347182"/>
          </a:xfrm>
          <a:prstGeom prst="rect">
            <a:avLst/>
          </a:prstGeom>
          <a:solidFill>
            <a:srgbClr val="18AE8F"/>
          </a:solidFill>
          <a:ln w="1397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24"/>
          <p:cNvSpPr/>
          <p:nvPr/>
        </p:nvSpPr>
        <p:spPr>
          <a:xfrm>
            <a:off x="7878363" y="2441745"/>
            <a:ext cx="3694176" cy="33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약SLOT-GUARD</a:t>
            </a:r>
            <a:endParaRPr lang="en-US" sz="1200" dirty="0">
              <a:latin typeface="+mn-ea"/>
            </a:endParaRPr>
          </a:p>
        </p:txBody>
      </p:sp>
      <p:sp>
        <p:nvSpPr>
          <p:cNvPr id="46" name="Shape 25"/>
          <p:cNvSpPr/>
          <p:nvPr/>
        </p:nvSpPr>
        <p:spPr>
          <a:xfrm>
            <a:off x="423734" y="2763714"/>
            <a:ext cx="1521278" cy="46930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26"/>
          <p:cNvSpPr/>
          <p:nvPr/>
        </p:nvSpPr>
        <p:spPr>
          <a:xfrm>
            <a:off x="496886" y="2782002"/>
            <a:ext cx="137639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약 준비 방식</a:t>
            </a:r>
            <a:endParaRPr lang="en-US" sz="1200" dirty="0">
              <a:latin typeface="+mn-ea"/>
            </a:endParaRPr>
          </a:p>
        </p:txBody>
      </p:sp>
      <p:sp>
        <p:nvSpPr>
          <p:cNvPr id="48" name="Shape 27"/>
          <p:cNvSpPr/>
          <p:nvPr/>
        </p:nvSpPr>
        <p:spPr>
          <a:xfrm>
            <a:off x="1959926" y="2763714"/>
            <a:ext cx="1919707" cy="46930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28"/>
          <p:cNvSpPr/>
          <p:nvPr/>
        </p:nvSpPr>
        <p:spPr>
          <a:xfrm>
            <a:off x="2033078" y="278200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약품별 카트리지 투입</a:t>
            </a:r>
            <a:endParaRPr lang="en-US" sz="1200" dirty="0">
              <a:latin typeface="+mn-ea"/>
            </a:endParaRPr>
          </a:p>
        </p:txBody>
      </p:sp>
      <p:sp>
        <p:nvSpPr>
          <p:cNvPr id="50" name="Shape 29"/>
          <p:cNvSpPr/>
          <p:nvPr/>
        </p:nvSpPr>
        <p:spPr>
          <a:xfrm>
            <a:off x="3898454" y="2763714"/>
            <a:ext cx="1919707" cy="46930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0"/>
          <p:cNvSpPr/>
          <p:nvPr/>
        </p:nvSpPr>
        <p:spPr>
          <a:xfrm>
            <a:off x="3971606" y="278200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약품별 Bin </a:t>
            </a: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투입</a:t>
            </a:r>
            <a:endParaRPr lang="en-US" sz="1200" dirty="0">
              <a:latin typeface="+mn-ea"/>
            </a:endParaRPr>
          </a:p>
        </p:txBody>
      </p:sp>
      <p:sp>
        <p:nvSpPr>
          <p:cNvPr id="52" name="Shape 31"/>
          <p:cNvSpPr/>
          <p:nvPr/>
        </p:nvSpPr>
        <p:spPr>
          <a:xfrm>
            <a:off x="5836982" y="2763714"/>
            <a:ext cx="1992149" cy="469304"/>
          </a:xfrm>
          <a:prstGeom prst="rect">
            <a:avLst/>
          </a:prstGeom>
          <a:solidFill>
            <a:srgbClr val="FFFFFF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2"/>
          <p:cNvSpPr/>
          <p:nvPr/>
        </p:nvSpPr>
        <p:spPr>
          <a:xfrm>
            <a:off x="5910134" y="2782002"/>
            <a:ext cx="1847266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복약 </a:t>
            </a:r>
            <a:r>
              <a:rPr lang="en-US" sz="1200" dirty="0" err="1">
                <a:solidFill>
                  <a:srgbClr val="2B3C4F"/>
                </a:solidFill>
                <a:latin typeface="+mn-ea"/>
                <a:cs typeface="NanumSquare" pitchFamily="34" charset="-120"/>
              </a:rPr>
              <a:t>단위</a:t>
            </a: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 Cup / Tray 구성</a:t>
            </a:r>
            <a:endParaRPr lang="en-US" sz="1200" dirty="0">
              <a:latin typeface="+mn-ea"/>
            </a:endParaRPr>
          </a:p>
        </p:txBody>
      </p:sp>
      <p:sp>
        <p:nvSpPr>
          <p:cNvPr id="54" name="Shape 33"/>
          <p:cNvSpPr/>
          <p:nvPr/>
        </p:nvSpPr>
        <p:spPr>
          <a:xfrm>
            <a:off x="7848662" y="2763714"/>
            <a:ext cx="3730752" cy="469304"/>
          </a:xfrm>
          <a:prstGeom prst="rect">
            <a:avLst/>
          </a:prstGeom>
          <a:solidFill>
            <a:srgbClr val="F4FBF9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34"/>
          <p:cNvSpPr/>
          <p:nvPr/>
        </p:nvSpPr>
        <p:spPr>
          <a:xfrm>
            <a:off x="7921814" y="2782002"/>
            <a:ext cx="3585868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기존 2×5 블리스터</a:t>
            </a:r>
            <a:endParaRPr lang="en-US" sz="1200" dirty="0">
              <a:latin typeface="+mn-ea"/>
            </a:endParaRPr>
          </a:p>
        </p:txBody>
      </p:sp>
      <p:sp>
        <p:nvSpPr>
          <p:cNvPr id="56" name="Shape 35"/>
          <p:cNvSpPr/>
          <p:nvPr/>
        </p:nvSpPr>
        <p:spPr>
          <a:xfrm>
            <a:off x="423734" y="3266634"/>
            <a:ext cx="1521278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36"/>
          <p:cNvSpPr/>
          <p:nvPr/>
        </p:nvSpPr>
        <p:spPr>
          <a:xfrm>
            <a:off x="496886" y="3284922"/>
            <a:ext cx="137639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약 선택 방식</a:t>
            </a:r>
            <a:endParaRPr lang="en-US" sz="1200" dirty="0">
              <a:latin typeface="+mn-ea"/>
            </a:endParaRPr>
          </a:p>
        </p:txBody>
      </p:sp>
      <p:sp>
        <p:nvSpPr>
          <p:cNvPr id="58" name="Shape 37"/>
          <p:cNvSpPr/>
          <p:nvPr/>
        </p:nvSpPr>
        <p:spPr>
          <a:xfrm>
            <a:off x="1959926" y="3266634"/>
            <a:ext cx="1919707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38"/>
          <p:cNvSpPr/>
          <p:nvPr/>
        </p:nvSpPr>
        <p:spPr>
          <a:xfrm>
            <a:off x="2033078" y="328492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카트리지 회전</a:t>
            </a:r>
            <a:r>
              <a:rPr lang="en-US" altLang="ko-KR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 ·</a:t>
            </a: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진공 튜브</a:t>
            </a:r>
            <a:endParaRPr lang="en-US" altLang="ko-KR" sz="1200" dirty="0">
              <a:solidFill>
                <a:srgbClr val="2B3C4F"/>
              </a:solidFill>
              <a:latin typeface="+mn-ea"/>
              <a:cs typeface="NanumSquare" pitchFamily="34" charset="-120"/>
            </a:endParaRPr>
          </a:p>
          <a:p>
            <a:pPr algn="ctr"/>
            <a:r>
              <a:rPr lang="ko-KR" altLang="en-US" sz="1200" dirty="0">
                <a:solidFill>
                  <a:srgbClr val="2B3C4F"/>
                </a:solidFill>
                <a:latin typeface="+mn-ea"/>
              </a:rPr>
              <a:t>정제 배출</a:t>
            </a:r>
            <a:endParaRPr lang="en-US" sz="1200" dirty="0">
              <a:latin typeface="+mn-ea"/>
            </a:endParaRPr>
          </a:p>
        </p:txBody>
      </p:sp>
      <p:sp>
        <p:nvSpPr>
          <p:cNvPr id="60" name="Shape 39"/>
          <p:cNvSpPr/>
          <p:nvPr/>
        </p:nvSpPr>
        <p:spPr>
          <a:xfrm>
            <a:off x="3898454" y="3266634"/>
            <a:ext cx="1919707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40"/>
          <p:cNvSpPr/>
          <p:nvPr/>
        </p:nvSpPr>
        <p:spPr>
          <a:xfrm>
            <a:off x="3971606" y="328492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Bin</a:t>
            </a: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에서 일정에 맞춰</a:t>
            </a:r>
            <a:endParaRPr lang="en-US" altLang="ko-KR" sz="1200" dirty="0">
              <a:solidFill>
                <a:srgbClr val="2B3C4F"/>
              </a:solidFill>
              <a:latin typeface="+mn-ea"/>
              <a:cs typeface="NanumSquare" pitchFamily="34" charset="-120"/>
            </a:endParaRPr>
          </a:p>
          <a:p>
            <a:pPr marL="0" indent="0" algn="ctr">
              <a:buNone/>
            </a:pPr>
            <a:r>
              <a:rPr lang="en-US" sz="1200" dirty="0" err="1">
                <a:solidFill>
                  <a:srgbClr val="2B3C4F"/>
                </a:solidFill>
                <a:latin typeface="+mn-ea"/>
                <a:cs typeface="NanumSquare" pitchFamily="34" charset="-120"/>
              </a:rPr>
              <a:t>선택</a:t>
            </a: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· 배출</a:t>
            </a:r>
            <a:endParaRPr lang="en-US" sz="1200" dirty="0">
              <a:latin typeface="+mn-ea"/>
            </a:endParaRPr>
          </a:p>
        </p:txBody>
      </p:sp>
      <p:sp>
        <p:nvSpPr>
          <p:cNvPr id="62" name="Shape 41"/>
          <p:cNvSpPr/>
          <p:nvPr/>
        </p:nvSpPr>
        <p:spPr>
          <a:xfrm>
            <a:off x="5836982" y="3266634"/>
            <a:ext cx="1992149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42"/>
          <p:cNvSpPr/>
          <p:nvPr/>
        </p:nvSpPr>
        <p:spPr>
          <a:xfrm>
            <a:off x="5910134" y="3284922"/>
            <a:ext cx="1847266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복약 시간별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지정 칸 개방</a:t>
            </a:r>
            <a:endParaRPr lang="en-US" sz="1200" dirty="0">
              <a:latin typeface="+mn-ea"/>
            </a:endParaRPr>
          </a:p>
        </p:txBody>
      </p:sp>
      <p:sp>
        <p:nvSpPr>
          <p:cNvPr id="64" name="Shape 43"/>
          <p:cNvSpPr/>
          <p:nvPr/>
        </p:nvSpPr>
        <p:spPr>
          <a:xfrm>
            <a:off x="7848662" y="3266634"/>
            <a:ext cx="3730752" cy="469304"/>
          </a:xfrm>
          <a:prstGeom prst="rect">
            <a:avLst/>
          </a:prstGeom>
          <a:solidFill>
            <a:srgbClr val="F4FBF9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4"/>
          <p:cNvSpPr/>
          <p:nvPr/>
        </p:nvSpPr>
        <p:spPr>
          <a:xfrm>
            <a:off x="7921814" y="3284922"/>
            <a:ext cx="3585868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대상 슬롯 직접 이동</a:t>
            </a:r>
            <a:endParaRPr lang="en-US" sz="1200" dirty="0">
              <a:latin typeface="+mn-ea"/>
            </a:endParaRPr>
          </a:p>
        </p:txBody>
      </p:sp>
      <p:sp>
        <p:nvSpPr>
          <p:cNvPr id="66" name="Shape 45"/>
          <p:cNvSpPr/>
          <p:nvPr/>
        </p:nvSpPr>
        <p:spPr>
          <a:xfrm>
            <a:off x="423734" y="3769554"/>
            <a:ext cx="1521278" cy="469304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Text 46"/>
          <p:cNvSpPr/>
          <p:nvPr/>
        </p:nvSpPr>
        <p:spPr>
          <a:xfrm>
            <a:off x="496886" y="3787842"/>
            <a:ext cx="137639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재투입·사전 분류</a:t>
            </a:r>
            <a:endParaRPr lang="en-US" sz="1200" dirty="0">
              <a:latin typeface="+mn-ea"/>
            </a:endParaRPr>
          </a:p>
        </p:txBody>
      </p:sp>
      <p:sp>
        <p:nvSpPr>
          <p:cNvPr id="68" name="Shape 47"/>
          <p:cNvSpPr/>
          <p:nvPr/>
        </p:nvSpPr>
        <p:spPr>
          <a:xfrm>
            <a:off x="1959926" y="3769554"/>
            <a:ext cx="1919707" cy="469304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48"/>
          <p:cNvSpPr/>
          <p:nvPr/>
        </p:nvSpPr>
        <p:spPr>
          <a:xfrm>
            <a:off x="2033078" y="378784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필요</a:t>
            </a:r>
            <a:endParaRPr lang="en-US" sz="1200" dirty="0">
              <a:latin typeface="+mn-ea"/>
            </a:endParaRPr>
          </a:p>
        </p:txBody>
      </p:sp>
      <p:sp>
        <p:nvSpPr>
          <p:cNvPr id="70" name="Shape 49"/>
          <p:cNvSpPr/>
          <p:nvPr/>
        </p:nvSpPr>
        <p:spPr>
          <a:xfrm>
            <a:off x="3898454" y="3769554"/>
            <a:ext cx="1919707" cy="469304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Text 50"/>
          <p:cNvSpPr/>
          <p:nvPr/>
        </p:nvSpPr>
        <p:spPr>
          <a:xfrm>
            <a:off x="3971606" y="378784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필요</a:t>
            </a:r>
            <a:endParaRPr lang="en-US" sz="1200" dirty="0">
              <a:latin typeface="+mn-ea"/>
            </a:endParaRPr>
          </a:p>
        </p:txBody>
      </p:sp>
      <p:sp>
        <p:nvSpPr>
          <p:cNvPr id="72" name="Shape 51"/>
          <p:cNvSpPr/>
          <p:nvPr/>
        </p:nvSpPr>
        <p:spPr>
          <a:xfrm>
            <a:off x="5836982" y="3769554"/>
            <a:ext cx="1992149" cy="469304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2"/>
          <p:cNvSpPr/>
          <p:nvPr/>
        </p:nvSpPr>
        <p:spPr>
          <a:xfrm>
            <a:off x="5910134" y="3787842"/>
            <a:ext cx="1847266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필요</a:t>
            </a:r>
            <a:endParaRPr lang="en-US" sz="1200" dirty="0">
              <a:latin typeface="+mn-ea"/>
            </a:endParaRPr>
          </a:p>
        </p:txBody>
      </p:sp>
      <p:sp>
        <p:nvSpPr>
          <p:cNvPr id="74" name="Shape 53"/>
          <p:cNvSpPr/>
          <p:nvPr/>
        </p:nvSpPr>
        <p:spPr>
          <a:xfrm>
            <a:off x="7848662" y="3769554"/>
            <a:ext cx="3730752" cy="469304"/>
          </a:xfrm>
          <a:prstGeom prst="rect">
            <a:avLst/>
          </a:prstGeom>
          <a:solidFill>
            <a:srgbClr val="DFF4EE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54"/>
          <p:cNvSpPr/>
          <p:nvPr/>
        </p:nvSpPr>
        <p:spPr>
          <a:xfrm>
            <a:off x="7921814" y="3787842"/>
            <a:ext cx="3585868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불필요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(블리스터 원형 그대로)</a:t>
            </a:r>
            <a:endParaRPr lang="en-US" sz="1200" dirty="0">
              <a:latin typeface="+mn-ea"/>
            </a:endParaRPr>
          </a:p>
        </p:txBody>
      </p:sp>
      <p:sp>
        <p:nvSpPr>
          <p:cNvPr id="76" name="Shape 55"/>
          <p:cNvSpPr/>
          <p:nvPr/>
        </p:nvSpPr>
        <p:spPr>
          <a:xfrm>
            <a:off x="423734" y="4272474"/>
            <a:ext cx="1521278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56"/>
          <p:cNvSpPr/>
          <p:nvPr/>
        </p:nvSpPr>
        <p:spPr>
          <a:xfrm>
            <a:off x="496886" y="4290762"/>
            <a:ext cx="137639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사용자 수령 방식</a:t>
            </a:r>
            <a:endParaRPr lang="en-US" sz="1200" dirty="0">
              <a:latin typeface="+mn-ea"/>
            </a:endParaRPr>
          </a:p>
        </p:txBody>
      </p:sp>
      <p:sp>
        <p:nvSpPr>
          <p:cNvPr id="78" name="Shape 57"/>
          <p:cNvSpPr/>
          <p:nvPr/>
        </p:nvSpPr>
        <p:spPr>
          <a:xfrm>
            <a:off x="1959926" y="4272474"/>
            <a:ext cx="1919707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8"/>
          <p:cNvSpPr/>
          <p:nvPr/>
        </p:nvSpPr>
        <p:spPr>
          <a:xfrm>
            <a:off x="2033078" y="429076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버튼 조작 후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컵 수령</a:t>
            </a:r>
            <a:endParaRPr lang="en-US" sz="1200" dirty="0">
              <a:latin typeface="+mn-ea"/>
            </a:endParaRPr>
          </a:p>
        </p:txBody>
      </p:sp>
      <p:sp>
        <p:nvSpPr>
          <p:cNvPr id="80" name="Shape 59"/>
          <p:cNvSpPr/>
          <p:nvPr/>
        </p:nvSpPr>
        <p:spPr>
          <a:xfrm>
            <a:off x="3898454" y="4272474"/>
            <a:ext cx="1919707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60"/>
          <p:cNvSpPr/>
          <p:nvPr/>
        </p:nvSpPr>
        <p:spPr>
          <a:xfrm>
            <a:off x="3971606" y="4290762"/>
            <a:ext cx="1774824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터치 후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배출 서랍 수령</a:t>
            </a:r>
            <a:endParaRPr lang="en-US" sz="1200" dirty="0">
              <a:latin typeface="+mn-ea"/>
            </a:endParaRPr>
          </a:p>
        </p:txBody>
      </p:sp>
      <p:sp>
        <p:nvSpPr>
          <p:cNvPr id="82" name="Shape 61"/>
          <p:cNvSpPr/>
          <p:nvPr/>
        </p:nvSpPr>
        <p:spPr>
          <a:xfrm>
            <a:off x="5836982" y="4272474"/>
            <a:ext cx="1992149" cy="469304"/>
          </a:xfrm>
          <a:prstGeom prst="rect">
            <a:avLst/>
          </a:prstGeom>
          <a:solidFill>
            <a:srgbClr val="FBFCFD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Text 62"/>
          <p:cNvSpPr/>
          <p:nvPr/>
        </p:nvSpPr>
        <p:spPr>
          <a:xfrm>
            <a:off x="5910134" y="4290762"/>
            <a:ext cx="1847266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점등된 칸에서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컵 수령</a:t>
            </a:r>
            <a:endParaRPr lang="en-US" sz="1200" dirty="0">
              <a:latin typeface="+mn-ea"/>
            </a:endParaRPr>
          </a:p>
        </p:txBody>
      </p:sp>
      <p:sp>
        <p:nvSpPr>
          <p:cNvPr id="84" name="Shape 63"/>
          <p:cNvSpPr/>
          <p:nvPr/>
        </p:nvSpPr>
        <p:spPr>
          <a:xfrm>
            <a:off x="7848662" y="4272474"/>
            <a:ext cx="3730752" cy="469304"/>
          </a:xfrm>
          <a:prstGeom prst="rect">
            <a:avLst/>
          </a:prstGeom>
          <a:solidFill>
            <a:srgbClr val="F4FBF9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64"/>
          <p:cNvSpPr/>
          <p:nvPr/>
        </p:nvSpPr>
        <p:spPr>
          <a:xfrm>
            <a:off x="7921814" y="4290762"/>
            <a:ext cx="3585868" cy="43517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위치 도착 후 LCD 승인·수령</a:t>
            </a:r>
            <a:endParaRPr lang="en-US" sz="1200" dirty="0">
              <a:latin typeface="+mn-ea"/>
            </a:endParaRPr>
          </a:p>
        </p:txBody>
      </p:sp>
      <p:sp>
        <p:nvSpPr>
          <p:cNvPr id="86" name="Shape 65"/>
          <p:cNvSpPr/>
          <p:nvPr/>
        </p:nvSpPr>
        <p:spPr>
          <a:xfrm>
            <a:off x="423734" y="4775394"/>
            <a:ext cx="1521278" cy="571698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Text 66"/>
          <p:cNvSpPr/>
          <p:nvPr/>
        </p:nvSpPr>
        <p:spPr>
          <a:xfrm>
            <a:off x="496886" y="4793681"/>
            <a:ext cx="1376394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배출 성공 판정 방식</a:t>
            </a:r>
            <a:endParaRPr lang="en-US" sz="1200" dirty="0">
              <a:latin typeface="+mn-ea"/>
            </a:endParaRPr>
          </a:p>
        </p:txBody>
      </p:sp>
      <p:sp>
        <p:nvSpPr>
          <p:cNvPr id="88" name="Shape 67"/>
          <p:cNvSpPr/>
          <p:nvPr/>
        </p:nvSpPr>
        <p:spPr>
          <a:xfrm>
            <a:off x="1959926" y="4775394"/>
            <a:ext cx="1919707" cy="571698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9" name="Text 68"/>
          <p:cNvSpPr/>
          <p:nvPr/>
        </p:nvSpPr>
        <p:spPr>
          <a:xfrm>
            <a:off x="2033078" y="4793681"/>
            <a:ext cx="1774824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정제 배출 후 컵 제거 여부로 복용 상태 기록</a:t>
            </a:r>
            <a:endParaRPr lang="en-US" sz="1200" dirty="0">
              <a:latin typeface="+mn-ea"/>
            </a:endParaRPr>
          </a:p>
        </p:txBody>
      </p:sp>
      <p:sp>
        <p:nvSpPr>
          <p:cNvPr id="90" name="Shape 69"/>
          <p:cNvSpPr/>
          <p:nvPr/>
        </p:nvSpPr>
        <p:spPr>
          <a:xfrm>
            <a:off x="3898454" y="4775394"/>
            <a:ext cx="1919707" cy="571698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70"/>
          <p:cNvSpPr/>
          <p:nvPr/>
        </p:nvSpPr>
        <p:spPr>
          <a:xfrm>
            <a:off x="3971606" y="4793681"/>
            <a:ext cx="1774824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배출 시각</a:t>
            </a:r>
            <a:r>
              <a:rPr lang="en-US" altLang="ko-KR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 ·</a:t>
            </a: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사진</a:t>
            </a:r>
            <a:r>
              <a:rPr lang="en-US" altLang="ko-KR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 ·</a:t>
            </a:r>
            <a:r>
              <a:rPr lang="ko-KR" altLang="en-US" sz="1200" dirty="0" err="1">
                <a:solidFill>
                  <a:srgbClr val="2B3C4F"/>
                </a:solidFill>
                <a:latin typeface="+mn-ea"/>
                <a:cs typeface="NanumSquare" pitchFamily="34" charset="-120"/>
              </a:rPr>
              <a:t>미복약</a:t>
            </a:r>
            <a:r>
              <a:rPr lang="ko-KR" alt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 상태 기록</a:t>
            </a:r>
            <a:endParaRPr lang="en-US" sz="1200" dirty="0">
              <a:latin typeface="+mn-ea"/>
            </a:endParaRPr>
          </a:p>
        </p:txBody>
      </p:sp>
      <p:sp>
        <p:nvSpPr>
          <p:cNvPr id="92" name="Shape 71"/>
          <p:cNvSpPr/>
          <p:nvPr/>
        </p:nvSpPr>
        <p:spPr>
          <a:xfrm>
            <a:off x="5836982" y="4775394"/>
            <a:ext cx="1992149" cy="571698"/>
          </a:xfrm>
          <a:prstGeom prst="rect">
            <a:avLst/>
          </a:prstGeom>
          <a:solidFill>
            <a:srgbClr val="FFF8F2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3" name="Text 72"/>
          <p:cNvSpPr/>
          <p:nvPr/>
        </p:nvSpPr>
        <p:spPr>
          <a:xfrm>
            <a:off x="5910134" y="4793681"/>
            <a:ext cx="1847266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복약 컵 제거</a:t>
            </a:r>
            <a:endParaRPr lang="en-US" sz="1200" dirty="0">
              <a:latin typeface="+mn-ea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2B3C4F"/>
                </a:solidFill>
                <a:latin typeface="+mn-ea"/>
                <a:cs typeface="NanumSquare" pitchFamily="34" charset="-120"/>
              </a:rPr>
              <a:t>여부 기록</a:t>
            </a:r>
            <a:endParaRPr lang="en-US" sz="1200" dirty="0">
              <a:latin typeface="+mn-ea"/>
            </a:endParaRPr>
          </a:p>
        </p:txBody>
      </p:sp>
      <p:sp>
        <p:nvSpPr>
          <p:cNvPr id="94" name="Shape 73"/>
          <p:cNvSpPr/>
          <p:nvPr/>
        </p:nvSpPr>
        <p:spPr>
          <a:xfrm>
            <a:off x="7848662" y="4775394"/>
            <a:ext cx="3730752" cy="571698"/>
          </a:xfrm>
          <a:prstGeom prst="rect">
            <a:avLst/>
          </a:prstGeom>
          <a:solidFill>
            <a:srgbClr val="DFF4EE"/>
          </a:solidFill>
          <a:ln w="10160">
            <a:solidFill>
              <a:srgbClr val="E5E9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Text 74"/>
          <p:cNvSpPr/>
          <p:nvPr/>
        </p:nvSpPr>
        <p:spPr>
          <a:xfrm>
            <a:off x="7921814" y="4793681"/>
            <a:ext cx="3585868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IR 센서로 </a:t>
            </a:r>
            <a:r>
              <a:rPr lang="en-US" sz="1200" b="1" dirty="0" err="1">
                <a:solidFill>
                  <a:srgbClr val="25364A"/>
                </a:solidFill>
                <a:latin typeface="+mn-ea"/>
                <a:cs typeface="NanumSquare" pitchFamily="34" charset="-120"/>
              </a:rPr>
              <a:t>실제</a:t>
            </a: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 </a:t>
            </a:r>
            <a:r>
              <a:rPr lang="ko-KR" alt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정제</a:t>
            </a:r>
            <a:r>
              <a:rPr lang="en-US" sz="1200" b="1" dirty="0">
                <a:solidFill>
                  <a:srgbClr val="25364A"/>
                </a:solidFill>
                <a:latin typeface="+mn-ea"/>
                <a:cs typeface="NanumSquare" pitchFamily="34" charset="-120"/>
              </a:rPr>
              <a:t> 통과 직접 검출</a:t>
            </a:r>
            <a:endParaRPr lang="en-US" sz="1200" dirty="0">
              <a:latin typeface="+mn-ea"/>
            </a:endParaRPr>
          </a:p>
        </p:txBody>
      </p:sp>
      <p:sp>
        <p:nvSpPr>
          <p:cNvPr id="96" name="Shape 75"/>
          <p:cNvSpPr/>
          <p:nvPr/>
        </p:nvSpPr>
        <p:spPr>
          <a:xfrm>
            <a:off x="416859" y="5431833"/>
            <a:ext cx="3529584" cy="621792"/>
          </a:xfrm>
          <a:prstGeom prst="roundRect">
            <a:avLst>
              <a:gd name="adj" fmla="val 19118"/>
            </a:avLst>
          </a:prstGeom>
          <a:solidFill>
            <a:srgbClr val="FFFDFB"/>
          </a:solidFill>
          <a:ln w="12700">
            <a:solidFill>
              <a:srgbClr val="F3D1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76"/>
          <p:cNvSpPr/>
          <p:nvPr/>
        </p:nvSpPr>
        <p:spPr>
          <a:xfrm>
            <a:off x="581451" y="5587281"/>
            <a:ext cx="310896" cy="310896"/>
          </a:xfrm>
          <a:prstGeom prst="ellipse">
            <a:avLst/>
          </a:prstGeom>
          <a:solidFill>
            <a:srgbClr val="F5822A"/>
          </a:solidFill>
          <a:ln w="12700">
            <a:solidFill>
              <a:srgbClr val="F582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8" name="Text 77"/>
          <p:cNvSpPr/>
          <p:nvPr/>
        </p:nvSpPr>
        <p:spPr>
          <a:xfrm>
            <a:off x="581451" y="5541561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01</a:t>
            </a:r>
            <a:endParaRPr lang="en-US" sz="1200" dirty="0">
              <a:latin typeface="+mn-ea"/>
            </a:endParaRPr>
          </a:p>
        </p:txBody>
      </p:sp>
      <p:sp>
        <p:nvSpPr>
          <p:cNvPr id="99" name="Text 78"/>
          <p:cNvSpPr/>
          <p:nvPr/>
        </p:nvSpPr>
        <p:spPr>
          <a:xfrm>
            <a:off x="962272" y="5641366"/>
            <a:ext cx="1600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6D14"/>
                </a:solidFill>
                <a:latin typeface="+mn-ea"/>
                <a:cs typeface="NanumSquare" pitchFamily="34" charset="-120"/>
              </a:rPr>
              <a:t>블리스터 그대로</a:t>
            </a:r>
            <a:endParaRPr lang="en-US" sz="1200" dirty="0">
              <a:latin typeface="+mn-ea"/>
            </a:endParaRPr>
          </a:p>
        </p:txBody>
      </p:sp>
      <p:sp>
        <p:nvSpPr>
          <p:cNvPr id="100" name="Text 79"/>
          <p:cNvSpPr/>
          <p:nvPr/>
        </p:nvSpPr>
        <p:spPr>
          <a:xfrm>
            <a:off x="2327417" y="5547237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재포장·재투입 없이</a:t>
            </a:r>
            <a:endParaRPr lang="en-US" sz="1200" dirty="0">
              <a:latin typeface="+mn-ea"/>
            </a:endParaRPr>
          </a:p>
          <a:p>
            <a:pPr marL="0" indent="0" algn="l">
              <a:buNone/>
            </a:pPr>
            <a:r>
              <a:rPr lang="en-US" sz="12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기존 약 포장 활용</a:t>
            </a:r>
            <a:endParaRPr lang="en-US" sz="1200" dirty="0">
              <a:latin typeface="+mn-ea"/>
            </a:endParaRPr>
          </a:p>
        </p:txBody>
      </p:sp>
      <p:sp>
        <p:nvSpPr>
          <p:cNvPr id="101" name="Shape 80"/>
          <p:cNvSpPr/>
          <p:nvPr/>
        </p:nvSpPr>
        <p:spPr>
          <a:xfrm>
            <a:off x="4229907" y="5431833"/>
            <a:ext cx="3529584" cy="621792"/>
          </a:xfrm>
          <a:prstGeom prst="roundRect">
            <a:avLst>
              <a:gd name="adj" fmla="val 19118"/>
            </a:avLst>
          </a:prstGeom>
          <a:solidFill>
            <a:srgbClr val="FFFDFB"/>
          </a:solidFill>
          <a:ln w="12700">
            <a:solidFill>
              <a:srgbClr val="F3D1B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2" name="Shape 81"/>
          <p:cNvSpPr/>
          <p:nvPr/>
        </p:nvSpPr>
        <p:spPr>
          <a:xfrm>
            <a:off x="4394499" y="5587281"/>
            <a:ext cx="310896" cy="310896"/>
          </a:xfrm>
          <a:prstGeom prst="ellipse">
            <a:avLst/>
          </a:prstGeom>
          <a:solidFill>
            <a:srgbClr val="F5822A"/>
          </a:solidFill>
          <a:ln w="12700">
            <a:solidFill>
              <a:srgbClr val="F5822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3" name="Text 82"/>
          <p:cNvSpPr/>
          <p:nvPr/>
        </p:nvSpPr>
        <p:spPr>
          <a:xfrm>
            <a:off x="4394499" y="5541561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02</a:t>
            </a:r>
            <a:endParaRPr lang="en-US" sz="1200" dirty="0">
              <a:latin typeface="+mn-ea"/>
            </a:endParaRPr>
          </a:p>
        </p:txBody>
      </p:sp>
      <p:sp>
        <p:nvSpPr>
          <p:cNvPr id="104" name="Text 83"/>
          <p:cNvSpPr/>
          <p:nvPr/>
        </p:nvSpPr>
        <p:spPr>
          <a:xfrm>
            <a:off x="4815123" y="5523273"/>
            <a:ext cx="8138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6D14"/>
                </a:solidFill>
                <a:latin typeface="+mn-ea"/>
                <a:cs typeface="NanumSquare" pitchFamily="34" charset="-120"/>
              </a:rPr>
              <a:t>좌표 </a:t>
            </a:r>
            <a:r>
              <a:rPr lang="en-US" sz="1200" b="1" dirty="0" err="1">
                <a:solidFill>
                  <a:srgbClr val="E86D14"/>
                </a:solidFill>
                <a:latin typeface="+mn-ea"/>
                <a:cs typeface="NanumSquare" pitchFamily="34" charset="-120"/>
              </a:rPr>
              <a:t>기반</a:t>
            </a:r>
            <a:r>
              <a:rPr lang="en-US" sz="1200" b="1" dirty="0">
                <a:solidFill>
                  <a:srgbClr val="E86D14"/>
                </a:solidFill>
                <a:latin typeface="+mn-ea"/>
                <a:cs typeface="NanumSquare" pitchFamily="34" charset="-120"/>
              </a:rPr>
              <a:t> </a:t>
            </a:r>
          </a:p>
          <a:p>
            <a:pPr marL="0" indent="0" algn="l">
              <a:buNone/>
            </a:pPr>
            <a:r>
              <a:rPr lang="en-US" sz="1200" b="1" dirty="0" err="1">
                <a:solidFill>
                  <a:srgbClr val="E86D14"/>
                </a:solidFill>
                <a:latin typeface="+mn-ea"/>
                <a:cs typeface="NanumSquare" pitchFamily="34" charset="-120"/>
              </a:rPr>
              <a:t>직접</a:t>
            </a:r>
            <a:r>
              <a:rPr lang="en-US" sz="1200" b="1" dirty="0">
                <a:solidFill>
                  <a:srgbClr val="E86D14"/>
                </a:solidFill>
                <a:latin typeface="+mn-ea"/>
                <a:cs typeface="NanumSquare" pitchFamily="34" charset="-120"/>
              </a:rPr>
              <a:t> 접근</a:t>
            </a:r>
            <a:endParaRPr lang="en-US" sz="1200" dirty="0">
              <a:latin typeface="+mn-ea"/>
            </a:endParaRPr>
          </a:p>
        </p:txBody>
      </p:sp>
      <p:sp>
        <p:nvSpPr>
          <p:cNvPr id="105" name="Text 84"/>
          <p:cNvSpPr/>
          <p:nvPr/>
        </p:nvSpPr>
        <p:spPr>
          <a:xfrm>
            <a:off x="5889795" y="5547237"/>
            <a:ext cx="1655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약을 옮기지 않고</a:t>
            </a:r>
            <a:endParaRPr lang="en-US" sz="1100" dirty="0">
              <a:latin typeface="+mn-ea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장치가 대상 슬롯으로 이동</a:t>
            </a:r>
            <a:endParaRPr lang="en-US" sz="1100" dirty="0">
              <a:latin typeface="+mn-ea"/>
            </a:endParaRPr>
          </a:p>
        </p:txBody>
      </p:sp>
      <p:sp>
        <p:nvSpPr>
          <p:cNvPr id="106" name="Shape 85"/>
          <p:cNvSpPr/>
          <p:nvPr/>
        </p:nvSpPr>
        <p:spPr>
          <a:xfrm>
            <a:off x="8042955" y="5431833"/>
            <a:ext cx="3529584" cy="621792"/>
          </a:xfrm>
          <a:prstGeom prst="roundRect">
            <a:avLst>
              <a:gd name="adj" fmla="val 19118"/>
            </a:avLst>
          </a:prstGeom>
          <a:solidFill>
            <a:srgbClr val="FFFDFB"/>
          </a:solidFill>
          <a:ln w="12700">
            <a:solidFill>
              <a:srgbClr val="BFE7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7" name="Shape 86"/>
          <p:cNvSpPr/>
          <p:nvPr/>
        </p:nvSpPr>
        <p:spPr>
          <a:xfrm>
            <a:off x="8207547" y="5587281"/>
            <a:ext cx="310896" cy="310896"/>
          </a:xfrm>
          <a:prstGeom prst="ellipse">
            <a:avLst/>
          </a:prstGeom>
          <a:solidFill>
            <a:srgbClr val="18AE8F"/>
          </a:solidFill>
          <a:ln w="12700">
            <a:solidFill>
              <a:srgbClr val="18AE8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Text 87"/>
          <p:cNvSpPr/>
          <p:nvPr/>
        </p:nvSpPr>
        <p:spPr>
          <a:xfrm>
            <a:off x="8207547" y="5541561"/>
            <a:ext cx="310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+mn-ea"/>
                <a:cs typeface="NanumSquare" pitchFamily="34" charset="-120"/>
              </a:rPr>
              <a:t>03</a:t>
            </a:r>
            <a:endParaRPr lang="en-US" sz="1200" dirty="0">
              <a:latin typeface="+mn-ea"/>
            </a:endParaRPr>
          </a:p>
        </p:txBody>
      </p:sp>
      <p:sp>
        <p:nvSpPr>
          <p:cNvPr id="109" name="Text 88"/>
          <p:cNvSpPr/>
          <p:nvPr/>
        </p:nvSpPr>
        <p:spPr>
          <a:xfrm>
            <a:off x="8628171" y="5523273"/>
            <a:ext cx="16002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E9B7C"/>
                </a:solidFill>
                <a:latin typeface="+mn-ea"/>
                <a:cs typeface="NanumSquare" pitchFamily="34" charset="-120"/>
              </a:rPr>
              <a:t>실제 배출 검증</a:t>
            </a:r>
            <a:endParaRPr lang="en-US" sz="1200" dirty="0">
              <a:latin typeface="+mn-ea"/>
            </a:endParaRPr>
          </a:p>
        </p:txBody>
      </p:sp>
      <p:sp>
        <p:nvSpPr>
          <p:cNvPr id="110" name="Text 89"/>
          <p:cNvSpPr/>
          <p:nvPr/>
        </p:nvSpPr>
        <p:spPr>
          <a:xfrm>
            <a:off x="9767944" y="5504985"/>
            <a:ext cx="1612571" cy="46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IR 센서로 약의 실제 통과</a:t>
            </a:r>
            <a:endParaRPr lang="en-US" sz="1100" dirty="0">
              <a:latin typeface="+mn-ea"/>
            </a:endParaRPr>
          </a:p>
          <a:p>
            <a:pPr marL="0" indent="0" algn="l">
              <a:buNone/>
            </a:pPr>
            <a:r>
              <a:rPr lang="en-US" sz="1100" dirty="0">
                <a:solidFill>
                  <a:srgbClr val="6B7785"/>
                </a:solidFill>
                <a:latin typeface="+mn-ea"/>
                <a:cs typeface="NanumSquare" pitchFamily="34" charset="-120"/>
              </a:rPr>
              <a:t>여부를 직접 판정</a:t>
            </a:r>
            <a:endParaRPr lang="en-US" sz="1100" dirty="0"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53436" y="6246396"/>
            <a:ext cx="11082528" cy="179536"/>
          </a:xfrm>
          <a:prstGeom prst="rect">
            <a:avLst/>
          </a:prstGeom>
          <a:noFill/>
        </p:spPr>
        <p:txBody>
          <a:bodyPr wrap="square" lIns="38100" tIns="12700" rIns="38100" bIns="12700" anchor="ctr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출처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| Hero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공식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Help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</a:rPr>
              <a:t>Center·Instruction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Manual,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</a:rPr>
              <a:t>MedaCube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공식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</a:rPr>
              <a:t>Usage·FAQ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</a:rPr>
              <a:t>MedMinder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공식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Device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</a:rPr>
              <a:t>Guide·FAQ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63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90"/>
          <p:cNvSpPr/>
          <p:nvPr/>
        </p:nvSpPr>
        <p:spPr>
          <a:xfrm>
            <a:off x="416859" y="5966272"/>
            <a:ext cx="11192256" cy="736577"/>
          </a:xfrm>
          <a:prstGeom prst="roundRect">
            <a:avLst>
              <a:gd name="adj" fmla="val 33333"/>
            </a:avLst>
          </a:prstGeom>
          <a:solidFill>
            <a:srgbClr val="FFF2E8"/>
          </a:solidFill>
          <a:ln w="12700">
            <a:solidFill>
              <a:srgbClr val="F5C7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작품 우수성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95375" y="6058048"/>
            <a:ext cx="10067925" cy="6412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latin typeface="+mn-ea"/>
              </a:rPr>
              <a:t>통신</a:t>
            </a:r>
            <a:r>
              <a:rPr sz="1650" b="0" i="0" u="none" dirty="0">
                <a:latin typeface="+mn-ea"/>
              </a:rPr>
              <a:t>(Pi)과 </a:t>
            </a:r>
            <a:r>
              <a:rPr sz="1650" b="0" i="0" u="none" dirty="0" err="1">
                <a:latin typeface="+mn-ea"/>
              </a:rPr>
              <a:t>제어</a:t>
            </a:r>
            <a:r>
              <a:rPr sz="1650" b="0" i="0" u="none" dirty="0">
                <a:latin typeface="+mn-ea"/>
              </a:rPr>
              <a:t>(MCU) </a:t>
            </a:r>
            <a:r>
              <a:rPr sz="1650" b="0" i="0" u="none" dirty="0" err="1">
                <a:latin typeface="+mn-ea"/>
              </a:rPr>
              <a:t>모듈을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분리한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구조에서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발생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가능한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데이터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유실에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대비해</a:t>
            </a:r>
            <a:r>
              <a:rPr sz="1650" b="0" i="0" u="none" dirty="0">
                <a:latin typeface="+mn-ea"/>
              </a:rPr>
              <a:t>,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소프트웨어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통신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오류가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물리적인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'약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중복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배출'로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이어지지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않도록</a:t>
            </a:r>
            <a:r>
              <a:rPr sz="165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650" b="1" i="0" u="none" dirty="0" err="1">
                <a:solidFill>
                  <a:schemeClr val="accent2"/>
                </a:solidFill>
                <a:latin typeface="+mn-ea"/>
              </a:rPr>
              <a:t>상태</a:t>
            </a:r>
            <a:r>
              <a:rPr sz="1650" b="0" i="0" u="none" dirty="0">
                <a:latin typeface="+mn-ea"/>
              </a:rPr>
              <a:t> </a:t>
            </a:r>
            <a:r>
              <a:rPr sz="1650" b="0" i="0" u="none" dirty="0" err="1">
                <a:latin typeface="+mn-ea"/>
              </a:rPr>
              <a:t>구현</a:t>
            </a:r>
            <a:endParaRPr sz="1650" b="0" i="0" u="none" dirty="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15340" y="1391810"/>
            <a:ext cx="5056822" cy="2949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1" i="0" u="none" dirty="0" err="1">
                <a:latin typeface="+mn-ea"/>
              </a:rPr>
              <a:t>통신</a:t>
            </a:r>
            <a:r>
              <a:rPr sz="1800" b="1" i="0" u="none" dirty="0">
                <a:latin typeface="+mn-ea"/>
              </a:rPr>
              <a:t> </a:t>
            </a:r>
            <a:r>
              <a:rPr sz="1800" b="1" i="0" u="none" dirty="0" err="1">
                <a:latin typeface="+mn-ea"/>
              </a:rPr>
              <a:t>오류</a:t>
            </a:r>
            <a:r>
              <a:rPr sz="1800" b="1" i="0" u="none" dirty="0">
                <a:latin typeface="+mn-ea"/>
              </a:rPr>
              <a:t> </a:t>
            </a:r>
            <a:r>
              <a:rPr sz="1800" b="1" i="0" u="none" dirty="0" err="1">
                <a:latin typeface="+mn-ea"/>
              </a:rPr>
              <a:t>대비</a:t>
            </a:r>
            <a:r>
              <a:rPr sz="1800" b="1" i="0" u="none" dirty="0">
                <a:latin typeface="+mn-ea"/>
              </a:rPr>
              <a:t> </a:t>
            </a:r>
            <a:r>
              <a:rPr sz="1800" b="1" i="0" u="none" dirty="0" err="1">
                <a:solidFill>
                  <a:schemeClr val="accent2"/>
                </a:solidFill>
                <a:latin typeface="+mn-ea"/>
              </a:rPr>
              <a:t>중복</a:t>
            </a:r>
            <a:r>
              <a:rPr sz="18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800" b="1" i="0" u="none" dirty="0" err="1">
                <a:solidFill>
                  <a:schemeClr val="accent2"/>
                </a:solidFill>
                <a:latin typeface="+mn-ea"/>
              </a:rPr>
              <a:t>구동</a:t>
            </a:r>
            <a:r>
              <a:rPr sz="18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800" b="1" i="0" u="none" dirty="0" err="1">
                <a:solidFill>
                  <a:schemeClr val="accent2"/>
                </a:solidFill>
                <a:latin typeface="+mn-ea"/>
              </a:rPr>
              <a:t>방지</a:t>
            </a:r>
            <a:r>
              <a:rPr sz="1800" b="1" i="0" u="none" dirty="0">
                <a:latin typeface="+mn-ea"/>
              </a:rPr>
              <a:t> </a:t>
            </a:r>
            <a:r>
              <a:rPr sz="1800" b="1" i="0" u="none" dirty="0" err="1">
                <a:latin typeface="+mn-ea"/>
              </a:rPr>
              <a:t>상태</a:t>
            </a:r>
            <a:r>
              <a:rPr sz="1800" b="1" i="0" u="none" dirty="0">
                <a:latin typeface="+mn-ea"/>
              </a:rPr>
              <a:t> </a:t>
            </a:r>
            <a:r>
              <a:rPr sz="1800" b="1" i="0" u="none" dirty="0" err="1">
                <a:latin typeface="+mn-ea"/>
              </a:rPr>
              <a:t>설계</a:t>
            </a:r>
            <a:endParaRPr sz="1800" b="1" i="0" u="none" dirty="0">
              <a:latin typeface="+mn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4875" y="1673199"/>
            <a:ext cx="5000625" cy="5899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sz="1425" b="1" i="0" u="none" dirty="0">
                <a:solidFill>
                  <a:schemeClr val="accent2"/>
                </a:solidFill>
                <a:latin typeface="+mn-ea"/>
              </a:rPr>
              <a:t>Request ID </a:t>
            </a:r>
            <a:r>
              <a:rPr sz="1425" b="1" i="0" u="none" dirty="0" err="1">
                <a:solidFill>
                  <a:schemeClr val="accent2"/>
                </a:solidFill>
                <a:latin typeface="+mn-ea"/>
              </a:rPr>
              <a:t>부여</a:t>
            </a:r>
            <a:r>
              <a:rPr sz="1425" b="0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모든</a:t>
            </a:r>
            <a:r>
              <a:rPr sz="1425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물리</a:t>
            </a:r>
            <a:r>
              <a:rPr sz="1425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명령</a:t>
            </a:r>
            <a:r>
              <a:rPr sz="1425" b="0" i="0" u="none" dirty="0">
                <a:solidFill>
                  <a:srgbClr val="2D3748"/>
                </a:solidFill>
                <a:latin typeface="+mn-ea"/>
              </a:rPr>
              <a:t>(MOVE, DISPENSE)에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독립적인</a:t>
            </a:r>
            <a:r>
              <a:rPr sz="1425" b="0" i="0" u="none" dirty="0">
                <a:solidFill>
                  <a:srgbClr val="2D3748"/>
                </a:solidFill>
                <a:latin typeface="+mn-ea"/>
              </a:rPr>
              <a:t> 8자리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식별자</a:t>
            </a:r>
            <a:r>
              <a:rPr sz="1425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425" b="0" i="0" u="none" dirty="0" err="1">
                <a:solidFill>
                  <a:srgbClr val="2D3748"/>
                </a:solidFill>
                <a:latin typeface="+mn-ea"/>
              </a:rPr>
              <a:t>적용</a:t>
            </a:r>
            <a:endParaRPr sz="1425" b="0" i="0" u="none" dirty="0">
              <a:solidFill>
                <a:srgbClr val="2D3748"/>
              </a:solidFill>
              <a:latin typeface="+mn-ea"/>
            </a:endParaRPr>
          </a:p>
        </p:txBody>
      </p:sp>
      <p:pic>
        <p:nvPicPr>
          <p:cNvPr id="29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01774"/>
            <a:ext cx="190500" cy="304800"/>
          </a:xfrm>
          <a:prstGeom prst="rect">
            <a:avLst/>
          </a:prstGeom>
        </p:spPr>
      </p:pic>
      <p:grpSp>
        <p:nvGrpSpPr>
          <p:cNvPr id="8" name="그룹 7"/>
          <p:cNvGrpSpPr/>
          <p:nvPr/>
        </p:nvGrpSpPr>
        <p:grpSpPr>
          <a:xfrm>
            <a:off x="562745" y="2232960"/>
            <a:ext cx="10305708" cy="333375"/>
            <a:chOff x="571500" y="4156174"/>
            <a:chExt cx="10305708" cy="333375"/>
          </a:xfrm>
        </p:grpSpPr>
        <p:sp>
          <p:nvSpPr>
            <p:cNvPr id="24" name="TextBox 23"/>
            <p:cNvSpPr txBox="1"/>
            <p:nvPr/>
          </p:nvSpPr>
          <p:spPr>
            <a:xfrm>
              <a:off x="904875" y="4156174"/>
              <a:ext cx="9972333" cy="29495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MCU단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물리적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중복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구동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차단</a:t>
              </a:r>
              <a:r>
                <a:rPr sz="1425" b="0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ATmega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수신부에서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동일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Request ID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인식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시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모터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재동작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원천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차단</a:t>
              </a:r>
              <a:endParaRPr sz="1425" b="0" i="0" u="none" dirty="0">
                <a:solidFill>
                  <a:srgbClr val="2D3748"/>
                </a:solidFill>
                <a:latin typeface="+mn-ea"/>
              </a:endParaRPr>
            </a:p>
          </p:txBody>
        </p:sp>
        <p:pic>
          <p:nvPicPr>
            <p:cNvPr id="31" name="Picture 22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4184749"/>
              <a:ext cx="190500" cy="304800"/>
            </a:xfrm>
            <a:prstGeom prst="rect">
              <a:avLst/>
            </a:prstGeom>
          </p:spPr>
        </p:pic>
      </p:grpSp>
      <p:sp>
        <p:nvSpPr>
          <p:cNvPr id="35" name="TextBox 34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5909310" y="1638017"/>
            <a:ext cx="5334000" cy="589905"/>
            <a:chOff x="571500" y="3083867"/>
            <a:chExt cx="5334000" cy="589905"/>
          </a:xfrm>
        </p:grpSpPr>
        <p:sp>
          <p:nvSpPr>
            <p:cNvPr id="23" name="TextBox 22"/>
            <p:cNvSpPr txBox="1"/>
            <p:nvPr/>
          </p:nvSpPr>
          <p:spPr>
            <a:xfrm>
              <a:off x="904875" y="3083867"/>
              <a:ext cx="5000625" cy="58990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2279"/>
                </a:lnSpc>
              </a:pP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ACK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유실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대응</a:t>
              </a:r>
              <a:r>
                <a:rPr sz="1425" b="1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1" i="0" u="none" dirty="0" err="1">
                  <a:solidFill>
                    <a:schemeClr val="accent2"/>
                  </a:solidFill>
                  <a:latin typeface="+mn-ea"/>
                </a:rPr>
                <a:t>재전송</a:t>
              </a:r>
              <a:r>
                <a:rPr sz="1425" b="0" i="0" u="none" dirty="0">
                  <a:solidFill>
                    <a:schemeClr val="accent2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응답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누락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시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새로운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명령을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생성하지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않고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동일</a:t>
              </a:r>
              <a:r>
                <a:rPr sz="1425" b="0" i="0" u="none" dirty="0">
                  <a:solidFill>
                    <a:srgbClr val="2D3748"/>
                  </a:solidFill>
                  <a:latin typeface="+mn-ea"/>
                </a:rPr>
                <a:t> ID/Payload </a:t>
              </a:r>
              <a:r>
                <a:rPr sz="1425" b="0" i="0" u="none" dirty="0" err="1">
                  <a:solidFill>
                    <a:srgbClr val="2D3748"/>
                  </a:solidFill>
                  <a:latin typeface="+mn-ea"/>
                </a:rPr>
                <a:t>재전송</a:t>
              </a:r>
              <a:endParaRPr sz="1425" b="0" i="0" u="none" dirty="0">
                <a:solidFill>
                  <a:srgbClr val="2D3748"/>
                </a:solidFill>
                <a:latin typeface="+mn-ea"/>
              </a:endParaRPr>
            </a:p>
          </p:txBody>
        </p:sp>
        <p:pic>
          <p:nvPicPr>
            <p:cNvPr id="30" name="Picture 21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1500" y="3112442"/>
              <a:ext cx="190500" cy="304800"/>
            </a:xfrm>
            <a:prstGeom prst="rect">
              <a:avLst/>
            </a:prstGeom>
          </p:spPr>
        </p:pic>
      </p:grpSp>
      <p:pic>
        <p:nvPicPr>
          <p:cNvPr id="1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859" y="2580854"/>
            <a:ext cx="11192256" cy="3329706"/>
          </a:xfrm>
          <a:prstGeom prst="rect">
            <a:avLst/>
          </a:prstGeom>
        </p:spPr>
      </p:pic>
      <p:pic>
        <p:nvPicPr>
          <p:cNvPr id="27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5763196" y="4136074"/>
            <a:ext cx="257175" cy="228600"/>
          </a:xfrm>
          <a:prstGeom prst="rect">
            <a:avLst/>
          </a:prstGeom>
        </p:spPr>
      </p:pic>
      <p:sp>
        <p:nvSpPr>
          <p:cNvPr id="38" name="모서리가 둥근 직사각형 37"/>
          <p:cNvSpPr/>
          <p:nvPr/>
        </p:nvSpPr>
        <p:spPr>
          <a:xfrm>
            <a:off x="489841" y="2658112"/>
            <a:ext cx="5220397" cy="3144812"/>
          </a:xfrm>
          <a:prstGeom prst="roundRect">
            <a:avLst>
              <a:gd name="adj" fmla="val 9424"/>
            </a:avLst>
          </a:prstGeom>
          <a:solidFill>
            <a:srgbClr val="FBFDFE"/>
          </a:solidFill>
          <a:ln w="25400">
            <a:solidFill>
              <a:srgbClr val="59B0E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6082284" y="2662873"/>
            <a:ext cx="5347716" cy="3154118"/>
          </a:xfrm>
          <a:prstGeom prst="roundRect">
            <a:avLst>
              <a:gd name="adj" fmla="val 9424"/>
            </a:avLst>
          </a:prstGeom>
          <a:solidFill>
            <a:srgbClr val="FBFDFE"/>
          </a:solidFill>
          <a:ln w="25400">
            <a:solidFill>
              <a:srgbClr val="59B0E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0512" y="4711453"/>
            <a:ext cx="5123287" cy="932203"/>
          </a:xfrm>
          <a:prstGeom prst="rect">
            <a:avLst/>
          </a:prstGeom>
        </p:spPr>
      </p:pic>
      <p:pic>
        <p:nvPicPr>
          <p:cNvPr id="32" name="그림 3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0513" y="3115415"/>
            <a:ext cx="5123287" cy="15403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4476" y="2764146"/>
            <a:ext cx="4200525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0E4B75"/>
                </a:solidFill>
                <a:latin typeface="+mn-ea"/>
              </a:rPr>
              <a:t> Raspberry Pi (Master)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8164" y="2900720"/>
            <a:ext cx="417195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 dirty="0">
                <a:solidFill>
                  <a:srgbClr val="0E4B75"/>
                </a:solidFill>
                <a:latin typeface="+mn-ea"/>
              </a:rPr>
              <a:t>ATmega128A (Slave)</a:t>
            </a:r>
          </a:p>
        </p:txBody>
      </p:sp>
      <p:pic>
        <p:nvPicPr>
          <p:cNvPr id="33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896" y="2764146"/>
            <a:ext cx="123825" cy="152400"/>
          </a:xfrm>
          <a:prstGeom prst="rect">
            <a:avLst/>
          </a:prstGeom>
        </p:spPr>
      </p:pic>
      <p:pic>
        <p:nvPicPr>
          <p:cNvPr id="34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0514" y="2916853"/>
            <a:ext cx="152400" cy="152400"/>
          </a:xfrm>
          <a:prstGeom prst="rect">
            <a:avLst/>
          </a:prstGeom>
        </p:spPr>
      </p:pic>
      <p:pic>
        <p:nvPicPr>
          <p:cNvPr id="39" name="그림 3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896" y="4658155"/>
            <a:ext cx="4401164" cy="1076475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0892" y="2970798"/>
            <a:ext cx="5007476" cy="1716815"/>
          </a:xfrm>
          <a:prstGeom prst="rect">
            <a:avLst/>
          </a:prstGeom>
        </p:spPr>
      </p:pic>
      <p:pic>
        <p:nvPicPr>
          <p:cNvPr id="43" name="그림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8231" y="5265467"/>
            <a:ext cx="1467055" cy="19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768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5" name="Rounded Rectangle 7"/>
          <p:cNvSpPr/>
          <p:nvPr/>
        </p:nvSpPr>
        <p:spPr>
          <a:xfrm>
            <a:off x="579346" y="1690688"/>
            <a:ext cx="3456432" cy="3886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8"/>
          <p:cNvSpPr/>
          <p:nvPr/>
        </p:nvSpPr>
        <p:spPr>
          <a:xfrm>
            <a:off x="588490" y="1699832"/>
            <a:ext cx="3438144" cy="54864"/>
          </a:xfrm>
          <a:prstGeom prst="roundRect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53666" y="2029016"/>
            <a:ext cx="29077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 err="1">
                <a:solidFill>
                  <a:srgbClr val="4A79E8"/>
                </a:solidFill>
                <a:latin typeface="+mn-ea"/>
              </a:rPr>
              <a:t>사용자</a:t>
            </a:r>
            <a:r>
              <a:rPr sz="1600" b="1" dirty="0">
                <a:solidFill>
                  <a:srgbClr val="4A79E8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4A79E8"/>
                </a:solidFill>
                <a:latin typeface="+mn-ea"/>
              </a:rPr>
              <a:t>측면</a:t>
            </a:r>
            <a:endParaRPr sz="160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3666" y="2431352"/>
            <a:ext cx="290779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 dirty="0">
                <a:solidFill>
                  <a:srgbClr val="273244"/>
                </a:solidFill>
                <a:latin typeface="+mn-ea"/>
              </a:rPr>
              <a:t>“더 </a:t>
            </a:r>
            <a:r>
              <a:rPr sz="2400" b="1" dirty="0" err="1">
                <a:solidFill>
                  <a:srgbClr val="273244"/>
                </a:solidFill>
                <a:latin typeface="+mn-ea"/>
              </a:rPr>
              <a:t>단순하게</a:t>
            </a:r>
            <a:r>
              <a:rPr sz="2400" b="1" dirty="0">
                <a:solidFill>
                  <a:srgbClr val="273244"/>
                </a:solidFill>
                <a:latin typeface="+mn-ea"/>
              </a:rPr>
              <a:t>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3394" y="3108008"/>
            <a:ext cx="2688336" cy="228267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복약</a:t>
            </a:r>
            <a:r>
              <a:rPr sz="1400" dirty="0"/>
              <a:t> </a:t>
            </a:r>
            <a:r>
              <a:rPr sz="1400" dirty="0" err="1"/>
              <a:t>시간</a:t>
            </a:r>
            <a:r>
              <a:rPr sz="1400" dirty="0"/>
              <a:t> </a:t>
            </a:r>
            <a:r>
              <a:rPr sz="1400" dirty="0" err="1"/>
              <a:t>즉시</a:t>
            </a:r>
            <a:r>
              <a:rPr sz="1400" dirty="0"/>
              <a:t> </a:t>
            </a:r>
            <a:r>
              <a:rPr sz="1400" dirty="0" err="1"/>
              <a:t>음성·LCD</a:t>
            </a:r>
            <a:r>
              <a:rPr sz="1400" dirty="0"/>
              <a:t> </a:t>
            </a:r>
            <a:r>
              <a:rPr sz="1400" dirty="0" err="1"/>
              <a:t>안내</a:t>
            </a:r>
            <a:endParaRPr sz="1400" dirty="0"/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지정</a:t>
            </a:r>
            <a:r>
              <a:rPr sz="1400" dirty="0"/>
              <a:t> </a:t>
            </a:r>
            <a:r>
              <a:rPr sz="1400" dirty="0" err="1"/>
              <a:t>슬롯</a:t>
            </a:r>
            <a:r>
              <a:rPr sz="1400" dirty="0"/>
              <a:t> </a:t>
            </a:r>
            <a:r>
              <a:rPr sz="1400" dirty="0" err="1"/>
              <a:t>기반으로</a:t>
            </a:r>
            <a:r>
              <a:rPr sz="1400" dirty="0"/>
              <a:t> </a:t>
            </a:r>
            <a:r>
              <a:rPr sz="1400" dirty="0" err="1"/>
              <a:t>오복약·누락</a:t>
            </a:r>
            <a:r>
              <a:rPr sz="1400" dirty="0"/>
              <a:t> </a:t>
            </a:r>
            <a:r>
              <a:rPr sz="1400" dirty="0" err="1"/>
              <a:t>위험</a:t>
            </a:r>
            <a:r>
              <a:rPr sz="1400" dirty="0"/>
              <a:t> </a:t>
            </a:r>
            <a:r>
              <a:rPr sz="1400" dirty="0" err="1"/>
              <a:t>감소</a:t>
            </a:r>
            <a:endParaRPr sz="1400" dirty="0"/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기존</a:t>
            </a:r>
            <a:r>
              <a:rPr sz="1400" dirty="0"/>
              <a:t> </a:t>
            </a:r>
            <a:r>
              <a:rPr sz="1400" dirty="0" err="1"/>
              <a:t>블리스터</a:t>
            </a:r>
            <a:r>
              <a:rPr sz="1400" dirty="0"/>
              <a:t> </a:t>
            </a:r>
            <a:r>
              <a:rPr sz="1400" dirty="0" err="1"/>
              <a:t>유지로</a:t>
            </a:r>
            <a:r>
              <a:rPr sz="1400" dirty="0"/>
              <a:t> </a:t>
            </a:r>
            <a:r>
              <a:rPr sz="1400" dirty="0" err="1"/>
              <a:t>사용</a:t>
            </a:r>
            <a:r>
              <a:rPr sz="1400" dirty="0"/>
              <a:t> </a:t>
            </a:r>
            <a:r>
              <a:rPr sz="1400" dirty="0" err="1"/>
              <a:t>진입장벽</a:t>
            </a:r>
            <a:r>
              <a:rPr sz="1400" dirty="0"/>
              <a:t> </a:t>
            </a:r>
            <a:r>
              <a:rPr sz="1400" dirty="0" err="1"/>
              <a:t>감소</a:t>
            </a:r>
            <a:endParaRPr sz="1400" dirty="0"/>
          </a:p>
        </p:txBody>
      </p:sp>
      <p:sp>
        <p:nvSpPr>
          <p:cNvPr id="58" name="Rounded Rectangle 12"/>
          <p:cNvSpPr/>
          <p:nvPr/>
        </p:nvSpPr>
        <p:spPr>
          <a:xfrm>
            <a:off x="4401537" y="1690688"/>
            <a:ext cx="3456432" cy="3886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13"/>
          <p:cNvSpPr/>
          <p:nvPr/>
        </p:nvSpPr>
        <p:spPr>
          <a:xfrm>
            <a:off x="4410681" y="1699832"/>
            <a:ext cx="3438144" cy="54864"/>
          </a:xfrm>
          <a:prstGeom prst="roundRect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675857" y="2029016"/>
            <a:ext cx="29077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19B189"/>
                </a:solidFill>
                <a:latin typeface="+mn-ea"/>
              </a:rPr>
              <a:t>보호자 측면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75857" y="2431352"/>
            <a:ext cx="290779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“더 명확하게”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785585" y="3108008"/>
            <a:ext cx="2688336" cy="1851789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슬롯</a:t>
            </a:r>
            <a:r>
              <a:rPr sz="1400" dirty="0"/>
              <a:t> </a:t>
            </a:r>
            <a:r>
              <a:rPr sz="1400" dirty="0" err="1"/>
              <a:t>이동·배출</a:t>
            </a:r>
            <a:r>
              <a:rPr sz="1400" dirty="0"/>
              <a:t> </a:t>
            </a:r>
            <a:r>
              <a:rPr sz="1400" dirty="0" err="1"/>
              <a:t>결과·미복약</a:t>
            </a:r>
            <a:r>
              <a:rPr sz="1400" dirty="0"/>
              <a:t> </a:t>
            </a:r>
            <a:r>
              <a:rPr sz="1400" dirty="0" err="1"/>
              <a:t>이력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복약</a:t>
            </a:r>
            <a:r>
              <a:rPr sz="1400" dirty="0"/>
              <a:t> </a:t>
            </a:r>
            <a:r>
              <a:rPr sz="1400" dirty="0" err="1"/>
              <a:t>상태를</a:t>
            </a:r>
            <a:r>
              <a:rPr sz="1400" dirty="0"/>
              <a:t> </a:t>
            </a:r>
            <a:r>
              <a:rPr sz="1400" dirty="0" err="1"/>
              <a:t>기록으로</a:t>
            </a:r>
            <a:r>
              <a:rPr sz="1400" dirty="0"/>
              <a:t> </a:t>
            </a:r>
            <a:r>
              <a:rPr sz="1400" dirty="0" err="1"/>
              <a:t>확인</a:t>
            </a:r>
            <a:endParaRPr sz="1400" dirty="0"/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 dirty="0" err="1"/>
              <a:t>장치</a:t>
            </a:r>
            <a:r>
              <a:rPr sz="1400" dirty="0"/>
              <a:t> </a:t>
            </a:r>
            <a:r>
              <a:rPr sz="1400" dirty="0" err="1"/>
              <a:t>상태·오류</a:t>
            </a:r>
            <a:r>
              <a:rPr sz="1400" dirty="0"/>
              <a:t> </a:t>
            </a:r>
            <a:r>
              <a:rPr sz="1400" dirty="0" err="1"/>
              <a:t>추적</a:t>
            </a:r>
            <a:r>
              <a:rPr sz="1400" dirty="0"/>
              <a:t> </a:t>
            </a:r>
            <a:r>
              <a:rPr sz="1400" dirty="0" err="1"/>
              <a:t>용이</a:t>
            </a:r>
            <a:endParaRPr sz="1400" dirty="0"/>
          </a:p>
        </p:txBody>
      </p:sp>
      <p:sp>
        <p:nvSpPr>
          <p:cNvPr id="63" name="Rounded Rectangle 17"/>
          <p:cNvSpPr/>
          <p:nvPr/>
        </p:nvSpPr>
        <p:spPr>
          <a:xfrm>
            <a:off x="8223728" y="1690688"/>
            <a:ext cx="3456432" cy="3886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+mn-ea"/>
            </a:endParaRPr>
          </a:p>
        </p:txBody>
      </p:sp>
      <p:sp>
        <p:nvSpPr>
          <p:cNvPr id="65" name="Rounded Rectangle 18"/>
          <p:cNvSpPr/>
          <p:nvPr/>
        </p:nvSpPr>
        <p:spPr>
          <a:xfrm>
            <a:off x="8232872" y="1699832"/>
            <a:ext cx="3438144" cy="54864"/>
          </a:xfrm>
          <a:prstGeom prst="roundRect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498048" y="2029016"/>
            <a:ext cx="2907792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>
                <a:solidFill>
                  <a:srgbClr val="F1842B"/>
                </a:solidFill>
                <a:latin typeface="+mn-ea"/>
              </a:rPr>
              <a:t>운영 측면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98048" y="2431352"/>
            <a:ext cx="2907792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400" b="1">
                <a:solidFill>
                  <a:srgbClr val="273244"/>
                </a:solidFill>
                <a:latin typeface="+mn-ea"/>
              </a:rPr>
              <a:t>“더 유연하게”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07776" y="3108008"/>
            <a:ext cx="2688336" cy="1420902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/>
              <a:t>인터넷 없이 핵심 기능 독립 동작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/>
              <a:t>가정·방문간호·요양시설로 확장</a:t>
            </a:r>
          </a:p>
          <a:p>
            <a:pPr>
              <a:lnSpc>
                <a:spcPct val="200000"/>
              </a:lnSpc>
              <a:spcAft>
                <a:spcPts val="400"/>
              </a:spcAft>
              <a:defRPr sz="1170">
                <a:solidFill>
                  <a:srgbClr val="1C222D"/>
                </a:solidFill>
                <a:latin typeface="Malgun Gothic"/>
              </a:defRPr>
            </a:pPr>
            <a:r>
              <a:rPr sz="1400"/>
              <a:t>표준 부품 기반 고도화 가능</a:t>
            </a:r>
          </a:p>
        </p:txBody>
      </p:sp>
      <p:sp>
        <p:nvSpPr>
          <p:cNvPr id="69" name="Rounded Rectangle 22"/>
          <p:cNvSpPr/>
          <p:nvPr/>
        </p:nvSpPr>
        <p:spPr>
          <a:xfrm>
            <a:off x="926818" y="5851208"/>
            <a:ext cx="10149840" cy="566928"/>
          </a:xfrm>
          <a:prstGeom prst="roundRect">
            <a:avLst/>
          </a:prstGeom>
          <a:solidFill>
            <a:srgbClr val="FEEEE4"/>
          </a:solidFill>
          <a:ln w="13970">
            <a:solidFill>
              <a:srgbClr val="F7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155418" y="6001802"/>
            <a:ext cx="96926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 err="1">
                <a:solidFill>
                  <a:srgbClr val="F1842B"/>
                </a:solidFill>
                <a:latin typeface="Malgun Gothic"/>
              </a:rPr>
              <a:t>복약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과정은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단순하게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,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보호자의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관리는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명확하게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—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기존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포장을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유지한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복약관리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기반</a:t>
            </a:r>
            <a:endParaRPr sz="1600" b="1" dirty="0">
              <a:solidFill>
                <a:srgbClr val="F1842B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741757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기대 효과 </a:t>
            </a:r>
            <a:r>
              <a:rPr lang="en-US" altLang="ko-KR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시장성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663786" y="1634243"/>
            <a:ext cx="10698480" cy="274434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50" b="1">
                <a:solidFill>
                  <a:srgbClr val="273244"/>
                </a:solidFill>
                <a:latin typeface="+mn-ea"/>
              </a:rPr>
              <a:t>포지셔닝  ·  “약을 재포장하는 장치”가 아니라 “제조사 블리스터를 그대로 활용하는 복약 보조 시스템”</a:t>
            </a:r>
          </a:p>
        </p:txBody>
      </p:sp>
      <p:sp>
        <p:nvSpPr>
          <p:cNvPr id="161" name="Rounded Rectangle 8"/>
          <p:cNvSpPr/>
          <p:nvPr/>
        </p:nvSpPr>
        <p:spPr>
          <a:xfrm>
            <a:off x="755226" y="2246890"/>
            <a:ext cx="3246120" cy="123444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FBFCF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62" name="Rounded Rectangle 9"/>
          <p:cNvSpPr/>
          <p:nvPr/>
        </p:nvSpPr>
        <p:spPr>
          <a:xfrm>
            <a:off x="938106" y="2429771"/>
            <a:ext cx="566928" cy="274320"/>
          </a:xfrm>
          <a:prstGeom prst="roundRect">
            <a:avLst/>
          </a:prstGeom>
          <a:solidFill>
            <a:srgbClr val="EFF4FF"/>
          </a:solidFill>
          <a:ln w="11430">
            <a:solidFill>
              <a:srgbClr val="4A7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963506" y="2486140"/>
            <a:ext cx="5161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4A79E8"/>
                </a:solidFill>
                <a:latin typeface="+mn-ea"/>
              </a:rPr>
              <a:t>B2C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623906" y="2402339"/>
            <a:ext cx="2057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일반 가정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29546" y="2896115"/>
            <a:ext cx="26974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 dirty="0" err="1">
                <a:solidFill>
                  <a:srgbClr val="5F6B7E"/>
                </a:solidFill>
                <a:latin typeface="+mn-ea"/>
              </a:rPr>
              <a:t>독거노인</a:t>
            </a:r>
            <a:r>
              <a:rPr sz="1200" b="0" dirty="0">
                <a:solidFill>
                  <a:srgbClr val="5F6B7E"/>
                </a:solidFill>
                <a:latin typeface="+mn-ea"/>
              </a:rPr>
              <a:t> · </a:t>
            </a:r>
            <a:r>
              <a:rPr sz="1200" b="0" dirty="0" err="1">
                <a:solidFill>
                  <a:srgbClr val="5F6B7E"/>
                </a:solidFill>
                <a:latin typeface="+mn-ea"/>
              </a:rPr>
              <a:t>다제약</a:t>
            </a:r>
            <a:r>
              <a:rPr sz="12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200" b="0" dirty="0" err="1">
                <a:solidFill>
                  <a:srgbClr val="5F6B7E"/>
                </a:solidFill>
                <a:latin typeface="+mn-ea"/>
              </a:rPr>
              <a:t>장기복용자</a:t>
            </a:r>
            <a:r>
              <a:rPr sz="1200" b="0" dirty="0">
                <a:solidFill>
                  <a:srgbClr val="5F6B7E"/>
                </a:solidFill>
                <a:latin typeface="+mn-ea"/>
              </a:rPr>
              <a:t> · </a:t>
            </a:r>
            <a:r>
              <a:rPr sz="1200" b="0" dirty="0" err="1">
                <a:solidFill>
                  <a:srgbClr val="5F6B7E"/>
                </a:solidFill>
                <a:latin typeface="+mn-ea"/>
              </a:rPr>
              <a:t>보호자</a:t>
            </a:r>
            <a:r>
              <a:rPr sz="1200" b="0" dirty="0">
                <a:solidFill>
                  <a:srgbClr val="5F6B7E"/>
                </a:solidFill>
                <a:latin typeface="+mn-ea"/>
              </a:rPr>
              <a:t> </a:t>
            </a:r>
            <a:r>
              <a:rPr sz="1200" b="0" dirty="0" err="1">
                <a:solidFill>
                  <a:srgbClr val="5F6B7E"/>
                </a:solidFill>
                <a:latin typeface="+mn-ea"/>
              </a:rPr>
              <a:t>가구</a:t>
            </a:r>
            <a:endParaRPr sz="1200" b="0" dirty="0">
              <a:solidFill>
                <a:srgbClr val="5F6B7E"/>
              </a:solidFill>
              <a:latin typeface="+mn-ea"/>
            </a:endParaRPr>
          </a:p>
        </p:txBody>
      </p:sp>
      <p:sp>
        <p:nvSpPr>
          <p:cNvPr id="166" name="Rounded Rectangle 13"/>
          <p:cNvSpPr/>
          <p:nvPr/>
        </p:nvSpPr>
        <p:spPr>
          <a:xfrm>
            <a:off x="4485978" y="2246890"/>
            <a:ext cx="3246120" cy="123444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67" name="Rounded Rectangle 14"/>
          <p:cNvSpPr/>
          <p:nvPr/>
        </p:nvSpPr>
        <p:spPr>
          <a:xfrm>
            <a:off x="4668858" y="2429771"/>
            <a:ext cx="566928" cy="274320"/>
          </a:xfrm>
          <a:prstGeom prst="roundRect">
            <a:avLst/>
          </a:prstGeom>
          <a:solidFill>
            <a:srgbClr val="EFF9F5"/>
          </a:solidFill>
          <a:ln w="11430">
            <a:solidFill>
              <a:srgbClr val="19B1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68" name="TextBox 167"/>
          <p:cNvSpPr txBox="1"/>
          <p:nvPr/>
        </p:nvSpPr>
        <p:spPr>
          <a:xfrm>
            <a:off x="4694258" y="2486140"/>
            <a:ext cx="5161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19B189"/>
                </a:solidFill>
                <a:latin typeface="+mn-ea"/>
              </a:rPr>
              <a:t>B2B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354658" y="2402339"/>
            <a:ext cx="2057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돌봄 기관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760298" y="2896115"/>
            <a:ext cx="2697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F6B7E"/>
                </a:solidFill>
                <a:latin typeface="+mn-ea"/>
              </a:rPr>
              <a:t>요양시설 · 실버타운 · 방문간호 서비스</a:t>
            </a:r>
          </a:p>
        </p:txBody>
      </p:sp>
      <p:sp>
        <p:nvSpPr>
          <p:cNvPr id="171" name="Rounded Rectangle 18"/>
          <p:cNvSpPr/>
          <p:nvPr/>
        </p:nvSpPr>
        <p:spPr>
          <a:xfrm>
            <a:off x="8216730" y="2246890"/>
            <a:ext cx="3246120" cy="123444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72" name="Rounded Rectangle 19"/>
          <p:cNvSpPr/>
          <p:nvPr/>
        </p:nvSpPr>
        <p:spPr>
          <a:xfrm>
            <a:off x="8399610" y="2429771"/>
            <a:ext cx="566928" cy="274320"/>
          </a:xfrm>
          <a:prstGeom prst="roundRect">
            <a:avLst/>
          </a:prstGeom>
          <a:solidFill>
            <a:srgbClr val="FFF6EC"/>
          </a:solidFill>
          <a:ln w="11430">
            <a:solidFill>
              <a:srgbClr val="F184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73" name="TextBox 172"/>
          <p:cNvSpPr txBox="1"/>
          <p:nvPr/>
        </p:nvSpPr>
        <p:spPr>
          <a:xfrm>
            <a:off x="8425010" y="2486140"/>
            <a:ext cx="516128" cy="1615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>
                <a:solidFill>
                  <a:srgbClr val="F1842B"/>
                </a:solidFill>
                <a:latin typeface="+mn-ea"/>
              </a:rPr>
              <a:t>B2G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085410" y="2402339"/>
            <a:ext cx="20574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지역사회 돌봄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8491050" y="2896115"/>
            <a:ext cx="2697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F6B7E"/>
                </a:solidFill>
                <a:latin typeface="+mn-ea"/>
              </a:rPr>
              <a:t>보건소 · 지자체 · 커뮤니티 케어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55226" y="3865379"/>
            <a:ext cx="105156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b="1">
                <a:solidFill>
                  <a:srgbClr val="273244"/>
                </a:solidFill>
                <a:latin typeface="+mn-ea"/>
              </a:rPr>
              <a:t>상품화 및 확장 가치</a:t>
            </a:r>
          </a:p>
        </p:txBody>
      </p:sp>
      <p:sp>
        <p:nvSpPr>
          <p:cNvPr id="177" name="Rounded Rectangle 24"/>
          <p:cNvSpPr/>
          <p:nvPr/>
        </p:nvSpPr>
        <p:spPr>
          <a:xfrm>
            <a:off x="618066" y="4304291"/>
            <a:ext cx="2542032" cy="1600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78" name="Oval 25"/>
          <p:cNvSpPr/>
          <p:nvPr/>
        </p:nvSpPr>
        <p:spPr>
          <a:xfrm>
            <a:off x="782658" y="4487171"/>
            <a:ext cx="347472" cy="347472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782658" y="4583963"/>
            <a:ext cx="3474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01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1258146" y="4468883"/>
            <a:ext cx="16459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4A79E8"/>
                </a:solidFill>
                <a:latin typeface="+mn-ea"/>
              </a:rPr>
              <a:t>진입장벽 감소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846666" y="4962659"/>
            <a:ext cx="2057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273244"/>
                </a:solidFill>
                <a:latin typeface="+mn-ea"/>
              </a:rPr>
              <a:t>기존 블리스터 그대로 사용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46666" y="5291843"/>
            <a:ext cx="20574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재포장 절차·사용자 부담 최소화</a:t>
            </a:r>
          </a:p>
        </p:txBody>
      </p:sp>
      <p:sp>
        <p:nvSpPr>
          <p:cNvPr id="183" name="Rounded Rectangle 30"/>
          <p:cNvSpPr/>
          <p:nvPr/>
        </p:nvSpPr>
        <p:spPr>
          <a:xfrm>
            <a:off x="3470994" y="4304291"/>
            <a:ext cx="2542032" cy="1600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84" name="Oval 31"/>
          <p:cNvSpPr/>
          <p:nvPr/>
        </p:nvSpPr>
        <p:spPr>
          <a:xfrm>
            <a:off x="3635586" y="4487171"/>
            <a:ext cx="347472" cy="347472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3635586" y="4583963"/>
            <a:ext cx="3474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111074" y="4468883"/>
            <a:ext cx="16459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19B189"/>
                </a:solidFill>
                <a:latin typeface="+mn-ea"/>
              </a:rPr>
              <a:t>범용 부품 기반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699594" y="4962659"/>
            <a:ext cx="2057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273244"/>
                </a:solidFill>
                <a:latin typeface="+mn-ea"/>
              </a:rPr>
              <a:t>Pi · 서보 · 스테퍼 활용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699594" y="5291843"/>
            <a:ext cx="20574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고도화·양산 설계에 유리</a:t>
            </a:r>
          </a:p>
        </p:txBody>
      </p:sp>
      <p:sp>
        <p:nvSpPr>
          <p:cNvPr id="189" name="Rounded Rectangle 36"/>
          <p:cNvSpPr/>
          <p:nvPr/>
        </p:nvSpPr>
        <p:spPr>
          <a:xfrm>
            <a:off x="6323922" y="4304291"/>
            <a:ext cx="2542032" cy="1600200"/>
          </a:xfrm>
          <a:prstGeom prst="roundRect">
            <a:avLst/>
          </a:prstGeom>
          <a:solidFill>
            <a:srgbClr val="FBFCFE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90" name="Oval 37"/>
          <p:cNvSpPr/>
          <p:nvPr/>
        </p:nvSpPr>
        <p:spPr>
          <a:xfrm>
            <a:off x="6488514" y="4487171"/>
            <a:ext cx="347472" cy="347472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91" name="TextBox 190"/>
          <p:cNvSpPr txBox="1"/>
          <p:nvPr/>
        </p:nvSpPr>
        <p:spPr>
          <a:xfrm>
            <a:off x="6488514" y="4583963"/>
            <a:ext cx="3474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03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964002" y="4468883"/>
            <a:ext cx="16459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F1842B"/>
                </a:solidFill>
                <a:latin typeface="+mn-ea"/>
              </a:rPr>
              <a:t>서비스 연계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552522" y="4962659"/>
            <a:ext cx="2057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273244"/>
                </a:solidFill>
                <a:latin typeface="+mn-ea"/>
              </a:rPr>
              <a:t>보호자 알림 · 복약 이력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552522" y="5291843"/>
            <a:ext cx="20574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기관 관리 서비스 연동</a:t>
            </a:r>
          </a:p>
        </p:txBody>
      </p:sp>
      <p:sp>
        <p:nvSpPr>
          <p:cNvPr id="195" name="Rounded Rectangle 42"/>
          <p:cNvSpPr/>
          <p:nvPr/>
        </p:nvSpPr>
        <p:spPr>
          <a:xfrm>
            <a:off x="9176850" y="4304291"/>
            <a:ext cx="2542032" cy="1600200"/>
          </a:xfrm>
          <a:prstGeom prst="roundRect">
            <a:avLst/>
          </a:prstGeom>
          <a:solidFill>
            <a:srgbClr val="F7F9FC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96" name="Oval 43"/>
          <p:cNvSpPr/>
          <p:nvPr/>
        </p:nvSpPr>
        <p:spPr>
          <a:xfrm>
            <a:off x="9341442" y="4487171"/>
            <a:ext cx="347472" cy="347472"/>
          </a:xfrm>
          <a:prstGeom prst="ellipse">
            <a:avLst/>
          </a:prstGeom>
          <a:solidFill>
            <a:srgbClr val="8C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9341442" y="4583963"/>
            <a:ext cx="347472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+mn-ea"/>
              </a:rPr>
              <a:t>04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9816930" y="4468883"/>
            <a:ext cx="16459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8C5ED7"/>
                </a:solidFill>
                <a:latin typeface="+mn-ea"/>
              </a:rPr>
              <a:t>돌봄 시장 확장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405450" y="4962659"/>
            <a:ext cx="2057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273244"/>
                </a:solidFill>
                <a:latin typeface="+mn-ea"/>
              </a:rPr>
              <a:t>가정용 → 시설·지역사회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405450" y="5291843"/>
            <a:ext cx="2057400" cy="21287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0">
                <a:solidFill>
                  <a:srgbClr val="5F6B7E"/>
                </a:solidFill>
                <a:latin typeface="+mn-ea"/>
              </a:rPr>
              <a:t>동일 플랫폼으로 확대</a:t>
            </a:r>
          </a:p>
        </p:txBody>
      </p:sp>
      <p:sp>
        <p:nvSpPr>
          <p:cNvPr id="201" name="Rounded Rectangle 48"/>
          <p:cNvSpPr/>
          <p:nvPr/>
        </p:nvSpPr>
        <p:spPr>
          <a:xfrm>
            <a:off x="1212426" y="6178811"/>
            <a:ext cx="9601200" cy="384048"/>
          </a:xfrm>
          <a:prstGeom prst="roundRect">
            <a:avLst/>
          </a:prstGeom>
          <a:solidFill>
            <a:srgbClr val="EFF9F5"/>
          </a:solidFill>
          <a:ln w="13970">
            <a:solidFill>
              <a:srgbClr val="C4E7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441026" y="6270251"/>
            <a:ext cx="914400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 dirty="0" err="1">
                <a:solidFill>
                  <a:srgbClr val="19B189"/>
                </a:solidFill>
                <a:latin typeface="+mn-ea"/>
              </a:rPr>
              <a:t>핵심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시장성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 ·  “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기존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포장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유지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”</a:t>
            </a:r>
            <a:r>
              <a:rPr lang="ko-KR" altLang="en-US" sz="1400" b="1" dirty="0">
                <a:solidFill>
                  <a:srgbClr val="19B189"/>
                </a:solidFill>
                <a:latin typeface="+mn-ea"/>
              </a:rPr>
              <a:t>라는 </a:t>
            </a:r>
            <a:r>
              <a:rPr lang="ko-KR" altLang="en-US" sz="1400" b="1" dirty="0" err="1">
                <a:solidFill>
                  <a:srgbClr val="19B189"/>
                </a:solidFill>
                <a:latin typeface="+mn-ea"/>
              </a:rPr>
              <a:t>차별점으로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사용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장벽을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낮추고</a:t>
            </a:r>
            <a:r>
              <a:rPr sz="1400" b="1" dirty="0">
                <a:solidFill>
                  <a:srgbClr val="19B189"/>
                </a:solidFill>
                <a:latin typeface="+mn-ea"/>
              </a:rPr>
              <a:t> B2C → B2B/B2G로 </a:t>
            </a:r>
            <a:r>
              <a:rPr sz="1400" b="1" dirty="0" err="1">
                <a:solidFill>
                  <a:srgbClr val="19B189"/>
                </a:solidFill>
                <a:latin typeface="+mn-ea"/>
              </a:rPr>
              <a:t>확장</a:t>
            </a:r>
            <a:endParaRPr sz="1400" b="1" dirty="0">
              <a:solidFill>
                <a:srgbClr val="19B189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0839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571500" y="1503015"/>
            <a:ext cx="1104900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현재의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2×5 </a:t>
            </a: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MVP는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'</a:t>
            </a: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고정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규격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제품'이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sz="1500" b="0" i="0" u="none" dirty="0" err="1">
                <a:solidFill>
                  <a:srgbClr val="2D3748"/>
                </a:solidFill>
                <a:latin typeface="+mn-ea"/>
              </a:rPr>
              <a:t>아닌</a:t>
            </a:r>
            <a:r>
              <a:rPr sz="1500" b="0" i="0" u="none" dirty="0">
                <a:solidFill>
                  <a:srgbClr val="2D3748"/>
                </a:solidFill>
                <a:latin typeface="+mn-ea"/>
              </a:rPr>
              <a:t> </a:t>
            </a:r>
            <a:r>
              <a:rPr lang="en-US" sz="1500" b="1" i="0" u="none" dirty="0">
                <a:solidFill>
                  <a:schemeClr val="accent2"/>
                </a:solidFill>
                <a:latin typeface="+mn-ea"/>
              </a:rPr>
              <a:t>"</a:t>
            </a:r>
            <a:r>
              <a:rPr lang="ko-KR" altLang="en-US" sz="1500" b="1" i="0" u="none" dirty="0">
                <a:solidFill>
                  <a:schemeClr val="accent2"/>
                </a:solidFill>
                <a:latin typeface="+mn-ea"/>
              </a:rPr>
              <a:t>다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양한</a:t>
            </a:r>
            <a:r>
              <a:rPr sz="15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포장을</a:t>
            </a:r>
            <a:r>
              <a:rPr sz="15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처리하는</a:t>
            </a:r>
            <a:r>
              <a:rPr sz="15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복약관리</a:t>
            </a:r>
            <a:r>
              <a:rPr sz="15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플랫폼의</a:t>
            </a:r>
            <a:r>
              <a:rPr sz="1500" b="1" i="0" u="none" dirty="0">
                <a:solidFill>
                  <a:schemeClr val="accent2"/>
                </a:solidFill>
                <a:latin typeface="+mn-ea"/>
              </a:rPr>
              <a:t> </a:t>
            </a:r>
            <a:r>
              <a:rPr sz="1500" b="1" i="0" u="none" dirty="0" err="1">
                <a:solidFill>
                  <a:schemeClr val="accent2"/>
                </a:solidFill>
                <a:latin typeface="+mn-ea"/>
              </a:rPr>
              <a:t>출발</a:t>
            </a:r>
            <a:r>
              <a:rPr lang="en-US" sz="1500" b="1" i="0" u="none" dirty="0">
                <a:solidFill>
                  <a:schemeClr val="accent2"/>
                </a:solidFill>
                <a:latin typeface="+mn-ea"/>
              </a:rPr>
              <a:t>"</a:t>
            </a:r>
            <a:endParaRPr sz="1500" b="0" i="0" u="none" dirty="0">
              <a:solidFill>
                <a:srgbClr val="2D3748"/>
              </a:solidFill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635556" y="3483607"/>
            <a:ext cx="2000250" cy="1196131"/>
            <a:chOff x="-1704975" y="3364334"/>
            <a:chExt cx="2000250" cy="1196131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-1704975" y="3364334"/>
              <a:ext cx="2000250" cy="1196131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-1608772" y="3442791"/>
              <a:ext cx="1780222" cy="1886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sz="1200" b="1" i="0" u="none" dirty="0">
                  <a:solidFill>
                    <a:schemeClr val="accent2"/>
                  </a:solidFill>
                  <a:latin typeface="+mn-ea"/>
                </a:rPr>
                <a:t>STEP 1. </a:t>
              </a:r>
              <a:r>
                <a:rPr sz="1200" b="1" i="0" u="none" dirty="0" err="1">
                  <a:solidFill>
                    <a:schemeClr val="accent2"/>
                  </a:solidFill>
                  <a:latin typeface="+mn-ea"/>
                </a:rPr>
                <a:t>현재</a:t>
              </a:r>
              <a:r>
                <a:rPr sz="1200" b="1" i="0" u="none" dirty="0">
                  <a:solidFill>
                    <a:schemeClr val="accent2"/>
                  </a:solidFill>
                  <a:latin typeface="+mn-ea"/>
                </a:rPr>
                <a:t> MVP</a:t>
              </a:r>
            </a:p>
          </p:txBody>
        </p:sp>
        <p:sp>
          <p:nvSpPr>
            <p:cNvPr id="42" name="Rectangle 20"/>
            <p:cNvSpPr/>
            <p:nvPr/>
          </p:nvSpPr>
          <p:spPr>
            <a:xfrm>
              <a:off x="-1566385" y="3688506"/>
              <a:ext cx="1695450" cy="952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-1565313" y="3706963"/>
              <a:ext cx="1695450" cy="7694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sz="1050" b="0" i="0" u="none" dirty="0">
                  <a:latin typeface="+mn-ea"/>
                </a:rPr>
                <a:t>2×5 </a:t>
              </a:r>
              <a:r>
                <a:rPr sz="1050" b="0" i="0" u="none" dirty="0" err="1">
                  <a:latin typeface="+mn-ea"/>
                </a:rPr>
                <a:t>고정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블리스터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제어</a:t>
              </a:r>
              <a:r>
                <a:rPr dirty="0">
                  <a:latin typeface="+mn-ea"/>
                </a:rPr>
                <a:t>
</a:t>
              </a:r>
              <a:r>
                <a:rPr sz="1050" b="0" i="0" u="none" dirty="0">
                  <a:latin typeface="+mn-ea"/>
                </a:rPr>
                <a:t> X/Y </a:t>
              </a:r>
              <a:r>
                <a:rPr sz="1050" b="0" i="0" u="none" dirty="0" err="1">
                  <a:latin typeface="+mn-ea"/>
                </a:rPr>
                <a:t>좌표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이동</a:t>
              </a:r>
              <a:r>
                <a:rPr sz="1050" b="0" i="0" u="none" dirty="0">
                  <a:latin typeface="+mn-ea"/>
                </a:rPr>
                <a:t> &amp; </a:t>
              </a:r>
              <a:r>
                <a:rPr sz="1050" b="0" i="0" u="none" dirty="0" err="1">
                  <a:latin typeface="+mn-ea"/>
                </a:rPr>
                <a:t>사용자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승인</a:t>
              </a:r>
              <a:r>
                <a:rPr dirty="0">
                  <a:latin typeface="+mn-ea"/>
                </a:rPr>
                <a:t>
</a:t>
              </a:r>
              <a:r>
                <a:rPr sz="1050" b="0" i="0" u="none" dirty="0">
                  <a:latin typeface="+mn-ea"/>
                </a:rPr>
                <a:t> IR </a:t>
              </a:r>
              <a:r>
                <a:rPr sz="1050" b="0" i="0" u="none" dirty="0" err="1">
                  <a:latin typeface="+mn-ea"/>
                </a:rPr>
                <a:t>센서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정제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감지</a:t>
              </a:r>
              <a:r>
                <a:rPr sz="1050" b="0" i="0" u="none" dirty="0">
                  <a:latin typeface="+mn-ea"/>
                </a:rPr>
                <a:t> </a:t>
              </a:r>
              <a:r>
                <a:rPr sz="1050" b="0" i="0" u="none" dirty="0" err="1">
                  <a:latin typeface="+mn-ea"/>
                </a:rPr>
                <a:t>기록</a:t>
              </a:r>
              <a:endParaRPr sz="1050" b="0" i="0" u="none" dirty="0">
                <a:latin typeface="+mn-ea"/>
              </a:endParaRPr>
            </a:p>
          </p:txBody>
        </p:sp>
      </p:grpSp>
      <p:grpSp>
        <p:nvGrpSpPr>
          <p:cNvPr id="45" name="그룹 44"/>
          <p:cNvGrpSpPr/>
          <p:nvPr/>
        </p:nvGrpSpPr>
        <p:grpSpPr>
          <a:xfrm>
            <a:off x="2865716" y="2274987"/>
            <a:ext cx="2000250" cy="1196131"/>
            <a:chOff x="-1704975" y="3364334"/>
            <a:chExt cx="2000250" cy="1196131"/>
          </a:xfrm>
        </p:grpSpPr>
        <p:sp>
          <p:nvSpPr>
            <p:cNvPr id="46" name="모서리가 둥근 직사각형 45"/>
            <p:cNvSpPr/>
            <p:nvPr/>
          </p:nvSpPr>
          <p:spPr>
            <a:xfrm>
              <a:off x="-1704975" y="3364334"/>
              <a:ext cx="2000250" cy="1196131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-1608772" y="3442791"/>
              <a:ext cx="1780222" cy="1886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altLang="ko-KR" sz="1200" b="1" dirty="0">
                  <a:solidFill>
                    <a:schemeClr val="accent2"/>
                  </a:solidFill>
                  <a:latin typeface="+mn-ea"/>
                </a:rPr>
                <a:t>STEP 2. Adaptive Blister</a:t>
              </a:r>
            </a:p>
          </p:txBody>
        </p:sp>
        <p:sp>
          <p:nvSpPr>
            <p:cNvPr id="54" name="Rectangle 20"/>
            <p:cNvSpPr/>
            <p:nvPr/>
          </p:nvSpPr>
          <p:spPr>
            <a:xfrm>
              <a:off x="-1566385" y="3688506"/>
              <a:ext cx="1695450" cy="952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-1566385" y="3828194"/>
              <a:ext cx="1695450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altLang="ko-KR" sz="1050" dirty="0">
                  <a:latin typeface="+mn-ea"/>
                </a:rPr>
                <a:t>Pi Camera </a:t>
              </a:r>
              <a:r>
                <a:rPr lang="ko-KR" altLang="en-US" sz="1050" dirty="0">
                  <a:latin typeface="+mn-ea"/>
                </a:rPr>
                <a:t>기반 비전 인식
 다양한 규격 자동 인식
 슬롯 좌표 가변 생성 적용</a:t>
              </a:r>
            </a:p>
          </p:txBody>
        </p:sp>
      </p:grpSp>
      <p:grpSp>
        <p:nvGrpSpPr>
          <p:cNvPr id="58" name="그룹 57"/>
          <p:cNvGrpSpPr/>
          <p:nvPr/>
        </p:nvGrpSpPr>
        <p:grpSpPr>
          <a:xfrm>
            <a:off x="5095874" y="3519025"/>
            <a:ext cx="2000250" cy="1196131"/>
            <a:chOff x="-1704975" y="3364334"/>
            <a:chExt cx="2000250" cy="1196131"/>
          </a:xfrm>
        </p:grpSpPr>
        <p:sp>
          <p:nvSpPr>
            <p:cNvPr id="59" name="모서리가 둥근 직사각형 58"/>
            <p:cNvSpPr/>
            <p:nvPr/>
          </p:nvSpPr>
          <p:spPr>
            <a:xfrm>
              <a:off x="-1704975" y="3364334"/>
              <a:ext cx="2000250" cy="1196131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-1608772" y="3442791"/>
              <a:ext cx="1780222" cy="1886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altLang="ko-KR" sz="1200" b="1" dirty="0">
                  <a:solidFill>
                    <a:schemeClr val="accent2"/>
                  </a:solidFill>
                  <a:latin typeface="+mn-ea"/>
                </a:rPr>
                <a:t>STEP 3. Connected Care</a:t>
              </a:r>
            </a:p>
          </p:txBody>
        </p:sp>
        <p:sp>
          <p:nvSpPr>
            <p:cNvPr id="61" name="Rectangle 20"/>
            <p:cNvSpPr/>
            <p:nvPr/>
          </p:nvSpPr>
          <p:spPr>
            <a:xfrm>
              <a:off x="-1566385" y="3688506"/>
              <a:ext cx="1695450" cy="952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-1648955" y="3821028"/>
              <a:ext cx="1860588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ko-KR" altLang="en-US" sz="1050" dirty="0">
                  <a:latin typeface="+mn-ea"/>
                </a:rPr>
                <a:t>보호자 모바일 </a:t>
              </a:r>
              <a:r>
                <a:rPr lang="en-US" altLang="ko-KR" sz="1050" dirty="0">
                  <a:latin typeface="+mn-ea"/>
                </a:rPr>
                <a:t>UI </a:t>
              </a:r>
              <a:r>
                <a:rPr lang="ko-KR" altLang="en-US" sz="1050" dirty="0">
                  <a:latin typeface="+mn-ea"/>
                </a:rPr>
                <a:t>연동
 </a:t>
              </a:r>
              <a:r>
                <a:rPr lang="ko-KR" altLang="en-US" sz="1050" dirty="0" err="1">
                  <a:latin typeface="+mn-ea"/>
                </a:rPr>
                <a:t>미복약</a:t>
              </a:r>
              <a:r>
                <a:rPr lang="en-US" altLang="ko-KR" sz="1050" dirty="0">
                  <a:latin typeface="+mn-ea"/>
                </a:rPr>
                <a:t>·</a:t>
              </a:r>
              <a:r>
                <a:rPr lang="ko-KR" altLang="en-US" sz="1050" dirty="0">
                  <a:latin typeface="+mn-ea"/>
                </a:rPr>
                <a:t>장애 원격 알림
 장기간 복약 이력 </a:t>
              </a:r>
              <a:r>
                <a:rPr lang="ko-KR" altLang="en-US" sz="1050" dirty="0" err="1">
                  <a:latin typeface="+mn-ea"/>
                </a:rPr>
                <a:t>클라우드화</a:t>
              </a:r>
              <a:endParaRPr lang="ko-KR" altLang="en-US" sz="1050" dirty="0">
                <a:latin typeface="+mn-ea"/>
              </a:endParaRPr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7462006" y="2287860"/>
            <a:ext cx="2000250" cy="1196131"/>
            <a:chOff x="-1704975" y="3364334"/>
            <a:chExt cx="2000250" cy="1196131"/>
          </a:xfrm>
        </p:grpSpPr>
        <p:sp>
          <p:nvSpPr>
            <p:cNvPr id="65" name="모서리가 둥근 직사각형 64"/>
            <p:cNvSpPr/>
            <p:nvPr/>
          </p:nvSpPr>
          <p:spPr>
            <a:xfrm>
              <a:off x="-1704975" y="3364334"/>
              <a:ext cx="2000250" cy="1196131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-1608772" y="3442791"/>
              <a:ext cx="1780222" cy="1886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altLang="ko-KR" sz="1200" b="1" dirty="0">
                  <a:solidFill>
                    <a:schemeClr val="accent2"/>
                  </a:solidFill>
                  <a:latin typeface="+mn-ea"/>
                </a:rPr>
                <a:t>STEP 4. </a:t>
              </a:r>
              <a:r>
                <a:rPr lang="en-US" altLang="ko-KR" sz="1200" b="1" dirty="0" err="1">
                  <a:solidFill>
                    <a:schemeClr val="accent2"/>
                  </a:solidFill>
                  <a:latin typeface="+mn-ea"/>
                </a:rPr>
                <a:t>Productization</a:t>
              </a:r>
              <a:endParaRPr lang="en-US" altLang="ko-KR" sz="1200" b="1" dirty="0">
                <a:solidFill>
                  <a:schemeClr val="accent2"/>
                </a:solidFill>
                <a:latin typeface="+mn-ea"/>
              </a:endParaRPr>
            </a:p>
          </p:txBody>
        </p:sp>
        <p:sp>
          <p:nvSpPr>
            <p:cNvPr id="67" name="Rectangle 20"/>
            <p:cNvSpPr/>
            <p:nvPr/>
          </p:nvSpPr>
          <p:spPr>
            <a:xfrm>
              <a:off x="-1566385" y="3688506"/>
              <a:ext cx="1695450" cy="952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-1552575" y="3811807"/>
              <a:ext cx="1695450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en-US" altLang="ko-KR" sz="1050" dirty="0">
                  <a:latin typeface="+mn-ea"/>
                </a:rPr>
                <a:t>Pi + MCU </a:t>
              </a:r>
              <a:r>
                <a:rPr lang="ko-KR" altLang="en-US" sz="1050" dirty="0">
                  <a:latin typeface="+mn-ea"/>
                </a:rPr>
                <a:t>전용 보드 통합
 </a:t>
              </a:r>
              <a:r>
                <a:rPr lang="ko-KR" altLang="en-US" sz="1050" dirty="0" err="1">
                  <a:latin typeface="+mn-ea"/>
                </a:rPr>
                <a:t>블리스터</a:t>
              </a:r>
              <a:r>
                <a:rPr lang="ko-KR" altLang="en-US" sz="1050" dirty="0">
                  <a:latin typeface="+mn-ea"/>
                </a:rPr>
                <a:t> </a:t>
              </a:r>
              <a:r>
                <a:rPr lang="ko-KR" altLang="en-US" sz="1050" dirty="0" err="1">
                  <a:latin typeface="+mn-ea"/>
                </a:rPr>
                <a:t>교체형</a:t>
              </a:r>
              <a:r>
                <a:rPr lang="ko-KR" altLang="en-US" sz="1050" dirty="0">
                  <a:latin typeface="+mn-ea"/>
                </a:rPr>
                <a:t> 범용 </a:t>
              </a:r>
              <a:r>
                <a:rPr lang="ko-KR" altLang="en-US" sz="1050" dirty="0" err="1">
                  <a:latin typeface="+mn-ea"/>
                </a:rPr>
                <a:t>지그</a:t>
              </a:r>
              <a:r>
                <a:rPr lang="ko-KR" altLang="en-US" sz="1050" dirty="0">
                  <a:latin typeface="+mn-ea"/>
                </a:rPr>
                <a:t>
 내구성 및 </a:t>
              </a:r>
              <a:r>
                <a:rPr lang="en-US" altLang="ko-KR" sz="1050" dirty="0">
                  <a:latin typeface="+mn-ea"/>
                </a:rPr>
                <a:t>EMC </a:t>
              </a:r>
              <a:r>
                <a:rPr lang="ko-KR" altLang="en-US" sz="1050" dirty="0">
                  <a:latin typeface="+mn-ea"/>
                </a:rPr>
                <a:t>검증</a:t>
              </a:r>
            </a:p>
          </p:txBody>
        </p:sp>
      </p:grpSp>
      <p:grpSp>
        <p:nvGrpSpPr>
          <p:cNvPr id="69" name="그룹 68"/>
          <p:cNvGrpSpPr/>
          <p:nvPr/>
        </p:nvGrpSpPr>
        <p:grpSpPr>
          <a:xfrm>
            <a:off x="9462256" y="3554760"/>
            <a:ext cx="2000250" cy="1196131"/>
            <a:chOff x="-1704975" y="3364334"/>
            <a:chExt cx="2000250" cy="1196131"/>
          </a:xfrm>
        </p:grpSpPr>
        <p:sp>
          <p:nvSpPr>
            <p:cNvPr id="70" name="모서리가 둥근 직사각형 69"/>
            <p:cNvSpPr/>
            <p:nvPr/>
          </p:nvSpPr>
          <p:spPr>
            <a:xfrm>
              <a:off x="-1704975" y="3364334"/>
              <a:ext cx="2000250" cy="1196131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-1608772" y="3442791"/>
              <a:ext cx="1780222" cy="18864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560"/>
                </a:lnSpc>
              </a:pPr>
              <a:r>
                <a:rPr lang="en-US" altLang="ko-KR" sz="1200" b="1" dirty="0">
                  <a:solidFill>
                    <a:schemeClr val="accent2"/>
                  </a:solidFill>
                  <a:latin typeface="+mn-ea"/>
                </a:rPr>
                <a:t>STEP 5. Care Platform</a:t>
              </a:r>
            </a:p>
          </p:txBody>
        </p:sp>
        <p:sp>
          <p:nvSpPr>
            <p:cNvPr id="84" name="Rectangle 20"/>
            <p:cNvSpPr/>
            <p:nvPr/>
          </p:nvSpPr>
          <p:spPr>
            <a:xfrm>
              <a:off x="-1566385" y="3688506"/>
              <a:ext cx="1695450" cy="9525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n-ea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-1552575" y="3811807"/>
              <a:ext cx="1695450" cy="57708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>
                <a:lnSpc>
                  <a:spcPts val="1470"/>
                </a:lnSpc>
              </a:pPr>
              <a:r>
                <a:rPr lang="ko-KR" altLang="en-US" sz="1050" dirty="0">
                  <a:latin typeface="+mn-ea"/>
                </a:rPr>
                <a:t>복수 사용자</a:t>
              </a:r>
              <a:r>
                <a:rPr lang="en-US" altLang="ko-KR" sz="1050" dirty="0">
                  <a:latin typeface="+mn-ea"/>
                </a:rPr>
                <a:t>/</a:t>
              </a:r>
              <a:r>
                <a:rPr lang="ko-KR" altLang="en-US" sz="1050" dirty="0">
                  <a:latin typeface="+mn-ea"/>
                </a:rPr>
                <a:t>장치 통합 관리
 방문간호 데이터 연동
 </a:t>
              </a:r>
              <a:r>
                <a:rPr lang="ko-KR" altLang="en-US" sz="1050" dirty="0" err="1">
                  <a:latin typeface="+mn-ea"/>
                </a:rPr>
                <a:t>돌봄기관</a:t>
              </a:r>
              <a:r>
                <a:rPr lang="ko-KR" altLang="en-US" sz="1050" dirty="0">
                  <a:latin typeface="+mn-ea"/>
                </a:rPr>
                <a:t> 관제 </a:t>
              </a:r>
              <a:r>
                <a:rPr lang="en-US" altLang="ko-KR" sz="1050" dirty="0">
                  <a:latin typeface="+mn-ea"/>
                </a:rPr>
                <a:t>Dashboard</a:t>
              </a:r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1266825" y="2401075"/>
            <a:ext cx="756000" cy="756000"/>
            <a:chOff x="1266825" y="2401075"/>
            <a:chExt cx="756000" cy="756000"/>
          </a:xfrm>
        </p:grpSpPr>
        <p:sp>
          <p:nvSpPr>
            <p:cNvPr id="89" name="타원 88"/>
            <p:cNvSpPr/>
            <p:nvPr/>
          </p:nvSpPr>
          <p:spPr>
            <a:xfrm>
              <a:off x="1266825" y="2401075"/>
              <a:ext cx="756000" cy="756000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0" name="그룹 9"/>
            <p:cNvGrpSpPr/>
            <p:nvPr/>
          </p:nvGrpSpPr>
          <p:grpSpPr>
            <a:xfrm>
              <a:off x="1504326" y="2641013"/>
              <a:ext cx="280997" cy="279248"/>
              <a:chOff x="1575795" y="1953579"/>
              <a:chExt cx="280997" cy="279248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1628526" y="2004755"/>
                <a:ext cx="180000" cy="180000"/>
              </a:xfrm>
              <a:prstGeom prst="roundRect">
                <a:avLst/>
              </a:prstGeom>
              <a:noFill/>
              <a:ln w="508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" name="그룹 8"/>
              <p:cNvGrpSpPr/>
              <p:nvPr/>
            </p:nvGrpSpPr>
            <p:grpSpPr>
              <a:xfrm>
                <a:off x="1661637" y="1953579"/>
                <a:ext cx="112152" cy="48266"/>
                <a:chOff x="1661637" y="1953579"/>
                <a:chExt cx="112152" cy="48266"/>
              </a:xfrm>
            </p:grpSpPr>
            <p:sp>
              <p:nvSpPr>
                <p:cNvPr id="8" name="모서리가 둥근 직사각형 7"/>
                <p:cNvSpPr/>
                <p:nvPr/>
              </p:nvSpPr>
              <p:spPr>
                <a:xfrm>
                  <a:off x="1661637" y="195600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6" name="모서리가 둥근 직사각형 105"/>
                <p:cNvSpPr/>
                <p:nvPr/>
              </p:nvSpPr>
              <p:spPr>
                <a:xfrm>
                  <a:off x="1708713" y="195357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7" name="모서리가 둥근 직사각형 106"/>
                <p:cNvSpPr/>
                <p:nvPr/>
              </p:nvSpPr>
              <p:spPr>
                <a:xfrm>
                  <a:off x="1755789" y="1956126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08" name="그룹 107"/>
              <p:cNvGrpSpPr/>
              <p:nvPr/>
            </p:nvGrpSpPr>
            <p:grpSpPr>
              <a:xfrm>
                <a:off x="1661636" y="2184561"/>
                <a:ext cx="112152" cy="48266"/>
                <a:chOff x="1661637" y="1953579"/>
                <a:chExt cx="112152" cy="48266"/>
              </a:xfrm>
            </p:grpSpPr>
            <p:sp>
              <p:nvSpPr>
                <p:cNvPr id="109" name="모서리가 둥근 직사각형 108"/>
                <p:cNvSpPr/>
                <p:nvPr/>
              </p:nvSpPr>
              <p:spPr>
                <a:xfrm>
                  <a:off x="1661637" y="195600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0" name="모서리가 둥근 직사각형 109"/>
                <p:cNvSpPr/>
                <p:nvPr/>
              </p:nvSpPr>
              <p:spPr>
                <a:xfrm>
                  <a:off x="1708713" y="195357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모서리가 둥근 직사각형 110"/>
                <p:cNvSpPr/>
                <p:nvPr/>
              </p:nvSpPr>
              <p:spPr>
                <a:xfrm>
                  <a:off x="1755789" y="1956126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2" name="그룹 111"/>
              <p:cNvGrpSpPr/>
              <p:nvPr/>
            </p:nvGrpSpPr>
            <p:grpSpPr>
              <a:xfrm rot="5400000">
                <a:off x="1776583" y="2068811"/>
                <a:ext cx="112152" cy="48266"/>
                <a:chOff x="1661637" y="1953579"/>
                <a:chExt cx="112152" cy="48266"/>
              </a:xfrm>
            </p:grpSpPr>
            <p:sp>
              <p:nvSpPr>
                <p:cNvPr id="113" name="모서리가 둥근 직사각형 112"/>
                <p:cNvSpPr/>
                <p:nvPr/>
              </p:nvSpPr>
              <p:spPr>
                <a:xfrm>
                  <a:off x="1661637" y="195600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4" name="모서리가 둥근 직사각형 113"/>
                <p:cNvSpPr/>
                <p:nvPr/>
              </p:nvSpPr>
              <p:spPr>
                <a:xfrm>
                  <a:off x="1708713" y="195357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5" name="모서리가 둥근 직사각형 114"/>
                <p:cNvSpPr/>
                <p:nvPr/>
              </p:nvSpPr>
              <p:spPr>
                <a:xfrm>
                  <a:off x="1755789" y="1956126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grpSp>
            <p:nvGrpSpPr>
              <p:cNvPr id="116" name="그룹 115"/>
              <p:cNvGrpSpPr/>
              <p:nvPr/>
            </p:nvGrpSpPr>
            <p:grpSpPr>
              <a:xfrm rot="5400000">
                <a:off x="1543852" y="2072660"/>
                <a:ext cx="112152" cy="48266"/>
                <a:chOff x="1661637" y="1953579"/>
                <a:chExt cx="112152" cy="48266"/>
              </a:xfrm>
            </p:grpSpPr>
            <p:sp>
              <p:nvSpPr>
                <p:cNvPr id="117" name="모서리가 둥근 직사각형 116"/>
                <p:cNvSpPr/>
                <p:nvPr/>
              </p:nvSpPr>
              <p:spPr>
                <a:xfrm>
                  <a:off x="1661637" y="195600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8" name="모서리가 둥근 직사각형 117"/>
                <p:cNvSpPr/>
                <p:nvPr/>
              </p:nvSpPr>
              <p:spPr>
                <a:xfrm>
                  <a:off x="1708713" y="1953579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9" name="모서리가 둥근 직사각형 118"/>
                <p:cNvSpPr/>
                <p:nvPr/>
              </p:nvSpPr>
              <p:spPr>
                <a:xfrm>
                  <a:off x="1755789" y="1956126"/>
                  <a:ext cx="18000" cy="45719"/>
                </a:xfrm>
                <a:prstGeom prst="roundRect">
                  <a:avLst/>
                </a:prstGeom>
                <a:solidFill>
                  <a:srgbClr val="FFC0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17" name="그룹 16"/>
          <p:cNvGrpSpPr/>
          <p:nvPr/>
        </p:nvGrpSpPr>
        <p:grpSpPr>
          <a:xfrm>
            <a:off x="3453750" y="4174800"/>
            <a:ext cx="756000" cy="756000"/>
            <a:chOff x="3453750" y="4174800"/>
            <a:chExt cx="756000" cy="756000"/>
          </a:xfrm>
        </p:grpSpPr>
        <p:sp>
          <p:nvSpPr>
            <p:cNvPr id="6" name="타원 5"/>
            <p:cNvSpPr/>
            <p:nvPr/>
          </p:nvSpPr>
          <p:spPr>
            <a:xfrm>
              <a:off x="3453750" y="4174800"/>
              <a:ext cx="756000" cy="756000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6" name="그룹 15"/>
            <p:cNvGrpSpPr/>
            <p:nvPr/>
          </p:nvGrpSpPr>
          <p:grpSpPr>
            <a:xfrm>
              <a:off x="3712687" y="4443738"/>
              <a:ext cx="238125" cy="218123"/>
              <a:chOff x="4494714" y="4469170"/>
              <a:chExt cx="238125" cy="218123"/>
            </a:xfrm>
          </p:grpSpPr>
          <p:sp>
            <p:nvSpPr>
              <p:cNvPr id="13" name="자유형 12"/>
              <p:cNvSpPr/>
              <p:nvPr/>
            </p:nvSpPr>
            <p:spPr>
              <a:xfrm>
                <a:off x="4494714" y="4484887"/>
                <a:ext cx="238125" cy="202406"/>
              </a:xfrm>
              <a:custGeom>
                <a:avLst/>
                <a:gdLst>
                  <a:gd name="connsiteX0" fmla="*/ 0 w 238125"/>
                  <a:gd name="connsiteY0" fmla="*/ 202406 h 202406"/>
                  <a:gd name="connsiteX1" fmla="*/ 238125 w 238125"/>
                  <a:gd name="connsiteY1" fmla="*/ 202406 h 202406"/>
                  <a:gd name="connsiteX2" fmla="*/ 238125 w 238125"/>
                  <a:gd name="connsiteY2" fmla="*/ 0 h 202406"/>
                  <a:gd name="connsiteX3" fmla="*/ 107156 w 238125"/>
                  <a:gd name="connsiteY3" fmla="*/ 0 h 202406"/>
                  <a:gd name="connsiteX4" fmla="*/ 90488 w 238125"/>
                  <a:gd name="connsiteY4" fmla="*/ 28575 h 202406"/>
                  <a:gd name="connsiteX5" fmla="*/ 4763 w 238125"/>
                  <a:gd name="connsiteY5" fmla="*/ 28575 h 202406"/>
                  <a:gd name="connsiteX6" fmla="*/ 0 w 238125"/>
                  <a:gd name="connsiteY6" fmla="*/ 202406 h 202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8125" h="202406">
                    <a:moveTo>
                      <a:pt x="0" y="202406"/>
                    </a:moveTo>
                    <a:lnTo>
                      <a:pt x="238125" y="202406"/>
                    </a:lnTo>
                    <a:lnTo>
                      <a:pt x="238125" y="0"/>
                    </a:lnTo>
                    <a:lnTo>
                      <a:pt x="107156" y="0"/>
                    </a:lnTo>
                    <a:lnTo>
                      <a:pt x="90488" y="28575"/>
                    </a:lnTo>
                    <a:lnTo>
                      <a:pt x="4763" y="28575"/>
                    </a:lnTo>
                    <a:lnTo>
                      <a:pt x="0" y="202406"/>
                    </a:lnTo>
                    <a:close/>
                  </a:path>
                </a:pathLst>
              </a:custGeom>
              <a:noFill/>
              <a:ln w="31750" cap="rnd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/>
              <p:cNvSpPr/>
              <p:nvPr/>
            </p:nvSpPr>
            <p:spPr>
              <a:xfrm>
                <a:off x="4521384" y="4469170"/>
                <a:ext cx="36000" cy="4571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직사각형 119"/>
              <p:cNvSpPr/>
              <p:nvPr/>
            </p:nvSpPr>
            <p:spPr>
              <a:xfrm>
                <a:off x="4504206" y="4573169"/>
                <a:ext cx="228633" cy="103843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타원 14"/>
              <p:cNvSpPr/>
              <p:nvPr/>
            </p:nvSpPr>
            <p:spPr>
              <a:xfrm>
                <a:off x="4563259" y="454554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1" name="그룹 20"/>
          <p:cNvGrpSpPr/>
          <p:nvPr/>
        </p:nvGrpSpPr>
        <p:grpSpPr>
          <a:xfrm>
            <a:off x="5720762" y="2436741"/>
            <a:ext cx="756000" cy="756000"/>
            <a:chOff x="5720762" y="2436741"/>
            <a:chExt cx="756000" cy="756000"/>
          </a:xfrm>
        </p:grpSpPr>
        <p:sp>
          <p:nvSpPr>
            <p:cNvPr id="18" name="직사각형 17"/>
            <p:cNvSpPr/>
            <p:nvPr/>
          </p:nvSpPr>
          <p:spPr>
            <a:xfrm>
              <a:off x="6007895" y="2668859"/>
              <a:ext cx="180000" cy="279823"/>
            </a:xfrm>
            <a:prstGeom prst="rect">
              <a:avLst/>
            </a:prstGeom>
            <a:noFill/>
            <a:ln w="34925" cap="rnd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타원 85"/>
            <p:cNvSpPr/>
            <p:nvPr/>
          </p:nvSpPr>
          <p:spPr>
            <a:xfrm>
              <a:off x="5720762" y="2436741"/>
              <a:ext cx="756000" cy="756000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007895" y="2871995"/>
              <a:ext cx="180000" cy="7668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6079528" y="2900215"/>
              <a:ext cx="36000" cy="3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7980187" y="4022746"/>
            <a:ext cx="756000" cy="756000"/>
            <a:chOff x="7980187" y="4022746"/>
            <a:chExt cx="756000" cy="756000"/>
          </a:xfrm>
        </p:grpSpPr>
        <p:sp>
          <p:nvSpPr>
            <p:cNvPr id="87" name="타원 86"/>
            <p:cNvSpPr/>
            <p:nvPr/>
          </p:nvSpPr>
          <p:spPr>
            <a:xfrm>
              <a:off x="7980187" y="4022746"/>
              <a:ext cx="756000" cy="756000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8233426" y="4357545"/>
              <a:ext cx="270049" cy="131912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직사각형 120"/>
            <p:cNvSpPr/>
            <p:nvPr/>
          </p:nvSpPr>
          <p:spPr>
            <a:xfrm>
              <a:off x="8233427" y="4266988"/>
              <a:ext cx="45719" cy="180000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자유형 23"/>
            <p:cNvSpPr/>
            <p:nvPr/>
          </p:nvSpPr>
          <p:spPr>
            <a:xfrm>
              <a:off x="8233427" y="4276100"/>
              <a:ext cx="170004" cy="116649"/>
            </a:xfrm>
            <a:custGeom>
              <a:avLst/>
              <a:gdLst>
                <a:gd name="connsiteX0" fmla="*/ 219075 w 219075"/>
                <a:gd name="connsiteY0" fmla="*/ 0 h 101600"/>
                <a:gd name="connsiteX1" fmla="*/ 219075 w 219075"/>
                <a:gd name="connsiteY1" fmla="*/ 101600 h 101600"/>
                <a:gd name="connsiteX2" fmla="*/ 0 w 219075"/>
                <a:gd name="connsiteY2" fmla="*/ 101600 h 101600"/>
                <a:gd name="connsiteX3" fmla="*/ 219075 w 219075"/>
                <a:gd name="connsiteY3" fmla="*/ 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 h="101600">
                  <a:moveTo>
                    <a:pt x="219075" y="0"/>
                  </a:moveTo>
                  <a:lnTo>
                    <a:pt x="219075" y="101600"/>
                  </a:lnTo>
                  <a:lnTo>
                    <a:pt x="0" y="10160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자유형 121"/>
            <p:cNvSpPr/>
            <p:nvPr/>
          </p:nvSpPr>
          <p:spPr>
            <a:xfrm>
              <a:off x="8355363" y="4287006"/>
              <a:ext cx="155255" cy="101600"/>
            </a:xfrm>
            <a:custGeom>
              <a:avLst/>
              <a:gdLst>
                <a:gd name="connsiteX0" fmla="*/ 219075 w 219075"/>
                <a:gd name="connsiteY0" fmla="*/ 0 h 101600"/>
                <a:gd name="connsiteX1" fmla="*/ 219075 w 219075"/>
                <a:gd name="connsiteY1" fmla="*/ 101600 h 101600"/>
                <a:gd name="connsiteX2" fmla="*/ 0 w 219075"/>
                <a:gd name="connsiteY2" fmla="*/ 101600 h 101600"/>
                <a:gd name="connsiteX3" fmla="*/ 219075 w 219075"/>
                <a:gd name="connsiteY3" fmla="*/ 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9075" h="101600">
                  <a:moveTo>
                    <a:pt x="219075" y="0"/>
                  </a:moveTo>
                  <a:lnTo>
                    <a:pt x="219075" y="101600"/>
                  </a:lnTo>
                  <a:lnTo>
                    <a:pt x="0" y="10160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8" name="그룹 37"/>
          <p:cNvGrpSpPr/>
          <p:nvPr/>
        </p:nvGrpSpPr>
        <p:grpSpPr>
          <a:xfrm>
            <a:off x="10095618" y="2447764"/>
            <a:ext cx="756000" cy="756000"/>
            <a:chOff x="10242375" y="2447764"/>
            <a:chExt cx="756000" cy="756000"/>
          </a:xfrm>
        </p:grpSpPr>
        <p:sp>
          <p:nvSpPr>
            <p:cNvPr id="88" name="타원 87"/>
            <p:cNvSpPr/>
            <p:nvPr/>
          </p:nvSpPr>
          <p:spPr>
            <a:xfrm>
              <a:off x="10242375" y="2447764"/>
              <a:ext cx="756000" cy="756000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7" name="그룹 36"/>
            <p:cNvGrpSpPr/>
            <p:nvPr/>
          </p:nvGrpSpPr>
          <p:grpSpPr>
            <a:xfrm>
              <a:off x="10379075" y="2679371"/>
              <a:ext cx="482600" cy="292785"/>
              <a:chOff x="9683750" y="2713133"/>
              <a:chExt cx="482600" cy="292785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9852025" y="2713133"/>
                <a:ext cx="149225" cy="8605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/>
              <p:cNvSpPr/>
              <p:nvPr/>
            </p:nvSpPr>
            <p:spPr>
              <a:xfrm>
                <a:off x="9709731" y="2917078"/>
                <a:ext cx="149225" cy="8605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/>
              <p:cNvSpPr/>
              <p:nvPr/>
            </p:nvSpPr>
            <p:spPr>
              <a:xfrm>
                <a:off x="9988550" y="2919863"/>
                <a:ext cx="149225" cy="86055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8" name="직선 연결선 27"/>
              <p:cNvCxnSpPr/>
              <p:nvPr/>
            </p:nvCxnSpPr>
            <p:spPr>
              <a:xfrm>
                <a:off x="9683750" y="2858680"/>
                <a:ext cx="482600" cy="0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직선 연결선 30"/>
              <p:cNvCxnSpPr>
                <a:stCxn id="26" idx="2"/>
              </p:cNvCxnSpPr>
              <p:nvPr/>
            </p:nvCxnSpPr>
            <p:spPr>
              <a:xfrm>
                <a:off x="9926638" y="2799188"/>
                <a:ext cx="0" cy="56387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직선 연결선 124"/>
              <p:cNvCxnSpPr/>
              <p:nvPr/>
            </p:nvCxnSpPr>
            <p:spPr>
              <a:xfrm>
                <a:off x="10063162" y="2866660"/>
                <a:ext cx="0" cy="56387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직선 연결선 125"/>
              <p:cNvCxnSpPr>
                <a:endCxn id="123" idx="0"/>
              </p:cNvCxnSpPr>
              <p:nvPr/>
            </p:nvCxnSpPr>
            <p:spPr>
              <a:xfrm>
                <a:off x="9784343" y="2855575"/>
                <a:ext cx="1" cy="61503"/>
              </a:xfrm>
              <a:prstGeom prst="line">
                <a:avLst/>
              </a:prstGeom>
              <a:ln w="254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8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발전 가능성</a:t>
            </a:r>
          </a:p>
        </p:txBody>
      </p:sp>
      <p:sp>
        <p:nvSpPr>
          <p:cNvPr id="81" name="Rounded Rectangle 42"/>
          <p:cNvSpPr/>
          <p:nvPr/>
        </p:nvSpPr>
        <p:spPr>
          <a:xfrm>
            <a:off x="1005840" y="5742432"/>
            <a:ext cx="10149840" cy="429768"/>
          </a:xfrm>
          <a:prstGeom prst="roundRect">
            <a:avLst/>
          </a:prstGeom>
          <a:solidFill>
            <a:srgbClr val="FEEEE4"/>
          </a:solidFill>
          <a:ln w="13970">
            <a:solidFill>
              <a:srgbClr val="F7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234440" y="5843016"/>
            <a:ext cx="96926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>
                <a:solidFill>
                  <a:srgbClr val="F1842B"/>
                </a:solidFill>
                <a:latin typeface="Malgun Gothic"/>
              </a:rPr>
              <a:t>“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블리스터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자체를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장치화”하는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문제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정의를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기반으로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기기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→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연결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서비스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→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돌봄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플랫폼으로</a:t>
            </a:r>
            <a:r>
              <a:rPr sz="1600" b="1" dirty="0">
                <a:solidFill>
                  <a:srgbClr val="F1842B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F1842B"/>
                </a:solidFill>
                <a:latin typeface="Malgun Gothic"/>
              </a:rPr>
              <a:t>확장</a:t>
            </a:r>
            <a:endParaRPr sz="1600" b="1" dirty="0">
              <a:solidFill>
                <a:srgbClr val="F1842B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86020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개발 일정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14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837082"/>
              </p:ext>
            </p:extLst>
          </p:nvPr>
        </p:nvGraphicFramePr>
        <p:xfrm>
          <a:off x="685800" y="1625598"/>
          <a:ext cx="10808208" cy="41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052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sz="1100" b="1" dirty="0">
                        <a:solidFill>
                          <a:srgbClr val="FFFFFF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7월 1주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7월 2주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7월 3주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7월 4주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8월 1주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8월 2주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8월 3주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100" b="1">
                          <a:solidFill>
                            <a:srgbClr val="FFFFFF"/>
                          </a:solidFill>
                          <a:latin typeface="+mn-ea"/>
                          <a:ea typeface="+mn-ea"/>
                        </a:rPr>
                        <a:t>8월 4주</a:t>
                      </a:r>
                    </a:p>
                  </a:txBody>
                  <a:tcPr anchor="ctr">
                    <a:solidFill>
                      <a:srgbClr val="F18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37">
                <a:tc>
                  <a:txBody>
                    <a:bodyPr/>
                    <a:lstStyle/>
                    <a:p>
                      <a:pPr lvl="0" algn="ctr"/>
                      <a:r>
                        <a:rPr sz="1100" b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요구사항·부품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/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구성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확정</a:t>
                      </a:r>
                      <a:endParaRPr sz="1400" b="1" dirty="0">
                        <a:solidFill>
                          <a:srgbClr val="27324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rgbClr val="4A79E8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기구부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설계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모터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/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센서</a:t>
                      </a:r>
                      <a:endParaRPr sz="1400" b="1" dirty="0">
                        <a:solidFill>
                          <a:srgbClr val="27324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rgbClr val="4A79E8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rgbClr val="4A79E8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AT Firmware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>
                          <a:solidFill>
                            <a:srgbClr val="4A79E8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Raspberry Pi Web · DB ·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음성</a:t>
                      </a:r>
                      <a:endParaRPr sz="1400" b="1" dirty="0">
                        <a:solidFill>
                          <a:srgbClr val="27324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rgbClr val="4A79E8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UART 연동 · 통합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반복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시험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오류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개선</a:t>
                      </a:r>
                      <a:endParaRPr sz="1400" b="1" dirty="0">
                        <a:solidFill>
                          <a:srgbClr val="27324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1485">
                <a:tc>
                  <a:txBody>
                    <a:bodyPr/>
                    <a:lstStyle/>
                    <a:p>
                      <a:pPr lvl="0" algn="ctr"/>
                      <a:r>
                        <a:rPr sz="1100" b="0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최종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시연</a:t>
                      </a:r>
                      <a:r>
                        <a:rPr sz="1400" b="1" dirty="0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 · </a:t>
                      </a:r>
                      <a:r>
                        <a:rPr sz="1400" b="1" dirty="0" err="1">
                          <a:solidFill>
                            <a:srgbClr val="273244"/>
                          </a:solidFill>
                          <a:latin typeface="+mn-ea"/>
                          <a:ea typeface="+mn-ea"/>
                        </a:rPr>
                        <a:t>보고서</a:t>
                      </a:r>
                      <a:endParaRPr sz="1400" b="1" dirty="0">
                        <a:solidFill>
                          <a:srgbClr val="273244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endParaRPr sz="2800" dirty="0">
                        <a:latin typeface="+mn-ea"/>
                        <a:ea typeface="+mn-ea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/>
                      <a:r>
                        <a:rPr sz="1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●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Rounded Rectangle 10"/>
          <p:cNvSpPr/>
          <p:nvPr/>
        </p:nvSpPr>
        <p:spPr>
          <a:xfrm>
            <a:off x="1554480" y="5956923"/>
            <a:ext cx="3749039" cy="411480"/>
          </a:xfrm>
          <a:prstGeom prst="roundRect">
            <a:avLst/>
          </a:prstGeom>
          <a:solidFill>
            <a:srgbClr val="EFF4FF"/>
          </a:solidFill>
          <a:ln w="13970">
            <a:solidFill>
              <a:srgbClr val="C8D8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83080" y="6012351"/>
            <a:ext cx="32918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>
                <a:solidFill>
                  <a:srgbClr val="2F5CBE"/>
                </a:solidFill>
                <a:latin typeface="+mn-ea"/>
              </a:rPr>
              <a:t>7월  ·  HW/SW </a:t>
            </a:r>
            <a:r>
              <a:rPr sz="1600" b="1" dirty="0" err="1">
                <a:solidFill>
                  <a:srgbClr val="2F5CBE"/>
                </a:solidFill>
                <a:latin typeface="+mn-ea"/>
              </a:rPr>
              <a:t>개별</a:t>
            </a:r>
            <a:r>
              <a:rPr sz="160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F5CBE"/>
                </a:solidFill>
                <a:latin typeface="+mn-ea"/>
              </a:rPr>
              <a:t>기능</a:t>
            </a:r>
            <a:r>
              <a:rPr sz="1600" b="1" dirty="0">
                <a:solidFill>
                  <a:srgbClr val="2F5CBE"/>
                </a:solidFill>
                <a:latin typeface="+mn-ea"/>
              </a:rPr>
              <a:t> </a:t>
            </a:r>
            <a:r>
              <a:rPr sz="1600" b="1" dirty="0" err="1">
                <a:solidFill>
                  <a:srgbClr val="2F5CBE"/>
                </a:solidFill>
                <a:latin typeface="+mn-ea"/>
              </a:rPr>
              <a:t>구현</a:t>
            </a:r>
            <a:endParaRPr sz="1600" b="1" dirty="0">
              <a:solidFill>
                <a:srgbClr val="2F5CBE"/>
              </a:solidFill>
              <a:latin typeface="+mn-ea"/>
            </a:endParaRPr>
          </a:p>
        </p:txBody>
      </p:sp>
      <p:sp>
        <p:nvSpPr>
          <p:cNvPr id="17" name="Rounded Rectangle 12"/>
          <p:cNvSpPr/>
          <p:nvPr/>
        </p:nvSpPr>
        <p:spPr>
          <a:xfrm>
            <a:off x="6858000" y="5956923"/>
            <a:ext cx="3749039" cy="41148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397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75842" y="6023109"/>
            <a:ext cx="329184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600" b="1" dirty="0">
                <a:latin typeface="+mn-ea"/>
              </a:rPr>
              <a:t>8월  ·  UART </a:t>
            </a:r>
            <a:r>
              <a:rPr sz="1600" b="1" dirty="0" err="1">
                <a:latin typeface="+mn-ea"/>
              </a:rPr>
              <a:t>통합</a:t>
            </a:r>
            <a:r>
              <a:rPr sz="1600" b="1" dirty="0">
                <a:latin typeface="+mn-ea"/>
              </a:rPr>
              <a:t> · </a:t>
            </a:r>
            <a:r>
              <a:rPr sz="1600" b="1" dirty="0" err="1">
                <a:latin typeface="+mn-ea"/>
              </a:rPr>
              <a:t>시험</a:t>
            </a:r>
            <a:r>
              <a:rPr sz="1600" b="1" dirty="0">
                <a:latin typeface="+mn-ea"/>
              </a:rPr>
              <a:t> · </a:t>
            </a:r>
            <a:r>
              <a:rPr sz="1600" b="1" dirty="0" err="1">
                <a:latin typeface="+mn-ea"/>
              </a:rPr>
              <a:t>보고서</a:t>
            </a:r>
            <a:endParaRPr sz="16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93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업무 분장 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838200" y="1337310"/>
            <a:ext cx="10397490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Rounded Rectangle 7"/>
          <p:cNvSpPr/>
          <p:nvPr/>
        </p:nvSpPr>
        <p:spPr>
          <a:xfrm>
            <a:off x="618066" y="1621650"/>
            <a:ext cx="3429000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8" name="Rounded Rectangle 8"/>
          <p:cNvSpPr/>
          <p:nvPr/>
        </p:nvSpPr>
        <p:spPr>
          <a:xfrm>
            <a:off x="627210" y="1630794"/>
            <a:ext cx="3410712" cy="54864"/>
          </a:xfrm>
          <a:prstGeom prst="roundRect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9" name="Oval 9"/>
          <p:cNvSpPr/>
          <p:nvPr/>
        </p:nvSpPr>
        <p:spPr>
          <a:xfrm>
            <a:off x="846666" y="1923402"/>
            <a:ext cx="438912" cy="438912"/>
          </a:xfrm>
          <a:prstGeom prst="ellipse">
            <a:avLst/>
          </a:prstGeom>
          <a:solidFill>
            <a:srgbClr val="4A7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6666" y="2019748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9314" y="1895970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1">
                <a:solidFill>
                  <a:srgbClr val="273244"/>
                </a:solidFill>
                <a:latin typeface="+mn-ea"/>
              </a:rPr>
              <a:t>이양배</a:t>
            </a:r>
          </a:p>
        </p:txBody>
      </p:sp>
      <p:sp>
        <p:nvSpPr>
          <p:cNvPr id="12" name="Rounded Rectangle 12"/>
          <p:cNvSpPr/>
          <p:nvPr/>
        </p:nvSpPr>
        <p:spPr>
          <a:xfrm>
            <a:off x="1166706" y="2444610"/>
            <a:ext cx="2331720" cy="310896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92106" y="2507725"/>
            <a:ext cx="2280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dirty="0" err="1">
                <a:solidFill>
                  <a:srgbClr val="4A79E8"/>
                </a:solidFill>
                <a:latin typeface="+mn-ea"/>
              </a:rPr>
              <a:t>팀장</a:t>
            </a:r>
            <a:r>
              <a:rPr sz="1200" b="1" dirty="0">
                <a:solidFill>
                  <a:srgbClr val="4A79E8"/>
                </a:solidFill>
                <a:latin typeface="+mn-ea"/>
              </a:rPr>
              <a:t> · </a:t>
            </a:r>
            <a:r>
              <a:rPr sz="1200" b="1" dirty="0" err="1">
                <a:solidFill>
                  <a:srgbClr val="4A79E8"/>
                </a:solidFill>
                <a:latin typeface="+mn-ea"/>
              </a:rPr>
              <a:t>시스템</a:t>
            </a:r>
            <a:r>
              <a:rPr sz="1200" b="1" dirty="0">
                <a:solidFill>
                  <a:srgbClr val="4A79E8"/>
                </a:solidFill>
                <a:latin typeface="+mn-ea"/>
              </a:rPr>
              <a:t> </a:t>
            </a:r>
            <a:r>
              <a:rPr sz="1200" b="1" dirty="0" err="1">
                <a:solidFill>
                  <a:srgbClr val="4A79E8"/>
                </a:solidFill>
                <a:latin typeface="+mn-ea"/>
              </a:rPr>
              <a:t>통합</a:t>
            </a:r>
            <a:endParaRPr sz="1200" b="1" dirty="0">
              <a:solidFill>
                <a:srgbClr val="4A79E8"/>
              </a:solidFill>
              <a:latin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8324" y="3063174"/>
            <a:ext cx="2827608" cy="143372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시스템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아키텍처</a:t>
            </a:r>
            <a:r>
              <a:rPr sz="1400" dirty="0">
                <a:latin typeface="+mn-ea"/>
              </a:rPr>
              <a:t> 및 </a:t>
            </a:r>
            <a:r>
              <a:rPr sz="1400" dirty="0" err="1">
                <a:latin typeface="+mn-ea"/>
              </a:rPr>
              <a:t>전체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개발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총괄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Raspberry Pi </a:t>
            </a:r>
            <a:r>
              <a:rPr sz="1400" dirty="0" err="1">
                <a:latin typeface="+mn-ea"/>
              </a:rPr>
              <a:t>Flask·SQLite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LCD UI/UX · </a:t>
            </a:r>
            <a:r>
              <a:rPr sz="1400" dirty="0" err="1">
                <a:latin typeface="+mn-ea"/>
              </a:rPr>
              <a:t>음성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안내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전원부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구성</a:t>
            </a:r>
            <a:r>
              <a:rPr sz="1400" dirty="0">
                <a:latin typeface="+mn-ea"/>
              </a:rPr>
              <a:t> · </a:t>
            </a:r>
            <a:r>
              <a:rPr sz="1400" dirty="0" err="1">
                <a:latin typeface="+mn-ea"/>
              </a:rPr>
              <a:t>통합</a:t>
            </a:r>
            <a:r>
              <a:rPr sz="1400" dirty="0">
                <a:latin typeface="+mn-ea"/>
              </a:rPr>
              <a:t> · </a:t>
            </a:r>
            <a:r>
              <a:rPr sz="1400" dirty="0" err="1">
                <a:latin typeface="+mn-ea"/>
              </a:rPr>
              <a:t>문서</a:t>
            </a:r>
            <a:endParaRPr sz="1400" dirty="0">
              <a:latin typeface="+mn-ea"/>
            </a:endParaRPr>
          </a:p>
        </p:txBody>
      </p:sp>
      <p:sp>
        <p:nvSpPr>
          <p:cNvPr id="15" name="Rounded Rectangle 15"/>
          <p:cNvSpPr/>
          <p:nvPr/>
        </p:nvSpPr>
        <p:spPr>
          <a:xfrm>
            <a:off x="4412826" y="1621650"/>
            <a:ext cx="3429000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8" name="Rounded Rectangle 16"/>
          <p:cNvSpPr/>
          <p:nvPr/>
        </p:nvSpPr>
        <p:spPr>
          <a:xfrm>
            <a:off x="4421970" y="1630794"/>
            <a:ext cx="3410712" cy="54864"/>
          </a:xfrm>
          <a:prstGeom prst="roundRect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19" name="Oval 17"/>
          <p:cNvSpPr/>
          <p:nvPr/>
        </p:nvSpPr>
        <p:spPr>
          <a:xfrm>
            <a:off x="4641426" y="1923402"/>
            <a:ext cx="438912" cy="438912"/>
          </a:xfrm>
          <a:prstGeom prst="ellipse">
            <a:avLst/>
          </a:prstGeom>
          <a:solidFill>
            <a:srgbClr val="19B1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41426" y="2019748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4074" y="1895970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1">
                <a:solidFill>
                  <a:srgbClr val="273244"/>
                </a:solidFill>
                <a:latin typeface="+mn-ea"/>
              </a:rPr>
              <a:t>신유지</a:t>
            </a:r>
          </a:p>
        </p:txBody>
      </p:sp>
      <p:sp>
        <p:nvSpPr>
          <p:cNvPr id="22" name="Rounded Rectangle 20"/>
          <p:cNvSpPr/>
          <p:nvPr/>
        </p:nvSpPr>
        <p:spPr>
          <a:xfrm>
            <a:off x="4961466" y="2444610"/>
            <a:ext cx="2331720" cy="310896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86866" y="2507725"/>
            <a:ext cx="2280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9B189"/>
                </a:solidFill>
                <a:latin typeface="+mn-ea"/>
              </a:rPr>
              <a:t>UART 프로토콜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6874" y="3084690"/>
            <a:ext cx="2697480" cy="143372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UART </a:t>
            </a:r>
            <a:r>
              <a:rPr sz="1400" dirty="0" err="1">
                <a:latin typeface="+mn-ea"/>
              </a:rPr>
              <a:t>프레임·파싱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ACK / WAIT / RESULT </a:t>
            </a:r>
            <a:r>
              <a:rPr sz="1400" dirty="0" err="1">
                <a:latin typeface="+mn-ea"/>
              </a:rPr>
              <a:t>처리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재전송</a:t>
            </a:r>
            <a:r>
              <a:rPr sz="1400" dirty="0">
                <a:latin typeface="+mn-ea"/>
              </a:rPr>
              <a:t> 및 </a:t>
            </a:r>
            <a:r>
              <a:rPr sz="1400" dirty="0" err="1">
                <a:latin typeface="+mn-ea"/>
              </a:rPr>
              <a:t>오류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처리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ATmega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통합시험</a:t>
            </a:r>
            <a:endParaRPr sz="1400" dirty="0">
              <a:latin typeface="+mn-ea"/>
            </a:endParaRPr>
          </a:p>
        </p:txBody>
      </p:sp>
      <p:sp>
        <p:nvSpPr>
          <p:cNvPr id="25" name="Rounded Rectangle 23"/>
          <p:cNvSpPr/>
          <p:nvPr/>
        </p:nvSpPr>
        <p:spPr>
          <a:xfrm>
            <a:off x="8207586" y="1621650"/>
            <a:ext cx="3429000" cy="397763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AE0E9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6" name="Rounded Rectangle 24"/>
          <p:cNvSpPr/>
          <p:nvPr/>
        </p:nvSpPr>
        <p:spPr>
          <a:xfrm>
            <a:off x="8216730" y="1630794"/>
            <a:ext cx="3410712" cy="54864"/>
          </a:xfrm>
          <a:prstGeom prst="roundRect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7" name="Oval 25"/>
          <p:cNvSpPr/>
          <p:nvPr/>
        </p:nvSpPr>
        <p:spPr>
          <a:xfrm>
            <a:off x="8436186" y="1923402"/>
            <a:ext cx="438912" cy="438912"/>
          </a:xfrm>
          <a:prstGeom prst="ellipse">
            <a:avLst/>
          </a:prstGeom>
          <a:solidFill>
            <a:srgbClr val="F18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436186" y="2019748"/>
            <a:ext cx="43891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+mn-e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48834" y="1895970"/>
            <a:ext cx="2011680" cy="42062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2400" b="1">
                <a:solidFill>
                  <a:srgbClr val="273244"/>
                </a:solidFill>
                <a:latin typeface="+mn-ea"/>
              </a:rPr>
              <a:t>이호윤</a:t>
            </a:r>
          </a:p>
        </p:txBody>
      </p:sp>
      <p:sp>
        <p:nvSpPr>
          <p:cNvPr id="30" name="Rounded Rectangle 28"/>
          <p:cNvSpPr/>
          <p:nvPr/>
        </p:nvSpPr>
        <p:spPr>
          <a:xfrm>
            <a:off x="8756226" y="2444610"/>
            <a:ext cx="2331720" cy="310896"/>
          </a:xfrm>
          <a:prstGeom prst="roundRect">
            <a:avLst/>
          </a:prstGeom>
          <a:solidFill>
            <a:srgbClr val="FAFBFD"/>
          </a:solidFill>
          <a:ln w="1143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81626" y="2507725"/>
            <a:ext cx="228092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F1842B"/>
                </a:solidFill>
                <a:latin typeface="+mn-ea"/>
              </a:rPr>
              <a:t>구동부 제어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1634" y="2987870"/>
            <a:ext cx="2697480" cy="1433726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X/Y </a:t>
            </a:r>
            <a:r>
              <a:rPr sz="1400" dirty="0" err="1">
                <a:latin typeface="+mn-ea"/>
              </a:rPr>
              <a:t>스테핑모터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서보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압출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제어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 err="1">
                <a:latin typeface="+mn-ea"/>
              </a:rPr>
              <a:t>원점·위치</a:t>
            </a:r>
            <a:r>
              <a:rPr sz="1400" dirty="0">
                <a:latin typeface="+mn-ea"/>
              </a:rPr>
              <a:t> </a:t>
            </a:r>
            <a:r>
              <a:rPr sz="1400" dirty="0" err="1">
                <a:latin typeface="+mn-ea"/>
              </a:rPr>
              <a:t>제어</a:t>
            </a:r>
            <a:endParaRPr sz="1400" dirty="0">
              <a:latin typeface="+mn-ea"/>
            </a:endParaRPr>
          </a:p>
          <a:p>
            <a:pPr>
              <a:lnSpc>
                <a:spcPct val="150000"/>
              </a:lnSpc>
              <a:spcAft>
                <a:spcPts val="300"/>
              </a:spcAft>
              <a:defRPr sz="1120">
                <a:solidFill>
                  <a:srgbClr val="1C222D"/>
                </a:solidFill>
                <a:latin typeface="Malgun Gothic"/>
              </a:defRPr>
            </a:pPr>
            <a:r>
              <a:rPr sz="1400" dirty="0">
                <a:latin typeface="+mn-ea"/>
              </a:rPr>
              <a:t>IR </a:t>
            </a:r>
            <a:r>
              <a:rPr sz="1400" dirty="0" err="1">
                <a:latin typeface="+mn-ea"/>
              </a:rPr>
              <a:t>배출센서</a:t>
            </a:r>
            <a:r>
              <a:rPr sz="1400" dirty="0">
                <a:latin typeface="+mn-ea"/>
              </a:rPr>
              <a:t> · </a:t>
            </a:r>
            <a:r>
              <a:rPr sz="1400" dirty="0" err="1">
                <a:latin typeface="+mn-ea"/>
              </a:rPr>
              <a:t>반복시험</a:t>
            </a:r>
            <a:endParaRPr sz="1400" dirty="0">
              <a:latin typeface="+mn-ea"/>
            </a:endParaRPr>
          </a:p>
        </p:txBody>
      </p:sp>
      <p:sp>
        <p:nvSpPr>
          <p:cNvPr id="34" name="Rounded Rectangle 31"/>
          <p:cNvSpPr/>
          <p:nvPr/>
        </p:nvSpPr>
        <p:spPr>
          <a:xfrm>
            <a:off x="1166706" y="5892438"/>
            <a:ext cx="9692640" cy="457200"/>
          </a:xfrm>
          <a:prstGeom prst="roundRect">
            <a:avLst/>
          </a:prstGeom>
          <a:solidFill>
            <a:srgbClr val="FEEEE4"/>
          </a:solidFill>
          <a:ln w="13970">
            <a:solidFill>
              <a:srgbClr val="F7D5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41026" y="5980650"/>
            <a:ext cx="9144000" cy="32829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b="1" dirty="0" err="1">
                <a:solidFill>
                  <a:srgbClr val="F1842B"/>
                </a:solidFill>
                <a:latin typeface="+mn-ea"/>
              </a:rPr>
              <a:t>공통</a:t>
            </a:r>
            <a:r>
              <a:rPr b="1" dirty="0">
                <a:solidFill>
                  <a:srgbClr val="F1842B"/>
                </a:solidFill>
                <a:latin typeface="+mn-ea"/>
              </a:rPr>
              <a:t>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업무</a:t>
            </a:r>
            <a:r>
              <a:rPr b="1" dirty="0">
                <a:solidFill>
                  <a:srgbClr val="F1842B"/>
                </a:solidFill>
                <a:latin typeface="+mn-ea"/>
              </a:rPr>
              <a:t>  · 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통합시험</a:t>
            </a:r>
            <a:r>
              <a:rPr b="1" dirty="0">
                <a:solidFill>
                  <a:srgbClr val="F1842B"/>
                </a:solidFill>
                <a:latin typeface="+mn-ea"/>
              </a:rPr>
              <a:t>  · 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오류</a:t>
            </a:r>
            <a:r>
              <a:rPr b="1" dirty="0">
                <a:solidFill>
                  <a:srgbClr val="F1842B"/>
                </a:solidFill>
                <a:latin typeface="+mn-ea"/>
              </a:rPr>
              <a:t>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분석</a:t>
            </a:r>
            <a:r>
              <a:rPr b="1" dirty="0">
                <a:solidFill>
                  <a:srgbClr val="F1842B"/>
                </a:solidFill>
                <a:latin typeface="+mn-ea"/>
              </a:rPr>
              <a:t>  · 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시제품</a:t>
            </a:r>
            <a:r>
              <a:rPr b="1" dirty="0">
                <a:solidFill>
                  <a:srgbClr val="F1842B"/>
                </a:solidFill>
                <a:latin typeface="+mn-ea"/>
              </a:rPr>
              <a:t>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개선</a:t>
            </a:r>
            <a:r>
              <a:rPr b="1" dirty="0">
                <a:solidFill>
                  <a:srgbClr val="F1842B"/>
                </a:solidFill>
                <a:latin typeface="+mn-ea"/>
              </a:rPr>
              <a:t>  · 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시연</a:t>
            </a:r>
            <a:r>
              <a:rPr b="1" dirty="0">
                <a:solidFill>
                  <a:srgbClr val="F1842B"/>
                </a:solidFill>
                <a:latin typeface="+mn-ea"/>
              </a:rPr>
              <a:t> </a:t>
            </a:r>
            <a:r>
              <a:rPr b="1" dirty="0" err="1">
                <a:solidFill>
                  <a:srgbClr val="F1842B"/>
                </a:solidFill>
                <a:latin typeface="+mn-ea"/>
              </a:rPr>
              <a:t>준비</a:t>
            </a:r>
            <a:endParaRPr b="1" dirty="0">
              <a:solidFill>
                <a:srgbClr val="F1842B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6672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91113" y="2801193"/>
            <a:ext cx="47043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" y="88900"/>
            <a:ext cx="54521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임베디드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경진대회 개발완료보고서 </a:t>
            </a:r>
            <a:r>
              <a:rPr lang="en-US" altLang="ko-KR" dirty="0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&lt;</a:t>
            </a:r>
            <a:r>
              <a:rPr lang="ko-KR" altLang="en-US" dirty="0" err="1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자유공모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&gt;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79543" y="6439991"/>
            <a:ext cx="351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약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SLOT(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이양배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신유지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이호윤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1680" y="3956199"/>
            <a:ext cx="8138160" cy="38404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100" b="1" dirty="0" err="1">
                <a:solidFill>
                  <a:srgbClr val="273244"/>
                </a:solidFill>
                <a:latin typeface="Malgun Gothic"/>
              </a:rPr>
              <a:t>약속</a:t>
            </a:r>
            <a:r>
              <a:rPr sz="2100" b="1" dirty="0">
                <a:solidFill>
                  <a:srgbClr val="273244"/>
                </a:solidFill>
                <a:latin typeface="Malgun Gothic"/>
              </a:rPr>
              <a:t>(</a:t>
            </a:r>
            <a:r>
              <a:rPr sz="2100" b="1" dirty="0" err="1">
                <a:solidFill>
                  <a:srgbClr val="273244"/>
                </a:solidFill>
                <a:latin typeface="Malgun Gothic"/>
              </a:rPr>
              <a:t>藥SLOT</a:t>
            </a:r>
            <a:r>
              <a:rPr sz="2100" b="1" dirty="0">
                <a:solidFill>
                  <a:srgbClr val="273244"/>
                </a:solidFill>
                <a:latin typeface="Malgun Gothic"/>
              </a:rPr>
              <a:t>)은 </a:t>
            </a:r>
            <a:r>
              <a:rPr sz="2100" b="1" dirty="0" err="1">
                <a:solidFill>
                  <a:srgbClr val="273244"/>
                </a:solidFill>
                <a:latin typeface="Malgun Gothic"/>
              </a:rPr>
              <a:t>지켜야</a:t>
            </a:r>
            <a:r>
              <a:rPr lang="ko-KR" altLang="en-US" sz="2100" b="1" dirty="0">
                <a:solidFill>
                  <a:srgbClr val="273244"/>
                </a:solidFill>
                <a:latin typeface="Malgun Gothic"/>
              </a:rPr>
              <a:t>지</a:t>
            </a:r>
            <a:endParaRPr sz="2100" b="1" dirty="0">
              <a:solidFill>
                <a:srgbClr val="273244"/>
              </a:solidFill>
              <a:latin typeface="Malgun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11680" y="4532271"/>
            <a:ext cx="8138160" cy="2667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0" dirty="0" err="1">
                <a:solidFill>
                  <a:srgbClr val="5F6B7E"/>
                </a:solidFill>
                <a:latin typeface="Malgun Gothic"/>
              </a:rPr>
              <a:t>기존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블리스터를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유지한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사용자</a:t>
            </a:r>
            <a:r>
              <a:rPr lang="en-US" sz="1400" dirty="0">
                <a:solidFill>
                  <a:srgbClr val="5F6B7E"/>
                </a:solidFill>
                <a:latin typeface="Malgun Gothic"/>
              </a:rPr>
              <a:t> </a:t>
            </a:r>
            <a:r>
              <a:rPr lang="ko-KR" altLang="en-US" sz="1400" dirty="0" err="1">
                <a:solidFill>
                  <a:srgbClr val="5F6B7E"/>
                </a:solidFill>
                <a:latin typeface="Malgun Gothic"/>
              </a:rPr>
              <a:t>확인형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복약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지원</a:t>
            </a:r>
            <a:r>
              <a:rPr sz="1400" b="0" dirty="0">
                <a:solidFill>
                  <a:srgbClr val="5F6B7E"/>
                </a:solidFill>
                <a:latin typeface="Malgun Gothic"/>
              </a:rPr>
              <a:t> </a:t>
            </a:r>
            <a:r>
              <a:rPr sz="1400" b="0" dirty="0" err="1">
                <a:solidFill>
                  <a:srgbClr val="5F6B7E"/>
                </a:solidFill>
                <a:latin typeface="Malgun Gothic"/>
              </a:rPr>
              <a:t>시스템</a:t>
            </a:r>
            <a:endParaRPr sz="1400" b="0" dirty="0">
              <a:solidFill>
                <a:srgbClr val="5F6B7E"/>
              </a:solidFill>
              <a:latin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2397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2184</TotalTime>
  <Words>3837</Words>
  <Application>Microsoft Office PowerPoint</Application>
  <DocSecurity>0</DocSecurity>
  <PresentationFormat>와이드스크린</PresentationFormat>
  <Paragraphs>809</Paragraphs>
  <Slides>22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NanumSquare</vt:lpstr>
      <vt:lpstr>Noto Sans CJK KR</vt:lpstr>
      <vt:lpstr>Pretendard</vt:lpstr>
      <vt:lpstr>맑은 고딕</vt:lpstr>
      <vt:lpstr>맑은 고딕</vt:lpstr>
      <vt:lpstr>Office 테마</vt:lpstr>
      <vt:lpstr>PowerPoint 프레젠테이션</vt:lpstr>
      <vt:lpstr>Contents</vt:lpstr>
      <vt:lpstr>프로젝트 배경</vt:lpstr>
      <vt:lpstr>프로젝트 배경  문제 정의 및 개발 동기</vt:lpstr>
      <vt:lpstr>프로젝트 개요 – 시스템 구성</vt:lpstr>
      <vt:lpstr>개발 환경 – Hardware 구성</vt:lpstr>
      <vt:lpstr>개발 환경 – Software 구성</vt:lpstr>
      <vt:lpstr>개발 프로그램 설명– Motor / Mechanical / Sensor</vt:lpstr>
      <vt:lpstr>개발 프로그램 설명 – LCD UI /  Web / Database</vt:lpstr>
      <vt:lpstr>개발 프로그램 설명 – UART 통신</vt:lpstr>
      <vt:lpstr>구현상세 및 결과 – 전체 동작 Flow</vt:lpstr>
      <vt:lpstr>개발 프로그램 설명 – 프로그램 구성 및 핵심 함수</vt:lpstr>
      <vt:lpstr>구현상세 및 결과 – 구현 시험 현황</vt:lpstr>
      <vt:lpstr>트러블 슈팅</vt:lpstr>
      <vt:lpstr>작품 차별성</vt:lpstr>
      <vt:lpstr>작품 우수성</vt:lpstr>
      <vt:lpstr>기대 효과</vt:lpstr>
      <vt:lpstr>기대 효과 - 시장성</vt:lpstr>
      <vt:lpstr>발전 가능성</vt:lpstr>
      <vt:lpstr>개발 일정</vt:lpstr>
      <vt:lpstr>업무 분장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kccistc</cp:lastModifiedBy>
  <cp:revision>194</cp:revision>
  <dcterms:created xsi:type="dcterms:W3CDTF">2026-07-25T07:04:52Z</dcterms:created>
  <dcterms:modified xsi:type="dcterms:W3CDTF">2026-08-31T10:40:28Z</dcterms:modified>
</cp:coreProperties>
</file>